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63" r:id="rId3"/>
    <p:sldId id="257" r:id="rId4"/>
    <p:sldId id="258" r:id="rId5"/>
    <p:sldId id="265" r:id="rId6"/>
    <p:sldId id="266" r:id="rId7"/>
    <p:sldId id="267" r:id="rId8"/>
    <p:sldId id="259" r:id="rId9"/>
    <p:sldId id="270" r:id="rId10"/>
    <p:sldId id="269" r:id="rId11"/>
    <p:sldId id="272" r:id="rId12"/>
    <p:sldId id="277" r:id="rId13"/>
    <p:sldId id="274" r:id="rId14"/>
    <p:sldId id="275" r:id="rId15"/>
    <p:sldId id="276" r:id="rId16"/>
    <p:sldId id="279" r:id="rId17"/>
    <p:sldId id="280" r:id="rId18"/>
    <p:sldId id="261" r:id="rId19"/>
    <p:sldId id="262"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72" autoAdjust="0"/>
    <p:restoredTop sz="95773" autoAdjust="0"/>
  </p:normalViewPr>
  <p:slideViewPr>
    <p:cSldViewPr snapToGrid="0" snapToObjects="1">
      <p:cViewPr varScale="1">
        <p:scale>
          <a:sx n="97" d="100"/>
          <a:sy n="97" d="100"/>
        </p:scale>
        <p:origin x="16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6469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Imagine you're comparing two cars with very different specifications and prices. We wanted to understand which vehicle characteristics actually </a:t>
            </a:r>
            <a:r>
              <a:rPr lang="en-US" dirty="0"/>
              <a:t>h</a:t>
            </a:r>
            <a:r>
              <a:rPr dirty="0"/>
              <a:t>ave the strongest relationship with price and whether those characteristics could be used to predict automobile prices. For our Phase 2 capstone, we combined exploratory analysis, clustering, regression modeling, and Tableau to turn raw vehicle specifications into actionable pricing insights.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040C9-3AE1-724D-0E45-62902B6056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5C0C36-5BB3-F595-785A-644686E400F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FF984F2-4BEA-26D5-09A6-5579EE04A2DC}"/>
              </a:ext>
            </a:extLst>
          </p:cNvPr>
          <p:cNvSpPr>
            <a:spLocks noGrp="1"/>
          </p:cNvSpPr>
          <p:nvPr>
            <p:ph type="body" sz="quarter" idx="3"/>
          </p:nvPr>
        </p:nvSpPr>
        <p:spPr/>
        <p:txBody>
          <a:bodyPr/>
          <a:lstStyle/>
          <a:p>
            <a:r>
              <a:rPr lang="en-US" dirty="0"/>
              <a:t>Today we will be going over our analytical process, explain some the steps we took in our </a:t>
            </a:r>
            <a:r>
              <a:rPr lang="en-US" dirty="0" err="1"/>
              <a:t>eda</a:t>
            </a:r>
            <a:r>
              <a:rPr lang="en-US" dirty="0"/>
              <a:t>, why we chose using K-means clustering as our predictive model and lastly why this project matters from a business perspective.</a:t>
            </a:r>
            <a:endParaRPr dirty="0"/>
          </a:p>
        </p:txBody>
      </p:sp>
      <p:sp>
        <p:nvSpPr>
          <p:cNvPr id="4" name="Slide Number Placeholder 3">
            <a:extLst>
              <a:ext uri="{FF2B5EF4-FFF2-40B4-BE49-F238E27FC236}">
                <a16:creationId xmlns:a16="http://schemas.microsoft.com/office/drawing/2014/main" id="{3D0F13DC-9D65-8D3F-BEFC-C127BA352DC1}"/>
              </a:ext>
            </a:extLst>
          </p:cNvPr>
          <p:cNvSpPr>
            <a:spLocks noGrp="1"/>
          </p:cNvSpPr>
          <p:nvPr>
            <p:ph type="sldNum" sz="quarter" idx="5"/>
          </p:nvPr>
        </p:nvSpPr>
        <p:spPr/>
      </p:sp>
    </p:spTree>
    <p:extLst>
      <p:ext uri="{BB962C8B-B14F-4D97-AF65-F5344CB8AC3E}">
        <p14:creationId xmlns:p14="http://schemas.microsoft.com/office/powerpoint/2010/main" val="33743948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approached the project as an end-to-end analytics workflow. We started with the UCI Automobile dataset and cleaned and prepared it for analysis. From there, we used exploratory data analysis to understand distributions and relationships. We then used K-Means clustering to see whether vehicles naturally separated into market segments, and regression modeling to test how accurately vehicle characteristics could predict price. Finally, we used Tableau to communicate the results</a:t>
            </a:r>
            <a:r>
              <a:rPr lang="en-US" dirty="0"/>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During EDA, we weren't just looking for interesting charts. We wanted to identify the variables that appeared most useful for explaining price. We explored factors such as horsepower, engine size, fuel efficiency, body style, and manufacturer. The goal was to understand which features contained meaningful pricing information and should be investigated further during modeling. </a:t>
            </a:r>
            <a:r>
              <a:rPr lang="en-US" dirty="0"/>
              <a:t> Inserting Victor’s chart on price vs. manufacturing.</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EDF25-3D25-5DA8-225E-33FC321FB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592172-5F00-1809-98EF-FC8C3550F53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61F71A2-136D-BD01-1A61-B31AE1069005}"/>
              </a:ext>
            </a:extLst>
          </p:cNvPr>
          <p:cNvSpPr>
            <a:spLocks noGrp="1"/>
          </p:cNvSpPr>
          <p:nvPr>
            <p:ph type="body" sz="quarter" idx="3"/>
          </p:nvPr>
        </p:nvSpPr>
        <p:spPr/>
        <p:txBody>
          <a:bodyPr/>
          <a:lstStyle/>
          <a:p>
            <a:r>
              <a:rPr lang="en-US" dirty="0"/>
              <a:t>We approached the project as an end-to-end analytics workflow. We started with the UCI Automobile dataset and cleaned and prepared it for analysis. From there, we used exploratory data analysis to understand distributions and relationships. We then used K-Means clustering to see whether vehicles naturally separated into market segments, and regression modeling to test how accurately vehicle characteristics could predict price. Finally, we used Tableau to communicate the results.</a:t>
            </a:r>
          </a:p>
        </p:txBody>
      </p:sp>
      <p:sp>
        <p:nvSpPr>
          <p:cNvPr id="4" name="Slide Number Placeholder 3">
            <a:extLst>
              <a:ext uri="{FF2B5EF4-FFF2-40B4-BE49-F238E27FC236}">
                <a16:creationId xmlns:a16="http://schemas.microsoft.com/office/drawing/2014/main" id="{00232DC1-F9D7-4218-3EB2-7B5882CCCB91}"/>
              </a:ext>
            </a:extLst>
          </p:cNvPr>
          <p:cNvSpPr>
            <a:spLocks noGrp="1"/>
          </p:cNvSpPr>
          <p:nvPr>
            <p:ph type="sldNum" sz="quarter" idx="5"/>
          </p:nvPr>
        </p:nvSpPr>
        <p:spPr/>
      </p:sp>
    </p:spTree>
    <p:extLst>
      <p:ext uri="{BB962C8B-B14F-4D97-AF65-F5344CB8AC3E}">
        <p14:creationId xmlns:p14="http://schemas.microsoft.com/office/powerpoint/2010/main" val="3357387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6142D-2F9B-DEB1-F64D-C53A0BB8FC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8C98BC-F39F-3C26-780F-83FA39205BE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A048067-86E6-BF3F-6257-E96C12933674}"/>
              </a:ext>
            </a:extLst>
          </p:cNvPr>
          <p:cNvSpPr>
            <a:spLocks noGrp="1"/>
          </p:cNvSpPr>
          <p:nvPr>
            <p:ph type="body" sz="quarter" idx="3"/>
          </p:nvPr>
        </p:nvSpPr>
        <p:spPr/>
        <p:txBody>
          <a:bodyPr/>
          <a:lstStyle/>
          <a:p>
            <a:r>
              <a:rPr lang="en-US" sz="1200" b="0" i="0" kern="1200" dirty="0">
                <a:solidFill>
                  <a:schemeClr val="tx1"/>
                </a:solidFill>
                <a:effectLst/>
                <a:latin typeface="+mn-lt"/>
                <a:ea typeface="+mn-ea"/>
                <a:cs typeface="+mn-cs"/>
              </a:rPr>
              <a:t>Numeric relationship findings</a:t>
            </a:r>
          </a:p>
          <a:p>
            <a:r>
              <a:rPr lang="en-US" sz="1200" b="0" i="0" kern="1200" dirty="0">
                <a:solidFill>
                  <a:schemeClr val="tx1"/>
                </a:solidFill>
                <a:effectLst/>
                <a:latin typeface="+mn-lt"/>
                <a:ea typeface="+mn-ea"/>
                <a:cs typeface="+mn-cs"/>
              </a:rPr>
              <a:t>Top numeric relationships with price:</a:t>
            </a:r>
          </a:p>
          <a:p>
            <a:r>
              <a:rPr lang="en-US" sz="1200" b="1" i="0" kern="1200" dirty="0" err="1">
                <a:solidFill>
                  <a:schemeClr val="tx1"/>
                </a:solidFill>
                <a:effectLst/>
                <a:latin typeface="+mn-lt"/>
                <a:ea typeface="+mn-ea"/>
                <a:cs typeface="+mn-cs"/>
              </a:rPr>
              <a:t>engine_size</a:t>
            </a:r>
            <a:r>
              <a:rPr lang="en-US" sz="1200" b="0" i="0" kern="1200" dirty="0">
                <a:solidFill>
                  <a:schemeClr val="tx1"/>
                </a:solidFill>
                <a:effectLst/>
                <a:latin typeface="+mn-lt"/>
                <a:ea typeface="+mn-ea"/>
                <a:cs typeface="+mn-cs"/>
              </a:rPr>
              <a:t>: correlation = </a:t>
            </a:r>
            <a:r>
              <a:rPr lang="en-US" sz="1200" b="1" i="0" kern="1200" dirty="0">
                <a:solidFill>
                  <a:schemeClr val="tx1"/>
                </a:solidFill>
                <a:effectLst/>
                <a:latin typeface="+mn-lt"/>
                <a:ea typeface="+mn-ea"/>
                <a:cs typeface="+mn-cs"/>
              </a:rPr>
              <a:t>0.87</a:t>
            </a:r>
            <a:endParaRPr lang="en-US" sz="1200" b="0" i="0" kern="1200" dirty="0">
              <a:solidFill>
                <a:schemeClr val="tx1"/>
              </a:solidFill>
              <a:effectLst/>
              <a:latin typeface="+mn-lt"/>
              <a:ea typeface="+mn-ea"/>
              <a:cs typeface="+mn-cs"/>
            </a:endParaRPr>
          </a:p>
          <a:p>
            <a:r>
              <a:rPr lang="en-US" sz="1200" b="1" i="0" kern="1200" dirty="0" err="1">
                <a:solidFill>
                  <a:schemeClr val="tx1"/>
                </a:solidFill>
                <a:effectLst/>
                <a:latin typeface="+mn-lt"/>
                <a:ea typeface="+mn-ea"/>
                <a:cs typeface="+mn-cs"/>
              </a:rPr>
              <a:t>curb_weight</a:t>
            </a:r>
            <a:r>
              <a:rPr lang="en-US" sz="1200" b="0" i="0" kern="1200" dirty="0">
                <a:solidFill>
                  <a:schemeClr val="tx1"/>
                </a:solidFill>
                <a:effectLst/>
                <a:latin typeface="+mn-lt"/>
                <a:ea typeface="+mn-ea"/>
                <a:cs typeface="+mn-cs"/>
              </a:rPr>
              <a:t>: correlation = </a:t>
            </a:r>
            <a:r>
              <a:rPr lang="en-US" sz="1200" b="1" i="0" kern="1200" dirty="0">
                <a:solidFill>
                  <a:schemeClr val="tx1"/>
                </a:solidFill>
                <a:effectLst/>
                <a:latin typeface="+mn-lt"/>
                <a:ea typeface="+mn-ea"/>
                <a:cs typeface="+mn-cs"/>
              </a:rPr>
              <a:t>0.83</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horsepower</a:t>
            </a:r>
            <a:r>
              <a:rPr lang="en-US" sz="1200" b="0" i="0" kern="1200" dirty="0">
                <a:solidFill>
                  <a:schemeClr val="tx1"/>
                </a:solidFill>
                <a:effectLst/>
                <a:latin typeface="+mn-lt"/>
                <a:ea typeface="+mn-ea"/>
                <a:cs typeface="+mn-cs"/>
              </a:rPr>
              <a:t>: correlation = </a:t>
            </a:r>
            <a:r>
              <a:rPr lang="en-US" sz="1200" b="1" i="0" kern="1200" dirty="0">
                <a:solidFill>
                  <a:schemeClr val="tx1"/>
                </a:solidFill>
                <a:effectLst/>
                <a:latin typeface="+mn-lt"/>
                <a:ea typeface="+mn-ea"/>
                <a:cs typeface="+mn-cs"/>
              </a:rPr>
              <a:t>0.81</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width</a:t>
            </a:r>
            <a:r>
              <a:rPr lang="en-US" sz="1200" b="0" i="0" kern="1200" dirty="0">
                <a:solidFill>
                  <a:schemeClr val="tx1"/>
                </a:solidFill>
                <a:effectLst/>
                <a:latin typeface="+mn-lt"/>
                <a:ea typeface="+mn-ea"/>
                <a:cs typeface="+mn-cs"/>
              </a:rPr>
              <a:t>: correlation = </a:t>
            </a:r>
            <a:r>
              <a:rPr lang="en-US" sz="1200" b="1" i="0" kern="1200" dirty="0">
                <a:solidFill>
                  <a:schemeClr val="tx1"/>
                </a:solidFill>
                <a:effectLst/>
                <a:latin typeface="+mn-lt"/>
                <a:ea typeface="+mn-ea"/>
                <a:cs typeface="+mn-cs"/>
              </a:rPr>
              <a:t>0.75</a:t>
            </a:r>
            <a:endParaRPr lang="en-US" sz="1200" b="0" i="0" kern="1200" dirty="0">
              <a:solidFill>
                <a:schemeClr val="tx1"/>
              </a:solidFill>
              <a:effectLst/>
              <a:latin typeface="+mn-lt"/>
              <a:ea typeface="+mn-ea"/>
              <a:cs typeface="+mn-cs"/>
            </a:endParaRPr>
          </a:p>
          <a:p>
            <a:r>
              <a:rPr lang="en-US" sz="1200" b="1" i="0" kern="1200" dirty="0" err="1">
                <a:solidFill>
                  <a:schemeClr val="tx1"/>
                </a:solidFill>
                <a:effectLst/>
                <a:latin typeface="+mn-lt"/>
                <a:ea typeface="+mn-ea"/>
                <a:cs typeface="+mn-cs"/>
              </a:rPr>
              <a:t>highway_mpg</a:t>
            </a:r>
            <a:r>
              <a:rPr lang="en-US" sz="1200" b="0" i="0" kern="1200" dirty="0">
                <a:solidFill>
                  <a:schemeClr val="tx1"/>
                </a:solidFill>
                <a:effectLst/>
                <a:latin typeface="+mn-lt"/>
                <a:ea typeface="+mn-ea"/>
                <a:cs typeface="+mn-cs"/>
              </a:rPr>
              <a:t>: correlation = </a:t>
            </a:r>
            <a:r>
              <a:rPr lang="en-US" sz="1200" b="1" i="0" kern="1200" dirty="0">
                <a:solidFill>
                  <a:schemeClr val="tx1"/>
                </a:solidFill>
                <a:effectLst/>
                <a:latin typeface="+mn-lt"/>
                <a:ea typeface="+mn-ea"/>
                <a:cs typeface="+mn-cs"/>
              </a:rPr>
              <a:t>-0.70</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These variables are retained as candidates for later clustering and regression analysis.</a:t>
            </a:r>
          </a:p>
          <a:p>
            <a:endParaRPr lang="en-US" dirty="0"/>
          </a:p>
        </p:txBody>
      </p:sp>
      <p:sp>
        <p:nvSpPr>
          <p:cNvPr id="4" name="Slide Number Placeholder 3">
            <a:extLst>
              <a:ext uri="{FF2B5EF4-FFF2-40B4-BE49-F238E27FC236}">
                <a16:creationId xmlns:a16="http://schemas.microsoft.com/office/drawing/2014/main" id="{A0E03A63-C1E1-8C94-4094-47355E361FBE}"/>
              </a:ext>
            </a:extLst>
          </p:cNvPr>
          <p:cNvSpPr>
            <a:spLocks noGrp="1"/>
          </p:cNvSpPr>
          <p:nvPr>
            <p:ph type="sldNum" sz="quarter" idx="5"/>
          </p:nvPr>
        </p:nvSpPr>
        <p:spPr/>
      </p:sp>
    </p:spTree>
    <p:extLst>
      <p:ext uri="{BB962C8B-B14F-4D97-AF65-F5344CB8AC3E}">
        <p14:creationId xmlns:p14="http://schemas.microsoft.com/office/powerpoint/2010/main" val="38293081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05C9B-C292-BE0A-7A91-F43DF13279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0F19D3-ACC2-F747-2203-0A888662954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FBAA39F-D7EB-2F1A-C028-ABC3B5126437}"/>
              </a:ext>
            </a:extLst>
          </p:cNvPr>
          <p:cNvSpPr>
            <a:spLocks noGrp="1"/>
          </p:cNvSpPr>
          <p:nvPr>
            <p:ph type="body" sz="quarter" idx="3"/>
          </p:nvPr>
        </p:nvSpPr>
        <p:spPr/>
        <p:txBody>
          <a:bodyPr/>
          <a:lstStyle/>
          <a:p>
            <a:endParaRPr lang="en-US" dirty="0"/>
          </a:p>
        </p:txBody>
      </p:sp>
      <p:sp>
        <p:nvSpPr>
          <p:cNvPr id="4" name="Slide Number Placeholder 3">
            <a:extLst>
              <a:ext uri="{FF2B5EF4-FFF2-40B4-BE49-F238E27FC236}">
                <a16:creationId xmlns:a16="http://schemas.microsoft.com/office/drawing/2014/main" id="{D93F4408-9D16-0F0D-A405-577B1806A445}"/>
              </a:ext>
            </a:extLst>
          </p:cNvPr>
          <p:cNvSpPr>
            <a:spLocks noGrp="1"/>
          </p:cNvSpPr>
          <p:nvPr>
            <p:ph type="sldNum" sz="quarter" idx="5"/>
          </p:nvPr>
        </p:nvSpPr>
        <p:spPr/>
      </p:sp>
    </p:spTree>
    <p:extLst>
      <p:ext uri="{BB962C8B-B14F-4D97-AF65-F5344CB8AC3E}">
        <p14:creationId xmlns:p14="http://schemas.microsoft.com/office/powerpoint/2010/main" val="3571363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also wanted to go beyond individual relationships and ask whether vehicles naturally separated into different groups. For that, we used K-Means clustering, an unsupervised learning technique. Rather than telling the algorithm what type of car each observation represented, similarities within the features determined the groups. This gives us another way to think about pricing because a budget-oriented vehicle and a performance-oriented vehicle may belong in different competitive contexts. Replace the example cluster labels on this slide with your exact final cluster interpretation.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172D3-4AEB-F987-B1C5-424CD13C0E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B97680-DC93-0C7C-637B-8CCE087C795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C8E6F8D-41EF-A3C2-3EB7-74E62F9CE219}"/>
              </a:ext>
            </a:extLst>
          </p:cNvPr>
          <p:cNvSpPr>
            <a:spLocks noGrp="1"/>
          </p:cNvSpPr>
          <p:nvPr>
            <p:ph type="body" sz="quarter" idx="3"/>
          </p:nvPr>
        </p:nvSpPr>
        <p:spPr/>
        <p:txBody>
          <a:bodyPr/>
          <a:lstStyle/>
          <a:p>
            <a:endParaRPr lang="en-US" dirty="0"/>
          </a:p>
        </p:txBody>
      </p:sp>
      <p:sp>
        <p:nvSpPr>
          <p:cNvPr id="4" name="Slide Number Placeholder 3">
            <a:extLst>
              <a:ext uri="{FF2B5EF4-FFF2-40B4-BE49-F238E27FC236}">
                <a16:creationId xmlns:a16="http://schemas.microsoft.com/office/drawing/2014/main" id="{72317FFB-9CA3-E106-FD50-126BD02C4183}"/>
              </a:ext>
            </a:extLst>
          </p:cNvPr>
          <p:cNvSpPr>
            <a:spLocks noGrp="1"/>
          </p:cNvSpPr>
          <p:nvPr>
            <p:ph type="sldNum" sz="quarter" idx="5"/>
          </p:nvPr>
        </p:nvSpPr>
        <p:spPr/>
      </p:sp>
    </p:spTree>
    <p:extLst>
      <p:ext uri="{BB962C8B-B14F-4D97-AF65-F5344CB8AC3E}">
        <p14:creationId xmlns:p14="http://schemas.microsoft.com/office/powerpoint/2010/main" val="29955080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C0708-8FE6-4F74-D0A5-57E4846DF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6BA2C1-594B-C15A-6E56-924A4DC04A5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A4B6EEA-A8B5-FE8B-B388-17A541FAFED5}"/>
              </a:ext>
            </a:extLst>
          </p:cNvPr>
          <p:cNvSpPr>
            <a:spLocks noGrp="1"/>
          </p:cNvSpPr>
          <p:nvPr>
            <p:ph type="body" sz="quarter" idx="3"/>
          </p:nvPr>
        </p:nvSpPr>
        <p:spPr/>
        <p:txBody>
          <a:bodyPr/>
          <a:lstStyle/>
          <a:p>
            <a:r>
              <a:rPr dirty="0"/>
              <a:t>We also wanted to go beyond individual relationships and ask whether vehicles naturally separated into different groups. For that, we used K-Means clustering, an unsupervised learning technique. Rather than telling the algorithm what type of car each observation represented, similarities within the features determined the groups. This gives us another way to think about pricing because a budget-oriented vehicle and a performance-oriented vehicle may belong in different competitive contexts. Replace the example cluster labels on this slide with your exact final cluster interpretation.</a:t>
            </a:r>
          </a:p>
        </p:txBody>
      </p:sp>
      <p:sp>
        <p:nvSpPr>
          <p:cNvPr id="4" name="Slide Number Placeholder 3">
            <a:extLst>
              <a:ext uri="{FF2B5EF4-FFF2-40B4-BE49-F238E27FC236}">
                <a16:creationId xmlns:a16="http://schemas.microsoft.com/office/drawing/2014/main" id="{512825B0-6C29-D5B7-34A9-DDCC05E73B95}"/>
              </a:ext>
            </a:extLst>
          </p:cNvPr>
          <p:cNvSpPr>
            <a:spLocks noGrp="1"/>
          </p:cNvSpPr>
          <p:nvPr>
            <p:ph type="sldNum" sz="quarter" idx="5"/>
          </p:nvPr>
        </p:nvSpPr>
        <p:spPr/>
      </p:sp>
    </p:spTree>
    <p:extLst>
      <p:ext uri="{BB962C8B-B14F-4D97-AF65-F5344CB8AC3E}">
        <p14:creationId xmlns:p14="http://schemas.microsoft.com/office/powerpoint/2010/main" val="29384238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CCE36-FBBE-42E7-F3E5-9144D348E1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6F3AB5-F550-915F-F728-0598AF99357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E9FEAAC-0B77-17B6-55C6-EDC2B304F082}"/>
              </a:ext>
            </a:extLst>
          </p:cNvPr>
          <p:cNvSpPr>
            <a:spLocks noGrp="1"/>
          </p:cNvSpPr>
          <p:nvPr>
            <p:ph type="body" sz="quarter" idx="3"/>
          </p:nvPr>
        </p:nvSpPr>
        <p:spPr/>
        <p:txBody>
          <a:bodyPr/>
          <a:lstStyle/>
          <a:p>
            <a:endParaRPr lang="en-US" dirty="0"/>
          </a:p>
        </p:txBody>
      </p:sp>
      <p:sp>
        <p:nvSpPr>
          <p:cNvPr id="4" name="Slide Number Placeholder 3">
            <a:extLst>
              <a:ext uri="{FF2B5EF4-FFF2-40B4-BE49-F238E27FC236}">
                <a16:creationId xmlns:a16="http://schemas.microsoft.com/office/drawing/2014/main" id="{66BE13C7-17FA-A35D-68A1-E7EE47AFD92B}"/>
              </a:ext>
            </a:extLst>
          </p:cNvPr>
          <p:cNvSpPr>
            <a:spLocks noGrp="1"/>
          </p:cNvSpPr>
          <p:nvPr>
            <p:ph type="sldNum" sz="quarter" idx="5"/>
          </p:nvPr>
        </p:nvSpPr>
        <p:spPr/>
      </p:sp>
    </p:spTree>
    <p:extLst>
      <p:ext uri="{BB962C8B-B14F-4D97-AF65-F5344CB8AC3E}">
        <p14:creationId xmlns:p14="http://schemas.microsoft.com/office/powerpoint/2010/main" val="5467913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4D64F-D479-1F09-84D7-D502C443AA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8D1954-D641-582A-8873-FC486D90323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433D0FE-F978-CF15-86FE-9A77437B439F}"/>
              </a:ext>
            </a:extLst>
          </p:cNvPr>
          <p:cNvSpPr>
            <a:spLocks noGrp="1"/>
          </p:cNvSpPr>
          <p:nvPr>
            <p:ph type="body" sz="quarter" idx="3"/>
          </p:nvPr>
        </p:nvSpPr>
        <p:spPr/>
        <p:txBody>
          <a:bodyPr/>
          <a:lstStyle/>
          <a:p>
            <a:r>
              <a:rPr lang="en-US" sz="1200" b="0" i="0" kern="1200" dirty="0">
                <a:solidFill>
                  <a:schemeClr val="tx1"/>
                </a:solidFill>
                <a:effectLst/>
                <a:latin typeface="+mn-lt"/>
                <a:ea typeface="+mn-ea"/>
                <a:cs typeface="+mn-cs"/>
              </a:rPr>
              <a:t>Numeric relationship findings</a:t>
            </a:r>
          </a:p>
          <a:p>
            <a:r>
              <a:rPr lang="en-US" sz="1200" b="0" i="0" kern="1200" dirty="0">
                <a:solidFill>
                  <a:schemeClr val="tx1"/>
                </a:solidFill>
                <a:effectLst/>
                <a:latin typeface="+mn-lt"/>
                <a:ea typeface="+mn-ea"/>
                <a:cs typeface="+mn-cs"/>
              </a:rPr>
              <a:t>Top numeric relationships with price:</a:t>
            </a:r>
          </a:p>
          <a:p>
            <a:r>
              <a:rPr lang="en-US" sz="1200" b="1" i="0" kern="1200" dirty="0" err="1">
                <a:solidFill>
                  <a:schemeClr val="tx1"/>
                </a:solidFill>
                <a:effectLst/>
                <a:latin typeface="+mn-lt"/>
                <a:ea typeface="+mn-ea"/>
                <a:cs typeface="+mn-cs"/>
              </a:rPr>
              <a:t>engine_size</a:t>
            </a:r>
            <a:r>
              <a:rPr lang="en-US" sz="1200" b="0" i="0" kern="1200" dirty="0">
                <a:solidFill>
                  <a:schemeClr val="tx1"/>
                </a:solidFill>
                <a:effectLst/>
                <a:latin typeface="+mn-lt"/>
                <a:ea typeface="+mn-ea"/>
                <a:cs typeface="+mn-cs"/>
              </a:rPr>
              <a:t>: correlation = </a:t>
            </a:r>
            <a:r>
              <a:rPr lang="en-US" sz="1200" b="1" i="0" kern="1200" dirty="0">
                <a:solidFill>
                  <a:schemeClr val="tx1"/>
                </a:solidFill>
                <a:effectLst/>
                <a:latin typeface="+mn-lt"/>
                <a:ea typeface="+mn-ea"/>
                <a:cs typeface="+mn-cs"/>
              </a:rPr>
              <a:t>0.87</a:t>
            </a:r>
            <a:endParaRPr lang="en-US" sz="1200" b="0" i="0" kern="1200" dirty="0">
              <a:solidFill>
                <a:schemeClr val="tx1"/>
              </a:solidFill>
              <a:effectLst/>
              <a:latin typeface="+mn-lt"/>
              <a:ea typeface="+mn-ea"/>
              <a:cs typeface="+mn-cs"/>
            </a:endParaRPr>
          </a:p>
          <a:p>
            <a:r>
              <a:rPr lang="en-US" sz="1200" b="1" i="0" kern="1200" dirty="0" err="1">
                <a:solidFill>
                  <a:schemeClr val="tx1"/>
                </a:solidFill>
                <a:effectLst/>
                <a:latin typeface="+mn-lt"/>
                <a:ea typeface="+mn-ea"/>
                <a:cs typeface="+mn-cs"/>
              </a:rPr>
              <a:t>curb_weight</a:t>
            </a:r>
            <a:r>
              <a:rPr lang="en-US" sz="1200" b="0" i="0" kern="1200" dirty="0">
                <a:solidFill>
                  <a:schemeClr val="tx1"/>
                </a:solidFill>
                <a:effectLst/>
                <a:latin typeface="+mn-lt"/>
                <a:ea typeface="+mn-ea"/>
                <a:cs typeface="+mn-cs"/>
              </a:rPr>
              <a:t>: correlation = </a:t>
            </a:r>
            <a:r>
              <a:rPr lang="en-US" sz="1200" b="1" i="0" kern="1200" dirty="0">
                <a:solidFill>
                  <a:schemeClr val="tx1"/>
                </a:solidFill>
                <a:effectLst/>
                <a:latin typeface="+mn-lt"/>
                <a:ea typeface="+mn-ea"/>
                <a:cs typeface="+mn-cs"/>
              </a:rPr>
              <a:t>0.83</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horsepower</a:t>
            </a:r>
            <a:r>
              <a:rPr lang="en-US" sz="1200" b="0" i="0" kern="1200" dirty="0">
                <a:solidFill>
                  <a:schemeClr val="tx1"/>
                </a:solidFill>
                <a:effectLst/>
                <a:latin typeface="+mn-lt"/>
                <a:ea typeface="+mn-ea"/>
                <a:cs typeface="+mn-cs"/>
              </a:rPr>
              <a:t>: correlation = </a:t>
            </a:r>
            <a:r>
              <a:rPr lang="en-US" sz="1200" b="1" i="0" kern="1200" dirty="0">
                <a:solidFill>
                  <a:schemeClr val="tx1"/>
                </a:solidFill>
                <a:effectLst/>
                <a:latin typeface="+mn-lt"/>
                <a:ea typeface="+mn-ea"/>
                <a:cs typeface="+mn-cs"/>
              </a:rPr>
              <a:t>0.81</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width</a:t>
            </a:r>
            <a:r>
              <a:rPr lang="en-US" sz="1200" b="0" i="0" kern="1200" dirty="0">
                <a:solidFill>
                  <a:schemeClr val="tx1"/>
                </a:solidFill>
                <a:effectLst/>
                <a:latin typeface="+mn-lt"/>
                <a:ea typeface="+mn-ea"/>
                <a:cs typeface="+mn-cs"/>
              </a:rPr>
              <a:t>: correlation = </a:t>
            </a:r>
            <a:r>
              <a:rPr lang="en-US" sz="1200" b="1" i="0" kern="1200" dirty="0">
                <a:solidFill>
                  <a:schemeClr val="tx1"/>
                </a:solidFill>
                <a:effectLst/>
                <a:latin typeface="+mn-lt"/>
                <a:ea typeface="+mn-ea"/>
                <a:cs typeface="+mn-cs"/>
              </a:rPr>
              <a:t>0.75</a:t>
            </a:r>
            <a:endParaRPr lang="en-US" sz="1200" b="0" i="0" kern="1200" dirty="0">
              <a:solidFill>
                <a:schemeClr val="tx1"/>
              </a:solidFill>
              <a:effectLst/>
              <a:latin typeface="+mn-lt"/>
              <a:ea typeface="+mn-ea"/>
              <a:cs typeface="+mn-cs"/>
            </a:endParaRPr>
          </a:p>
          <a:p>
            <a:r>
              <a:rPr lang="en-US" sz="1200" b="1" i="0" kern="1200" dirty="0" err="1">
                <a:solidFill>
                  <a:schemeClr val="tx1"/>
                </a:solidFill>
                <a:effectLst/>
                <a:latin typeface="+mn-lt"/>
                <a:ea typeface="+mn-ea"/>
                <a:cs typeface="+mn-cs"/>
              </a:rPr>
              <a:t>highway_mpg</a:t>
            </a:r>
            <a:r>
              <a:rPr lang="en-US" sz="1200" b="0" i="0" kern="1200" dirty="0">
                <a:solidFill>
                  <a:schemeClr val="tx1"/>
                </a:solidFill>
                <a:effectLst/>
                <a:latin typeface="+mn-lt"/>
                <a:ea typeface="+mn-ea"/>
                <a:cs typeface="+mn-cs"/>
              </a:rPr>
              <a:t>: correlation = </a:t>
            </a:r>
            <a:r>
              <a:rPr lang="en-US" sz="1200" b="1" i="0" kern="1200" dirty="0">
                <a:solidFill>
                  <a:schemeClr val="tx1"/>
                </a:solidFill>
                <a:effectLst/>
                <a:latin typeface="+mn-lt"/>
                <a:ea typeface="+mn-ea"/>
                <a:cs typeface="+mn-cs"/>
              </a:rPr>
              <a:t>-0.70</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These variables are retained as candidates for later clustering and regression analysis.</a:t>
            </a:r>
          </a:p>
          <a:p>
            <a:endParaRPr lang="en-US" dirty="0"/>
          </a:p>
        </p:txBody>
      </p:sp>
      <p:sp>
        <p:nvSpPr>
          <p:cNvPr id="4" name="Slide Number Placeholder 3">
            <a:extLst>
              <a:ext uri="{FF2B5EF4-FFF2-40B4-BE49-F238E27FC236}">
                <a16:creationId xmlns:a16="http://schemas.microsoft.com/office/drawing/2014/main" id="{4F05CE57-39F2-071D-1418-318EE600A957}"/>
              </a:ext>
            </a:extLst>
          </p:cNvPr>
          <p:cNvSpPr>
            <a:spLocks noGrp="1"/>
          </p:cNvSpPr>
          <p:nvPr>
            <p:ph type="sldNum" sz="quarter" idx="5"/>
          </p:nvPr>
        </p:nvSpPr>
        <p:spPr/>
      </p:sp>
    </p:spTree>
    <p:extLst>
      <p:ext uri="{BB962C8B-B14F-4D97-AF65-F5344CB8AC3E}">
        <p14:creationId xmlns:p14="http://schemas.microsoft.com/office/powerpoint/2010/main" val="24199135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505E1-7EB7-7DB1-2F8F-0792168826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2562F-C776-5497-582C-3784AA884AB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2DE7B67-F405-4A65-D3D3-2AAC57222972}"/>
              </a:ext>
            </a:extLst>
          </p:cNvPr>
          <p:cNvSpPr>
            <a:spLocks noGrp="1"/>
          </p:cNvSpPr>
          <p:nvPr>
            <p:ph type="body" sz="quarter" idx="3"/>
          </p:nvPr>
        </p:nvSpPr>
        <p:spPr/>
        <p:txBody>
          <a:bodyPr/>
          <a:lstStyle/>
          <a:p>
            <a:endParaRPr lang="en-US" dirty="0"/>
          </a:p>
        </p:txBody>
      </p:sp>
      <p:sp>
        <p:nvSpPr>
          <p:cNvPr id="4" name="Slide Number Placeholder 3">
            <a:extLst>
              <a:ext uri="{FF2B5EF4-FFF2-40B4-BE49-F238E27FC236}">
                <a16:creationId xmlns:a16="http://schemas.microsoft.com/office/drawing/2014/main" id="{6A044275-C3DC-DC95-CFC5-D03CC49EC003}"/>
              </a:ext>
            </a:extLst>
          </p:cNvPr>
          <p:cNvSpPr>
            <a:spLocks noGrp="1"/>
          </p:cNvSpPr>
          <p:nvPr>
            <p:ph type="sldNum" sz="quarter" idx="5"/>
          </p:nvPr>
        </p:nvSpPr>
        <p:spPr/>
      </p:sp>
    </p:spTree>
    <p:extLst>
      <p:ext uri="{BB962C8B-B14F-4D97-AF65-F5344CB8AC3E}">
        <p14:creationId xmlns:p14="http://schemas.microsoft.com/office/powerpoint/2010/main" val="972852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31394-338A-83CB-C89A-3BB3DD6D3D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E15E52-CF20-6617-81A3-AEC1BEB09B7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D11926A-EE6B-F3BB-8310-0CECB79C115B}"/>
              </a:ext>
            </a:extLst>
          </p:cNvPr>
          <p:cNvSpPr>
            <a:spLocks noGrp="1"/>
          </p:cNvSpPr>
          <p:nvPr>
            <p:ph type="body" sz="quarter" idx="3"/>
          </p:nvPr>
        </p:nvSpPr>
        <p:spPr/>
        <p:txBody>
          <a:bodyPr/>
          <a:lstStyle/>
          <a:p>
            <a:endParaRPr lang="en-US" dirty="0"/>
          </a:p>
        </p:txBody>
      </p:sp>
      <p:sp>
        <p:nvSpPr>
          <p:cNvPr id="4" name="Slide Number Placeholder 3">
            <a:extLst>
              <a:ext uri="{FF2B5EF4-FFF2-40B4-BE49-F238E27FC236}">
                <a16:creationId xmlns:a16="http://schemas.microsoft.com/office/drawing/2014/main" id="{6A3A2CEC-579C-8BB9-41D3-C59AED8DCA29}"/>
              </a:ext>
            </a:extLst>
          </p:cNvPr>
          <p:cNvSpPr>
            <a:spLocks noGrp="1"/>
          </p:cNvSpPr>
          <p:nvPr>
            <p:ph type="sldNum" sz="quarter" idx="5"/>
          </p:nvPr>
        </p:nvSpPr>
        <p:spPr/>
      </p:sp>
    </p:spTree>
    <p:extLst>
      <p:ext uri="{BB962C8B-B14F-4D97-AF65-F5344CB8AC3E}">
        <p14:creationId xmlns:p14="http://schemas.microsoft.com/office/powerpoint/2010/main" val="24618991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FFA8A-C719-C1E0-3CB7-AFD6FF1B33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00A21-ABDF-7421-5315-BCFB04D8654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A1B15DE-284C-CC7F-9815-2A2B18EA5931}"/>
              </a:ext>
            </a:extLst>
          </p:cNvPr>
          <p:cNvSpPr>
            <a:spLocks noGrp="1"/>
          </p:cNvSpPr>
          <p:nvPr>
            <p:ph type="body" sz="quarter" idx="3"/>
          </p:nvPr>
        </p:nvSpPr>
        <p:spPr/>
        <p:txBody>
          <a:bodyPr/>
          <a:lstStyle/>
          <a:p>
            <a:endParaRPr lang="en-US" dirty="0"/>
          </a:p>
        </p:txBody>
      </p:sp>
      <p:sp>
        <p:nvSpPr>
          <p:cNvPr id="4" name="Slide Number Placeholder 3">
            <a:extLst>
              <a:ext uri="{FF2B5EF4-FFF2-40B4-BE49-F238E27FC236}">
                <a16:creationId xmlns:a16="http://schemas.microsoft.com/office/drawing/2014/main" id="{DE82C981-1455-86A6-D7A2-615E72BB08E4}"/>
              </a:ext>
            </a:extLst>
          </p:cNvPr>
          <p:cNvSpPr>
            <a:spLocks noGrp="1"/>
          </p:cNvSpPr>
          <p:nvPr>
            <p:ph type="sldNum" sz="quarter" idx="5"/>
          </p:nvPr>
        </p:nvSpPr>
        <p:spPr/>
      </p:sp>
    </p:spTree>
    <p:extLst>
      <p:ext uri="{BB962C8B-B14F-4D97-AF65-F5344CB8AC3E}">
        <p14:creationId xmlns:p14="http://schemas.microsoft.com/office/powerpoint/2010/main" val="42672223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D4B1D-78F9-81F2-E014-50B3218C93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80A986-728F-5A5E-B3BF-5783D9654B7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EE6D02A-F4ED-8154-FC27-2900552FED4D}"/>
              </a:ext>
            </a:extLst>
          </p:cNvPr>
          <p:cNvSpPr>
            <a:spLocks noGrp="1"/>
          </p:cNvSpPr>
          <p:nvPr>
            <p:ph type="body" sz="quarter" idx="3"/>
          </p:nvPr>
        </p:nvSpPr>
        <p:spPr/>
        <p:txBody>
          <a:bodyPr/>
          <a:lstStyle/>
          <a:p>
            <a:endParaRPr lang="en-US" dirty="0"/>
          </a:p>
        </p:txBody>
      </p:sp>
      <p:sp>
        <p:nvSpPr>
          <p:cNvPr id="4" name="Slide Number Placeholder 3">
            <a:extLst>
              <a:ext uri="{FF2B5EF4-FFF2-40B4-BE49-F238E27FC236}">
                <a16:creationId xmlns:a16="http://schemas.microsoft.com/office/drawing/2014/main" id="{DC907884-6B40-58A5-202C-3FEF76780957}"/>
              </a:ext>
            </a:extLst>
          </p:cNvPr>
          <p:cNvSpPr>
            <a:spLocks noGrp="1"/>
          </p:cNvSpPr>
          <p:nvPr>
            <p:ph type="sldNum" sz="quarter" idx="5"/>
          </p:nvPr>
        </p:nvSpPr>
        <p:spPr/>
      </p:sp>
    </p:spTree>
    <p:extLst>
      <p:ext uri="{BB962C8B-B14F-4D97-AF65-F5344CB8AC3E}">
        <p14:creationId xmlns:p14="http://schemas.microsoft.com/office/powerpoint/2010/main" val="18706238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2987D-D00A-8E24-BC6F-6C7382AEF8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A100D4-819F-4230-EBD1-FE7D9D7F22A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DA01BC9-68F8-9E25-48F2-89C42C3BA774}"/>
              </a:ext>
            </a:extLst>
          </p:cNvPr>
          <p:cNvSpPr>
            <a:spLocks noGrp="1"/>
          </p:cNvSpPr>
          <p:nvPr>
            <p:ph type="body" sz="quarter" idx="3"/>
          </p:nvPr>
        </p:nvSpPr>
        <p:spPr/>
        <p:txBody>
          <a:bodyPr/>
          <a:lstStyle/>
          <a:p>
            <a:endParaRPr lang="en-US" dirty="0"/>
          </a:p>
        </p:txBody>
      </p:sp>
      <p:sp>
        <p:nvSpPr>
          <p:cNvPr id="4" name="Slide Number Placeholder 3">
            <a:extLst>
              <a:ext uri="{FF2B5EF4-FFF2-40B4-BE49-F238E27FC236}">
                <a16:creationId xmlns:a16="http://schemas.microsoft.com/office/drawing/2014/main" id="{BE0CAACA-4E1D-7502-1BF4-12FC03C4661F}"/>
              </a:ext>
            </a:extLst>
          </p:cNvPr>
          <p:cNvSpPr>
            <a:spLocks noGrp="1"/>
          </p:cNvSpPr>
          <p:nvPr>
            <p:ph type="sldNum" sz="quarter" idx="5"/>
          </p:nvPr>
        </p:nvSpPr>
        <p:spPr/>
      </p:sp>
    </p:spTree>
    <p:extLst>
      <p:ext uri="{BB962C8B-B14F-4D97-AF65-F5344CB8AC3E}">
        <p14:creationId xmlns:p14="http://schemas.microsoft.com/office/powerpoint/2010/main" val="7791663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Ultimately, the value of this project isn't simply that we built a model. Manufacturers could use the analysis to understand which characteristics are associated with premium pricing. Dealerships could compare vehicles within more appropriate market segments. Consumers could better understand whether price aligns with a vehicle's specifications. And the Tableau dashboard makes those patterns accessible to people who don't need to work directly in Python.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summarize, this project took us through the complete analytical lifecycle. We started by understanding and cleaning the data, used exploratory analysis to uncover pricing relationships, applied clustering to understand different types of vehicles, built regression models to predict price, and communicated the findings through Tableau. The biggest takeaway is that a successful analytics project isn't just about producing a model. It's about explaining what the model tells us and how someone could actually use that information.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pPr/>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pPr/>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pPr/>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8503920" y="5989320"/>
            <a:ext cx="384048" cy="73152"/>
          </a:xfrm>
          <a:prstGeom prst="rect">
            <a:avLst/>
          </a:prstGeom>
          <a:solidFill>
            <a:srgbClr val="E2A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162288" y="5989320"/>
            <a:ext cx="384048" cy="73152"/>
          </a:xfrm>
          <a:prstGeom prst="rect">
            <a:avLst/>
          </a:prstGeom>
          <a:solidFill>
            <a:srgbClr val="E2A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820656" y="5989320"/>
            <a:ext cx="384048" cy="73152"/>
          </a:xfrm>
          <a:prstGeom prst="rect">
            <a:avLst/>
          </a:prstGeom>
          <a:solidFill>
            <a:srgbClr val="E2A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479024" y="5989320"/>
            <a:ext cx="384048" cy="73152"/>
          </a:xfrm>
          <a:prstGeom prst="rect">
            <a:avLst/>
          </a:prstGeom>
          <a:solidFill>
            <a:srgbClr val="E2A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137392" y="5989320"/>
            <a:ext cx="384048" cy="73152"/>
          </a:xfrm>
          <a:prstGeom prst="rect">
            <a:avLst/>
          </a:prstGeom>
          <a:solidFill>
            <a:srgbClr val="E2A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29600" y="4160520"/>
            <a:ext cx="2743200" cy="685800"/>
          </a:xfrm>
          <a:prstGeom prst="roundRect">
            <a:avLst/>
          </a:prstGeom>
          <a:solidFill>
            <a:srgbClr val="2C9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rapezoid 8"/>
          <p:cNvSpPr/>
          <p:nvPr/>
        </p:nvSpPr>
        <p:spPr>
          <a:xfrm>
            <a:off x="8732520" y="3584448"/>
            <a:ext cx="1691640" cy="731520"/>
          </a:xfrm>
          <a:prstGeom prst="trapezoid">
            <a:avLst/>
          </a:prstGeom>
          <a:solidFill>
            <a:srgbClr val="27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641080" y="4617720"/>
            <a:ext cx="475488" cy="475488"/>
          </a:xfrm>
          <a:prstGeom prst="ellipse">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104120" y="4617720"/>
            <a:ext cx="475488" cy="475488"/>
          </a:xfrm>
          <a:prstGeom prst="ellipse">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1281580"/>
            <a:ext cx="7498079" cy="707886"/>
          </a:xfrm>
          <a:prstGeom prst="rect">
            <a:avLst/>
          </a:prstGeom>
          <a:noFill/>
        </p:spPr>
        <p:txBody>
          <a:bodyPr wrap="square" anchor="t">
            <a:spAutoFit/>
          </a:bodyPr>
          <a:lstStyle/>
          <a:p>
            <a:pPr algn="l"/>
            <a:r>
              <a:rPr sz="4000" b="1" dirty="0">
                <a:solidFill>
                  <a:srgbClr val="FFFFFF"/>
                </a:solidFill>
                <a:latin typeface="Aptos"/>
              </a:rPr>
              <a:t>AUTOMOBILE PRICE ANALYSIS</a:t>
            </a:r>
          </a:p>
        </p:txBody>
      </p:sp>
      <p:sp>
        <p:nvSpPr>
          <p:cNvPr id="14" name="TextBox 13"/>
          <p:cNvSpPr txBox="1"/>
          <p:nvPr/>
        </p:nvSpPr>
        <p:spPr>
          <a:xfrm>
            <a:off x="731520" y="2451466"/>
            <a:ext cx="6583680" cy="1200329"/>
          </a:xfrm>
          <a:prstGeom prst="rect">
            <a:avLst/>
          </a:prstGeom>
          <a:noFill/>
        </p:spPr>
        <p:txBody>
          <a:bodyPr wrap="square" anchor="t">
            <a:spAutoFit/>
          </a:bodyPr>
          <a:lstStyle/>
          <a:p>
            <a:pPr algn="l"/>
            <a:r>
              <a:rPr sz="3600" b="0" dirty="0">
                <a:solidFill>
                  <a:srgbClr val="FFFFFF"/>
                </a:solidFill>
                <a:latin typeface="Aptos"/>
              </a:rPr>
              <a:t>What vehicle characteristics h</a:t>
            </a:r>
            <a:r>
              <a:rPr lang="en-US" sz="3600" b="0" dirty="0">
                <a:solidFill>
                  <a:srgbClr val="FFFFFF"/>
                </a:solidFill>
                <a:latin typeface="Aptos"/>
              </a:rPr>
              <a:t>as</a:t>
            </a:r>
            <a:r>
              <a:rPr sz="3600" b="0" dirty="0">
                <a:solidFill>
                  <a:srgbClr val="FFFFFF"/>
                </a:solidFill>
                <a:latin typeface="Aptos"/>
              </a:rPr>
              <a:t> the greatest impact on price?</a:t>
            </a:r>
          </a:p>
        </p:txBody>
      </p:sp>
      <p:sp>
        <p:nvSpPr>
          <p:cNvPr id="15" name="TextBox 14"/>
          <p:cNvSpPr txBox="1"/>
          <p:nvPr/>
        </p:nvSpPr>
        <p:spPr>
          <a:xfrm>
            <a:off x="749807" y="464317"/>
            <a:ext cx="6352741" cy="400110"/>
          </a:xfrm>
          <a:prstGeom prst="rect">
            <a:avLst/>
          </a:prstGeom>
          <a:noFill/>
        </p:spPr>
        <p:txBody>
          <a:bodyPr wrap="square" anchor="t">
            <a:spAutoFit/>
          </a:bodyPr>
          <a:lstStyle/>
          <a:p>
            <a:pPr algn="l"/>
            <a:r>
              <a:rPr lang="en-US" sz="2000" b="1" dirty="0">
                <a:solidFill>
                  <a:srgbClr val="BFCBDD"/>
                </a:solidFill>
                <a:latin typeface="Aptos"/>
              </a:rPr>
              <a:t>The Knowledge House </a:t>
            </a:r>
            <a:r>
              <a:rPr sz="2000" b="1" dirty="0">
                <a:solidFill>
                  <a:srgbClr val="BFCBDD"/>
                </a:solidFill>
                <a:latin typeface="Aptos"/>
              </a:rPr>
              <a:t>Phase 2 Capstone Project</a:t>
            </a:r>
          </a:p>
        </p:txBody>
      </p:sp>
      <p:sp>
        <p:nvSpPr>
          <p:cNvPr id="18" name="TextBox 17">
            <a:extLst>
              <a:ext uri="{FF2B5EF4-FFF2-40B4-BE49-F238E27FC236}">
                <a16:creationId xmlns:a16="http://schemas.microsoft.com/office/drawing/2014/main" id="{DED93B49-F0A1-F12B-E294-6EC74677888B}"/>
              </a:ext>
            </a:extLst>
          </p:cNvPr>
          <p:cNvSpPr txBox="1"/>
          <p:nvPr/>
        </p:nvSpPr>
        <p:spPr>
          <a:xfrm>
            <a:off x="617220" y="4422891"/>
            <a:ext cx="2983502" cy="1754326"/>
          </a:xfrm>
          <a:prstGeom prst="rect">
            <a:avLst/>
          </a:prstGeom>
          <a:noFill/>
        </p:spPr>
        <p:txBody>
          <a:bodyPr wrap="square" anchor="t">
            <a:spAutoFit/>
          </a:bodyPr>
          <a:lstStyle/>
          <a:p>
            <a:pPr algn="l"/>
            <a:r>
              <a:rPr lang="en-US" sz="1800" b="0" dirty="0">
                <a:solidFill>
                  <a:srgbClr val="FFFFFF"/>
                </a:solidFill>
                <a:latin typeface="Aptos"/>
              </a:rPr>
              <a:t>Presented By:</a:t>
            </a:r>
          </a:p>
          <a:p>
            <a:pPr algn="l"/>
            <a:r>
              <a:rPr lang="en-US" dirty="0">
                <a:solidFill>
                  <a:srgbClr val="FFFFFF"/>
                </a:solidFill>
                <a:latin typeface="Aptos"/>
              </a:rPr>
              <a:t>Victor Martinez</a:t>
            </a:r>
          </a:p>
          <a:p>
            <a:r>
              <a:rPr lang="en-US" dirty="0">
                <a:solidFill>
                  <a:srgbClr val="FFFFFF"/>
                </a:solidFill>
                <a:latin typeface="Aptos"/>
              </a:rPr>
              <a:t>Josie Joseph</a:t>
            </a:r>
          </a:p>
          <a:p>
            <a:pPr algn="l"/>
            <a:r>
              <a:rPr lang="en-US" sz="1800" b="0" dirty="0" err="1">
                <a:solidFill>
                  <a:srgbClr val="FFFFFF"/>
                </a:solidFill>
                <a:latin typeface="Aptos"/>
              </a:rPr>
              <a:t>Jenell</a:t>
            </a:r>
            <a:r>
              <a:rPr lang="en-US" dirty="0" err="1">
                <a:solidFill>
                  <a:srgbClr val="FFFFFF"/>
                </a:solidFill>
                <a:latin typeface="Aptos"/>
              </a:rPr>
              <a:t>e</a:t>
            </a:r>
            <a:r>
              <a:rPr lang="en-US" dirty="0">
                <a:solidFill>
                  <a:srgbClr val="FFFFFF"/>
                </a:solidFill>
                <a:latin typeface="Aptos"/>
              </a:rPr>
              <a:t> Downer</a:t>
            </a:r>
          </a:p>
          <a:p>
            <a:pPr algn="l"/>
            <a:r>
              <a:rPr lang="fr-FR" dirty="0">
                <a:solidFill>
                  <a:srgbClr val="FFFFFF"/>
                </a:solidFill>
                <a:latin typeface="Aptos"/>
              </a:rPr>
              <a:t>Oussama Fathi</a:t>
            </a:r>
            <a:endParaRPr lang="en-US" dirty="0">
              <a:solidFill>
                <a:srgbClr val="FFFFFF"/>
              </a:solidFill>
              <a:latin typeface="Aptos"/>
            </a:endParaRPr>
          </a:p>
          <a:p>
            <a:pPr algn="l"/>
            <a:endParaRPr sz="1800" b="0" dirty="0">
              <a:solidFill>
                <a:srgbClr val="FFFFFF"/>
              </a:solidFill>
              <a:latin typeface="Aptos"/>
            </a:endParaRPr>
          </a:p>
        </p:txBody>
      </p:sp>
      <p:grpSp>
        <p:nvGrpSpPr>
          <p:cNvPr id="24" name="Graphic 19" descr="Flying Money outline">
            <a:extLst>
              <a:ext uri="{FF2B5EF4-FFF2-40B4-BE49-F238E27FC236}">
                <a16:creationId xmlns:a16="http://schemas.microsoft.com/office/drawing/2014/main" id="{40BE03E8-3E06-965B-C5DE-8A885BC98761}"/>
              </a:ext>
            </a:extLst>
          </p:cNvPr>
          <p:cNvGrpSpPr/>
          <p:nvPr/>
        </p:nvGrpSpPr>
        <p:grpSpPr>
          <a:xfrm>
            <a:off x="7412104" y="2861638"/>
            <a:ext cx="876352" cy="816263"/>
            <a:chOff x="4742277" y="4551845"/>
            <a:chExt cx="876352" cy="816263"/>
          </a:xfrm>
          <a:solidFill>
            <a:srgbClr val="000000"/>
          </a:solidFill>
        </p:grpSpPr>
        <p:sp>
          <p:nvSpPr>
            <p:cNvPr id="25" name="Freeform 24">
              <a:extLst>
                <a:ext uri="{FF2B5EF4-FFF2-40B4-BE49-F238E27FC236}">
                  <a16:creationId xmlns:a16="http://schemas.microsoft.com/office/drawing/2014/main" id="{120E6245-06C1-BCF7-C67B-3A0C39818E48}"/>
                </a:ext>
              </a:extLst>
            </p:cNvPr>
            <p:cNvSpPr/>
            <p:nvPr/>
          </p:nvSpPr>
          <p:spPr>
            <a:xfrm>
              <a:off x="5045295" y="4863370"/>
              <a:ext cx="148372" cy="144607"/>
            </a:xfrm>
            <a:custGeom>
              <a:avLst/>
              <a:gdLst>
                <a:gd name="csX0" fmla="*/ 116302 w 148372"/>
                <a:gd name="csY0" fmla="*/ 23374 h 144607"/>
                <a:gd name="csX1" fmla="*/ 57761 w 148372"/>
                <a:gd name="csY1" fmla="*/ 28 h 144607"/>
                <a:gd name="csX2" fmla="*/ 13136 w 148372"/>
                <a:gd name="csY2" fmla="*/ 19078 h 144607"/>
                <a:gd name="csX3" fmla="*/ 32043 w 148372"/>
                <a:gd name="csY3" fmla="*/ 121205 h 144607"/>
                <a:gd name="csX4" fmla="*/ 90584 w 148372"/>
                <a:gd name="csY4" fmla="*/ 144580 h 144607"/>
                <a:gd name="csX5" fmla="*/ 135209 w 148372"/>
                <a:gd name="csY5" fmla="*/ 125530 h 144607"/>
                <a:gd name="csX6" fmla="*/ 116302 w 148372"/>
                <a:gd name="csY6" fmla="*/ 23374 h 144607"/>
                <a:gd name="csX7" fmla="*/ 120778 w 148372"/>
                <a:gd name="csY7" fmla="*/ 113061 h 144607"/>
                <a:gd name="csX8" fmla="*/ 90584 w 148372"/>
                <a:gd name="csY8" fmla="*/ 125530 h 144607"/>
                <a:gd name="csX9" fmla="*/ 44559 w 148372"/>
                <a:gd name="csY9" fmla="*/ 106870 h 144607"/>
                <a:gd name="csX10" fmla="*/ 27567 w 148372"/>
                <a:gd name="csY10" fmla="*/ 31546 h 144607"/>
                <a:gd name="csX11" fmla="*/ 57761 w 148372"/>
                <a:gd name="csY11" fmla="*/ 19078 h 144607"/>
                <a:gd name="csX12" fmla="*/ 103786 w 148372"/>
                <a:gd name="csY12" fmla="*/ 37728 h 144607"/>
                <a:gd name="csX13" fmla="*/ 120816 w 148372"/>
                <a:gd name="csY13" fmla="*/ 113061 h 1446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8372" h="144607">
                  <a:moveTo>
                    <a:pt x="116302" y="23374"/>
                  </a:moveTo>
                  <a:cubicBezTo>
                    <a:pt x="100207" y="8843"/>
                    <a:pt x="79438" y="560"/>
                    <a:pt x="57761" y="28"/>
                  </a:cubicBezTo>
                  <a:cubicBezTo>
                    <a:pt x="40806" y="-502"/>
                    <a:pt x="24481" y="6467"/>
                    <a:pt x="13136" y="19078"/>
                  </a:cubicBezTo>
                  <a:cubicBezTo>
                    <a:pt x="-10124" y="46082"/>
                    <a:pt x="-1685" y="91811"/>
                    <a:pt x="32043" y="121205"/>
                  </a:cubicBezTo>
                  <a:cubicBezTo>
                    <a:pt x="48133" y="135747"/>
                    <a:pt x="68903" y="144041"/>
                    <a:pt x="90584" y="144580"/>
                  </a:cubicBezTo>
                  <a:cubicBezTo>
                    <a:pt x="107539" y="145110"/>
                    <a:pt x="123864" y="138141"/>
                    <a:pt x="135209" y="125530"/>
                  </a:cubicBezTo>
                  <a:cubicBezTo>
                    <a:pt x="158507" y="98498"/>
                    <a:pt x="150068" y="52768"/>
                    <a:pt x="116302" y="23374"/>
                  </a:cubicBezTo>
                  <a:close/>
                  <a:moveTo>
                    <a:pt x="120778" y="113061"/>
                  </a:moveTo>
                  <a:cubicBezTo>
                    <a:pt x="113034" y="121451"/>
                    <a:pt x="101992" y="126011"/>
                    <a:pt x="90584" y="125530"/>
                  </a:cubicBezTo>
                  <a:cubicBezTo>
                    <a:pt x="73516" y="124959"/>
                    <a:pt x="57206" y="118347"/>
                    <a:pt x="44559" y="106870"/>
                  </a:cubicBezTo>
                  <a:cubicBezTo>
                    <a:pt x="19204" y="84782"/>
                    <a:pt x="11422" y="50282"/>
                    <a:pt x="27567" y="31546"/>
                  </a:cubicBezTo>
                  <a:cubicBezTo>
                    <a:pt x="35311" y="23157"/>
                    <a:pt x="46353" y="18597"/>
                    <a:pt x="57761" y="19078"/>
                  </a:cubicBezTo>
                  <a:cubicBezTo>
                    <a:pt x="74827" y="19649"/>
                    <a:pt x="91137" y="26258"/>
                    <a:pt x="103786" y="37728"/>
                  </a:cubicBezTo>
                  <a:cubicBezTo>
                    <a:pt x="129179" y="59826"/>
                    <a:pt x="136961" y="94326"/>
                    <a:pt x="120816" y="113061"/>
                  </a:cubicBezTo>
                  <a:close/>
                </a:path>
              </a:pathLst>
            </a:custGeom>
            <a:grpFill/>
            <a:ln w="9525" cap="flat">
              <a:solidFill>
                <a:schemeClr val="accent3">
                  <a:lumMod val="50000"/>
                </a:schemeClr>
              </a:solidFill>
              <a:prstDash val="solid"/>
              <a:miter/>
            </a:ln>
          </p:spPr>
          <p:txBody>
            <a:bodyPr/>
            <a:lstStyle/>
            <a:p>
              <a:endParaRPr lang="en-US"/>
            </a:p>
          </p:txBody>
        </p:sp>
        <p:sp>
          <p:nvSpPr>
            <p:cNvPr id="26" name="Freeform 25">
              <a:extLst>
                <a:ext uri="{FF2B5EF4-FFF2-40B4-BE49-F238E27FC236}">
                  <a16:creationId xmlns:a16="http://schemas.microsoft.com/office/drawing/2014/main" id="{41846FA9-2851-CFFE-2468-DF920920B68C}"/>
                </a:ext>
              </a:extLst>
            </p:cNvPr>
            <p:cNvSpPr/>
            <p:nvPr/>
          </p:nvSpPr>
          <p:spPr>
            <a:xfrm>
              <a:off x="5184625" y="4738278"/>
              <a:ext cx="65374" cy="63415"/>
            </a:xfrm>
            <a:custGeom>
              <a:avLst/>
              <a:gdLst>
                <a:gd name="csX0" fmla="*/ 50019 w 65374"/>
                <a:gd name="csY0" fmla="*/ 7076 h 63415"/>
                <a:gd name="csX1" fmla="*/ 28617 w 65374"/>
                <a:gd name="csY1" fmla="*/ 9 h 63415"/>
                <a:gd name="csX2" fmla="*/ 4671 w 65374"/>
                <a:gd name="csY2" fmla="*/ 11744 h 63415"/>
                <a:gd name="csX3" fmla="*/ 15339 w 65374"/>
                <a:gd name="csY3" fmla="*/ 56349 h 63415"/>
                <a:gd name="csX4" fmla="*/ 36742 w 65374"/>
                <a:gd name="csY4" fmla="*/ 63407 h 63415"/>
                <a:gd name="csX5" fmla="*/ 60687 w 65374"/>
                <a:gd name="csY5" fmla="*/ 51672 h 63415"/>
                <a:gd name="csX6" fmla="*/ 50019 w 65374"/>
                <a:gd name="csY6" fmla="*/ 7076 h 63415"/>
                <a:gd name="csX7" fmla="*/ 45162 w 65374"/>
                <a:gd name="csY7" fmla="*/ 40633 h 63415"/>
                <a:gd name="csX8" fmla="*/ 36742 w 65374"/>
                <a:gd name="csY8" fmla="*/ 44357 h 63415"/>
                <a:gd name="csX9" fmla="*/ 26435 w 65374"/>
                <a:gd name="csY9" fmla="*/ 40861 h 63415"/>
                <a:gd name="csX10" fmla="*/ 20187 w 65374"/>
                <a:gd name="csY10" fmla="*/ 22764 h 63415"/>
                <a:gd name="csX11" fmla="*/ 28617 w 65374"/>
                <a:gd name="csY11" fmla="*/ 19040 h 63415"/>
                <a:gd name="csX12" fmla="*/ 38923 w 65374"/>
                <a:gd name="csY12" fmla="*/ 22545 h 63415"/>
                <a:gd name="csX13" fmla="*/ 45162 w 65374"/>
                <a:gd name="csY13" fmla="*/ 40585 h 634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5374" h="63415">
                  <a:moveTo>
                    <a:pt x="50019" y="7076"/>
                  </a:moveTo>
                  <a:cubicBezTo>
                    <a:pt x="43797" y="2545"/>
                    <a:pt x="36314" y="74"/>
                    <a:pt x="28617" y="9"/>
                  </a:cubicBezTo>
                  <a:cubicBezTo>
                    <a:pt x="19197" y="-223"/>
                    <a:pt x="10259" y="4158"/>
                    <a:pt x="4671" y="11744"/>
                  </a:cubicBezTo>
                  <a:cubicBezTo>
                    <a:pt x="-4501" y="27038"/>
                    <a:pt x="240" y="46859"/>
                    <a:pt x="15339" y="56349"/>
                  </a:cubicBezTo>
                  <a:cubicBezTo>
                    <a:pt x="21564" y="60873"/>
                    <a:pt x="29046" y="63340"/>
                    <a:pt x="36742" y="63407"/>
                  </a:cubicBezTo>
                  <a:cubicBezTo>
                    <a:pt x="46161" y="63640"/>
                    <a:pt x="55100" y="59259"/>
                    <a:pt x="60687" y="51672"/>
                  </a:cubicBezTo>
                  <a:cubicBezTo>
                    <a:pt x="69886" y="36385"/>
                    <a:pt x="65139" y="16547"/>
                    <a:pt x="50019" y="7076"/>
                  </a:cubicBezTo>
                  <a:close/>
                  <a:moveTo>
                    <a:pt x="45162" y="40633"/>
                  </a:moveTo>
                  <a:cubicBezTo>
                    <a:pt x="43092" y="43123"/>
                    <a:pt x="39976" y="44501"/>
                    <a:pt x="36742" y="44357"/>
                  </a:cubicBezTo>
                  <a:cubicBezTo>
                    <a:pt x="33027" y="44287"/>
                    <a:pt x="29426" y="43066"/>
                    <a:pt x="26435" y="40861"/>
                  </a:cubicBezTo>
                  <a:cubicBezTo>
                    <a:pt x="20021" y="37323"/>
                    <a:pt x="17322" y="29507"/>
                    <a:pt x="20187" y="22764"/>
                  </a:cubicBezTo>
                  <a:cubicBezTo>
                    <a:pt x="22261" y="20274"/>
                    <a:pt x="25379" y="18896"/>
                    <a:pt x="28617" y="19040"/>
                  </a:cubicBezTo>
                  <a:cubicBezTo>
                    <a:pt x="32331" y="19115"/>
                    <a:pt x="35932" y="20340"/>
                    <a:pt x="38923" y="22545"/>
                  </a:cubicBezTo>
                  <a:cubicBezTo>
                    <a:pt x="45666" y="27336"/>
                    <a:pt x="48581" y="35785"/>
                    <a:pt x="45162" y="40585"/>
                  </a:cubicBezTo>
                  <a:close/>
                </a:path>
              </a:pathLst>
            </a:custGeom>
            <a:grpFill/>
            <a:ln w="9525" cap="flat">
              <a:solidFill>
                <a:schemeClr val="accent3">
                  <a:lumMod val="50000"/>
                </a:schemeClr>
              </a:solidFill>
              <a:prstDash val="solid"/>
              <a:miter/>
            </a:ln>
          </p:spPr>
          <p:txBody>
            <a:bodyPr/>
            <a:lstStyle/>
            <a:p>
              <a:endParaRPr lang="en-US"/>
            </a:p>
          </p:txBody>
        </p:sp>
        <p:sp>
          <p:nvSpPr>
            <p:cNvPr id="27" name="Freeform 26">
              <a:extLst>
                <a:ext uri="{FF2B5EF4-FFF2-40B4-BE49-F238E27FC236}">
                  <a16:creationId xmlns:a16="http://schemas.microsoft.com/office/drawing/2014/main" id="{3D46FCFF-0A79-9B25-5357-C0D96D977CD1}"/>
                </a:ext>
              </a:extLst>
            </p:cNvPr>
            <p:cNvSpPr/>
            <p:nvPr/>
          </p:nvSpPr>
          <p:spPr>
            <a:xfrm>
              <a:off x="5029681" y="5085905"/>
              <a:ext cx="65021" cy="63878"/>
            </a:xfrm>
            <a:custGeom>
              <a:avLst/>
              <a:gdLst>
                <a:gd name="csX0" fmla="*/ 51287 w 65021"/>
                <a:gd name="csY0" fmla="*/ 8398 h 63878"/>
                <a:gd name="csX1" fmla="*/ 28294 w 65021"/>
                <a:gd name="csY1" fmla="*/ 7 h 63878"/>
                <a:gd name="csX2" fmla="*/ 5739 w 65021"/>
                <a:gd name="csY2" fmla="*/ 10398 h 63878"/>
                <a:gd name="csX3" fmla="*/ 13749 w 65021"/>
                <a:gd name="csY3" fmla="*/ 55480 h 63878"/>
                <a:gd name="csX4" fmla="*/ 36742 w 65021"/>
                <a:gd name="csY4" fmla="*/ 63872 h 63878"/>
                <a:gd name="csX5" fmla="*/ 59288 w 65021"/>
                <a:gd name="csY5" fmla="*/ 53480 h 63878"/>
                <a:gd name="csX6" fmla="*/ 51287 w 65021"/>
                <a:gd name="csY6" fmla="*/ 8398 h 63878"/>
                <a:gd name="csX7" fmla="*/ 44381 w 65021"/>
                <a:gd name="csY7" fmla="*/ 41621 h 63878"/>
                <a:gd name="csX8" fmla="*/ 36761 w 65021"/>
                <a:gd name="csY8" fmla="*/ 44822 h 63878"/>
                <a:gd name="csX9" fmla="*/ 25731 w 65021"/>
                <a:gd name="csY9" fmla="*/ 40650 h 63878"/>
                <a:gd name="csX10" fmla="*/ 20674 w 65021"/>
                <a:gd name="csY10" fmla="*/ 22257 h 63878"/>
                <a:gd name="csX11" fmla="*/ 28294 w 65021"/>
                <a:gd name="csY11" fmla="*/ 19057 h 63878"/>
                <a:gd name="csX12" fmla="*/ 39267 w 65021"/>
                <a:gd name="csY12" fmla="*/ 23181 h 63878"/>
                <a:gd name="csX13" fmla="*/ 44381 w 65021"/>
                <a:gd name="csY13" fmla="*/ 41621 h 638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5021" h="63878">
                  <a:moveTo>
                    <a:pt x="51287" y="8398"/>
                  </a:moveTo>
                  <a:cubicBezTo>
                    <a:pt x="44802" y="3062"/>
                    <a:pt x="36691" y="102"/>
                    <a:pt x="28294" y="7"/>
                  </a:cubicBezTo>
                  <a:cubicBezTo>
                    <a:pt x="19577" y="-181"/>
                    <a:pt x="11259" y="3651"/>
                    <a:pt x="5739" y="10398"/>
                  </a:cubicBezTo>
                  <a:cubicBezTo>
                    <a:pt x="-4357" y="25091"/>
                    <a:pt x="-790" y="45166"/>
                    <a:pt x="13749" y="55480"/>
                  </a:cubicBezTo>
                  <a:cubicBezTo>
                    <a:pt x="20236" y="60812"/>
                    <a:pt x="28346" y="63773"/>
                    <a:pt x="36742" y="63872"/>
                  </a:cubicBezTo>
                  <a:cubicBezTo>
                    <a:pt x="45456" y="64060"/>
                    <a:pt x="53772" y="60227"/>
                    <a:pt x="59288" y="53480"/>
                  </a:cubicBezTo>
                  <a:cubicBezTo>
                    <a:pt x="69374" y="38788"/>
                    <a:pt x="65813" y="18722"/>
                    <a:pt x="51287" y="8398"/>
                  </a:cubicBezTo>
                  <a:close/>
                  <a:moveTo>
                    <a:pt x="44381" y="41621"/>
                  </a:moveTo>
                  <a:cubicBezTo>
                    <a:pt x="42446" y="43771"/>
                    <a:pt x="39651" y="44945"/>
                    <a:pt x="36761" y="44822"/>
                  </a:cubicBezTo>
                  <a:cubicBezTo>
                    <a:pt x="32718" y="44723"/>
                    <a:pt x="28828" y="43252"/>
                    <a:pt x="25731" y="40650"/>
                  </a:cubicBezTo>
                  <a:cubicBezTo>
                    <a:pt x="19600" y="36706"/>
                    <a:pt x="17421" y="28781"/>
                    <a:pt x="20674" y="22257"/>
                  </a:cubicBezTo>
                  <a:cubicBezTo>
                    <a:pt x="22608" y="20106"/>
                    <a:pt x="25403" y="18932"/>
                    <a:pt x="28294" y="19057"/>
                  </a:cubicBezTo>
                  <a:cubicBezTo>
                    <a:pt x="32313" y="19147"/>
                    <a:pt x="36182" y="20602"/>
                    <a:pt x="39267" y="23181"/>
                  </a:cubicBezTo>
                  <a:cubicBezTo>
                    <a:pt x="45490" y="27075"/>
                    <a:pt x="47709" y="35078"/>
                    <a:pt x="44381" y="41621"/>
                  </a:cubicBezTo>
                  <a:close/>
                </a:path>
              </a:pathLst>
            </a:custGeom>
            <a:grpFill/>
            <a:ln w="9525" cap="flat">
              <a:solidFill>
                <a:schemeClr val="accent3">
                  <a:lumMod val="50000"/>
                </a:schemeClr>
              </a:solidFill>
              <a:prstDash val="solid"/>
              <a:miter/>
            </a:ln>
          </p:spPr>
          <p:txBody>
            <a:bodyPr/>
            <a:lstStyle/>
            <a:p>
              <a:endParaRPr lang="en-US"/>
            </a:p>
          </p:txBody>
        </p:sp>
        <p:sp>
          <p:nvSpPr>
            <p:cNvPr id="28" name="Freeform 27">
              <a:extLst>
                <a:ext uri="{FF2B5EF4-FFF2-40B4-BE49-F238E27FC236}">
                  <a16:creationId xmlns:a16="http://schemas.microsoft.com/office/drawing/2014/main" id="{F4F171E0-487A-F2CD-5914-225A39E8DB3E}"/>
                </a:ext>
              </a:extLst>
            </p:cNvPr>
            <p:cNvSpPr/>
            <p:nvPr/>
          </p:nvSpPr>
          <p:spPr>
            <a:xfrm>
              <a:off x="4924253" y="4636160"/>
              <a:ext cx="436035" cy="648576"/>
            </a:xfrm>
            <a:custGeom>
              <a:avLst/>
              <a:gdLst>
                <a:gd name="csX0" fmla="*/ 432978 w 436035"/>
                <a:gd name="csY0" fmla="*/ 180880 h 648576"/>
                <a:gd name="csX1" fmla="*/ 436035 w 436035"/>
                <a:gd name="csY1" fmla="*/ 177813 h 648576"/>
                <a:gd name="csX2" fmla="*/ 430701 w 436035"/>
                <a:gd name="csY2" fmla="*/ 98717 h 648576"/>
                <a:gd name="csX3" fmla="*/ 294846 w 436035"/>
                <a:gd name="csY3" fmla="*/ 0 h 648576"/>
                <a:gd name="csX4" fmla="*/ 211217 w 436035"/>
                <a:gd name="csY4" fmla="*/ 15850 h 648576"/>
                <a:gd name="csX5" fmla="*/ 209131 w 436035"/>
                <a:gd name="csY5" fmla="*/ 17936 h 648576"/>
                <a:gd name="csX6" fmla="*/ 100470 w 436035"/>
                <a:gd name="csY6" fmla="*/ 179680 h 648576"/>
                <a:gd name="csX7" fmla="*/ 61932 w 436035"/>
                <a:gd name="csY7" fmla="*/ 297037 h 648576"/>
                <a:gd name="csX8" fmla="*/ 1572 w 436035"/>
                <a:gd name="csY8" fmla="*/ 445332 h 648576"/>
                <a:gd name="csX9" fmla="*/ 0 w 436035"/>
                <a:gd name="csY9" fmla="*/ 448018 h 648576"/>
                <a:gd name="csX10" fmla="*/ 7620 w 436035"/>
                <a:gd name="csY10" fmla="*/ 521970 h 648576"/>
                <a:gd name="csX11" fmla="*/ 149390 w 436035"/>
                <a:gd name="csY11" fmla="*/ 648576 h 648576"/>
                <a:gd name="csX12" fmla="*/ 216008 w 436035"/>
                <a:gd name="csY12" fmla="*/ 632974 h 648576"/>
                <a:gd name="csX13" fmla="*/ 218094 w 436035"/>
                <a:gd name="csY13" fmla="*/ 629945 h 648576"/>
                <a:gd name="csX14" fmla="*/ 248574 w 436035"/>
                <a:gd name="csY14" fmla="*/ 568900 h 648576"/>
                <a:gd name="csX15" fmla="*/ 280864 w 436035"/>
                <a:gd name="csY15" fmla="*/ 455962 h 648576"/>
                <a:gd name="csX16" fmla="*/ 345453 w 436035"/>
                <a:gd name="csY16" fmla="*/ 287760 h 648576"/>
                <a:gd name="csX17" fmla="*/ 432978 w 436035"/>
                <a:gd name="csY17" fmla="*/ 180880 h 648576"/>
                <a:gd name="csX18" fmla="*/ 262357 w 436035"/>
                <a:gd name="csY18" fmla="*/ 451514 h 648576"/>
                <a:gd name="csX19" fmla="*/ 230619 w 436035"/>
                <a:gd name="csY19" fmla="*/ 562585 h 648576"/>
                <a:gd name="csX20" fmla="*/ 230619 w 436035"/>
                <a:gd name="csY20" fmla="*/ 562585 h 648576"/>
                <a:gd name="csX21" fmla="*/ 204464 w 436035"/>
                <a:gd name="csY21" fmla="*/ 616106 h 648576"/>
                <a:gd name="csX22" fmla="*/ 154705 w 436035"/>
                <a:gd name="csY22" fmla="*/ 627755 h 648576"/>
                <a:gd name="csX23" fmla="*/ 25889 w 436035"/>
                <a:gd name="csY23" fmla="*/ 512674 h 648576"/>
                <a:gd name="csX24" fmla="*/ 19631 w 436035"/>
                <a:gd name="csY24" fmla="*/ 452247 h 648576"/>
                <a:gd name="csX25" fmla="*/ 80420 w 436035"/>
                <a:gd name="csY25" fmla="*/ 301752 h 648576"/>
                <a:gd name="csX26" fmla="*/ 118100 w 436035"/>
                <a:gd name="csY26" fmla="*/ 186976 h 648576"/>
                <a:gd name="csX27" fmla="*/ 220561 w 436035"/>
                <a:gd name="csY27" fmla="*/ 33423 h 648576"/>
                <a:gd name="csX28" fmla="*/ 290293 w 436035"/>
                <a:gd name="csY28" fmla="*/ 20250 h 648576"/>
                <a:gd name="csX29" fmla="*/ 412280 w 436035"/>
                <a:gd name="csY29" fmla="*/ 108899 h 648576"/>
                <a:gd name="csX30" fmla="*/ 416452 w 436035"/>
                <a:gd name="csY30" fmla="*/ 170478 h 648576"/>
                <a:gd name="csX31" fmla="*/ 329232 w 436035"/>
                <a:gd name="csY31" fmla="*/ 277787 h 648576"/>
                <a:gd name="csX32" fmla="*/ 262357 w 436035"/>
                <a:gd name="csY32" fmla="*/ 451514 h 648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436035" h="648576">
                  <a:moveTo>
                    <a:pt x="432978" y="180880"/>
                  </a:moveTo>
                  <a:lnTo>
                    <a:pt x="436035" y="177813"/>
                  </a:lnTo>
                  <a:lnTo>
                    <a:pt x="430701" y="98717"/>
                  </a:lnTo>
                  <a:lnTo>
                    <a:pt x="294846" y="0"/>
                  </a:lnTo>
                  <a:lnTo>
                    <a:pt x="211217" y="15850"/>
                  </a:lnTo>
                  <a:lnTo>
                    <a:pt x="209131" y="17936"/>
                  </a:lnTo>
                  <a:cubicBezTo>
                    <a:pt x="162659" y="64207"/>
                    <a:pt x="125740" y="119164"/>
                    <a:pt x="100470" y="179680"/>
                  </a:cubicBezTo>
                  <a:cubicBezTo>
                    <a:pt x="84450" y="217684"/>
                    <a:pt x="71560" y="256934"/>
                    <a:pt x="61932" y="297037"/>
                  </a:cubicBezTo>
                  <a:cubicBezTo>
                    <a:pt x="50154" y="349468"/>
                    <a:pt x="29757" y="399579"/>
                    <a:pt x="1572" y="445332"/>
                  </a:cubicBezTo>
                  <a:lnTo>
                    <a:pt x="0" y="448018"/>
                  </a:lnTo>
                  <a:lnTo>
                    <a:pt x="7620" y="521970"/>
                  </a:lnTo>
                  <a:lnTo>
                    <a:pt x="149390" y="648576"/>
                  </a:lnTo>
                  <a:lnTo>
                    <a:pt x="216008" y="632974"/>
                  </a:lnTo>
                  <a:lnTo>
                    <a:pt x="218094" y="629945"/>
                  </a:lnTo>
                  <a:cubicBezTo>
                    <a:pt x="230917" y="611039"/>
                    <a:pt x="241167" y="590511"/>
                    <a:pt x="248574" y="568900"/>
                  </a:cubicBezTo>
                  <a:cubicBezTo>
                    <a:pt x="261395" y="531872"/>
                    <a:pt x="272174" y="494170"/>
                    <a:pt x="280864" y="455962"/>
                  </a:cubicBezTo>
                  <a:cubicBezTo>
                    <a:pt x="294675" y="399764"/>
                    <a:pt x="306581" y="351187"/>
                    <a:pt x="345453" y="287760"/>
                  </a:cubicBezTo>
                  <a:cubicBezTo>
                    <a:pt x="370399" y="248870"/>
                    <a:pt x="399770" y="213004"/>
                    <a:pt x="432978" y="180880"/>
                  </a:cubicBezTo>
                  <a:close/>
                  <a:moveTo>
                    <a:pt x="262357" y="451514"/>
                  </a:moveTo>
                  <a:cubicBezTo>
                    <a:pt x="253813" y="489089"/>
                    <a:pt x="243218" y="526168"/>
                    <a:pt x="230619" y="562585"/>
                  </a:cubicBezTo>
                  <a:lnTo>
                    <a:pt x="230619" y="562585"/>
                  </a:lnTo>
                  <a:cubicBezTo>
                    <a:pt x="224149" y="581438"/>
                    <a:pt x="215363" y="599416"/>
                    <a:pt x="204464" y="616106"/>
                  </a:cubicBezTo>
                  <a:lnTo>
                    <a:pt x="154705" y="627755"/>
                  </a:lnTo>
                  <a:lnTo>
                    <a:pt x="25889" y="512674"/>
                  </a:lnTo>
                  <a:lnTo>
                    <a:pt x="19631" y="452247"/>
                  </a:lnTo>
                  <a:cubicBezTo>
                    <a:pt x="47964" y="405732"/>
                    <a:pt x="68497" y="354896"/>
                    <a:pt x="80420" y="301752"/>
                  </a:cubicBezTo>
                  <a:cubicBezTo>
                    <a:pt x="89839" y="262533"/>
                    <a:pt x="102440" y="224146"/>
                    <a:pt x="118100" y="186976"/>
                  </a:cubicBezTo>
                  <a:cubicBezTo>
                    <a:pt x="142019" y="129655"/>
                    <a:pt x="176813" y="77512"/>
                    <a:pt x="220561" y="33423"/>
                  </a:cubicBezTo>
                  <a:lnTo>
                    <a:pt x="290293" y="20250"/>
                  </a:lnTo>
                  <a:lnTo>
                    <a:pt x="412280" y="108899"/>
                  </a:lnTo>
                  <a:lnTo>
                    <a:pt x="416452" y="170478"/>
                  </a:lnTo>
                  <a:cubicBezTo>
                    <a:pt x="383397" y="202819"/>
                    <a:pt x="354135" y="238820"/>
                    <a:pt x="329232" y="277787"/>
                  </a:cubicBezTo>
                  <a:cubicBezTo>
                    <a:pt x="288836" y="343757"/>
                    <a:pt x="276577" y="393649"/>
                    <a:pt x="262357" y="451514"/>
                  </a:cubicBezTo>
                  <a:close/>
                </a:path>
              </a:pathLst>
            </a:custGeom>
            <a:grpFill/>
            <a:ln w="9525" cap="flat">
              <a:solidFill>
                <a:schemeClr val="accent3">
                  <a:lumMod val="50000"/>
                </a:schemeClr>
              </a:solidFill>
              <a:prstDash val="solid"/>
              <a:miter/>
            </a:ln>
          </p:spPr>
          <p:txBody>
            <a:bodyPr/>
            <a:lstStyle/>
            <a:p>
              <a:endParaRPr lang="en-US"/>
            </a:p>
          </p:txBody>
        </p:sp>
        <p:sp>
          <p:nvSpPr>
            <p:cNvPr id="29" name="Freeform 28">
              <a:extLst>
                <a:ext uri="{FF2B5EF4-FFF2-40B4-BE49-F238E27FC236}">
                  <a16:creationId xmlns:a16="http://schemas.microsoft.com/office/drawing/2014/main" id="{4479ECD6-B286-5271-352E-73B90D7C8A36}"/>
                </a:ext>
              </a:extLst>
            </p:cNvPr>
            <p:cNvSpPr/>
            <p:nvPr/>
          </p:nvSpPr>
          <p:spPr>
            <a:xfrm>
              <a:off x="4742277" y="4551845"/>
              <a:ext cx="876352" cy="816263"/>
            </a:xfrm>
            <a:custGeom>
              <a:avLst/>
              <a:gdLst>
                <a:gd name="csX0" fmla="*/ 875568 w 876352"/>
                <a:gd name="csY0" fmla="*/ 561832 h 816263"/>
                <a:gd name="csX1" fmla="*/ 866233 w 876352"/>
                <a:gd name="csY1" fmla="*/ 556203 h 816263"/>
                <a:gd name="csX2" fmla="*/ 781156 w 876352"/>
                <a:gd name="csY2" fmla="*/ 512883 h 816263"/>
                <a:gd name="csX3" fmla="*/ 723120 w 876352"/>
                <a:gd name="csY3" fmla="*/ 449732 h 816263"/>
                <a:gd name="csX4" fmla="*/ 660846 w 876352"/>
                <a:gd name="csY4" fmla="*/ 399545 h 816263"/>
                <a:gd name="csX5" fmla="*/ 554299 w 876352"/>
                <a:gd name="csY5" fmla="*/ 421453 h 816263"/>
                <a:gd name="csX6" fmla="*/ 568215 w 876352"/>
                <a:gd name="csY6" fmla="*/ 397021 h 816263"/>
                <a:gd name="csX7" fmla="*/ 741513 w 876352"/>
                <a:gd name="csY7" fmla="*/ 217656 h 816263"/>
                <a:gd name="csX8" fmla="*/ 441961 w 876352"/>
                <a:gd name="csY8" fmla="*/ 0 h 816263"/>
                <a:gd name="csX9" fmla="*/ 247280 w 876352"/>
                <a:gd name="csY9" fmla="*/ 226133 h 816263"/>
                <a:gd name="csX10" fmla="*/ 220610 w 876352"/>
                <a:gd name="csY10" fmla="*/ 177508 h 816263"/>
                <a:gd name="csX11" fmla="*/ 160678 w 876352"/>
                <a:gd name="csY11" fmla="*/ 153581 h 816263"/>
                <a:gd name="csX12" fmla="*/ 95623 w 876352"/>
                <a:gd name="csY12" fmla="*/ 139198 h 816263"/>
                <a:gd name="csX13" fmla="*/ 33053 w 876352"/>
                <a:gd name="csY13" fmla="*/ 95231 h 816263"/>
                <a:gd name="csX14" fmla="*/ 20373 w 876352"/>
                <a:gd name="csY14" fmla="*/ 90684 h 816263"/>
                <a:gd name="csX15" fmla="*/ 16099 w 876352"/>
                <a:gd name="csY15" fmla="*/ 94698 h 816263"/>
                <a:gd name="csX16" fmla="*/ 9945 w 876352"/>
                <a:gd name="csY16" fmla="*/ 200025 h 816263"/>
                <a:gd name="csX17" fmla="*/ 55903 w 876352"/>
                <a:gd name="csY17" fmla="*/ 233363 h 816263"/>
                <a:gd name="csX18" fmla="*/ 55916 w 876352"/>
                <a:gd name="csY18" fmla="*/ 233483 h 816263"/>
                <a:gd name="csX19" fmla="*/ 55903 w 876352"/>
                <a:gd name="csY19" fmla="*/ 233496 h 816263"/>
                <a:gd name="csX20" fmla="*/ 48836 w 876352"/>
                <a:gd name="csY20" fmla="*/ 272234 h 816263"/>
                <a:gd name="csX21" fmla="*/ 103824 w 876352"/>
                <a:gd name="csY21" fmla="*/ 311468 h 816263"/>
                <a:gd name="csX22" fmla="*/ 103905 w 876352"/>
                <a:gd name="csY22" fmla="*/ 311558 h 816263"/>
                <a:gd name="csX23" fmla="*/ 103890 w 876352"/>
                <a:gd name="csY23" fmla="*/ 311601 h 816263"/>
                <a:gd name="csX24" fmla="*/ 100566 w 876352"/>
                <a:gd name="csY24" fmla="*/ 324802 h 816263"/>
                <a:gd name="csX25" fmla="*/ 110463 w 876352"/>
                <a:gd name="csY25" fmla="*/ 344434 h 816263"/>
                <a:gd name="csX26" fmla="*/ 171966 w 876352"/>
                <a:gd name="csY26" fmla="*/ 354578 h 816263"/>
                <a:gd name="csX27" fmla="*/ 193092 w 876352"/>
                <a:gd name="csY27" fmla="*/ 377590 h 816263"/>
                <a:gd name="csX28" fmla="*/ 195311 w 876352"/>
                <a:gd name="csY28" fmla="*/ 379143 h 816263"/>
                <a:gd name="csX29" fmla="*/ 138161 w 876352"/>
                <a:gd name="csY29" fmla="*/ 512759 h 816263"/>
                <a:gd name="csX30" fmla="*/ 80430 w 876352"/>
                <a:gd name="csY30" fmla="*/ 572519 h 816263"/>
                <a:gd name="csX31" fmla="*/ 353550 w 876352"/>
                <a:gd name="csY31" fmla="*/ 816264 h 816263"/>
                <a:gd name="csX32" fmla="*/ 475594 w 876352"/>
                <a:gd name="csY32" fmla="*/ 668807 h 816263"/>
                <a:gd name="csX33" fmla="*/ 508103 w 876352"/>
                <a:gd name="csY33" fmla="*/ 556860 h 816263"/>
                <a:gd name="csX34" fmla="*/ 513056 w 876352"/>
                <a:gd name="csY34" fmla="*/ 556755 h 816263"/>
                <a:gd name="csX35" fmla="*/ 515618 w 876352"/>
                <a:gd name="csY35" fmla="*/ 555879 h 816263"/>
                <a:gd name="csX36" fmla="*/ 563148 w 876352"/>
                <a:gd name="csY36" fmla="*/ 614667 h 816263"/>
                <a:gd name="csX37" fmla="*/ 588180 w 876352"/>
                <a:gd name="csY37" fmla="*/ 614667 h 816263"/>
                <a:gd name="csX38" fmla="*/ 600295 w 876352"/>
                <a:gd name="csY38" fmla="*/ 601942 h 816263"/>
                <a:gd name="csX39" fmla="*/ 600393 w 876352"/>
                <a:gd name="csY39" fmla="*/ 601897 h 816263"/>
                <a:gd name="csX40" fmla="*/ 600438 w 876352"/>
                <a:gd name="csY40" fmla="*/ 601942 h 816263"/>
                <a:gd name="csX41" fmla="*/ 671142 w 876352"/>
                <a:gd name="csY41" fmla="*/ 646557 h 816263"/>
                <a:gd name="csX42" fmla="*/ 677715 w 876352"/>
                <a:gd name="csY42" fmla="*/ 646205 h 816263"/>
                <a:gd name="csX43" fmla="*/ 702899 w 876352"/>
                <a:gd name="csY43" fmla="*/ 632727 h 816263"/>
                <a:gd name="csX44" fmla="*/ 712967 w 876352"/>
                <a:gd name="csY44" fmla="*/ 608705 h 816263"/>
                <a:gd name="csX45" fmla="*/ 713100 w 876352"/>
                <a:gd name="csY45" fmla="*/ 608648 h 816263"/>
                <a:gd name="csX46" fmla="*/ 776051 w 876352"/>
                <a:gd name="csY46" fmla="*/ 638737 h 816263"/>
                <a:gd name="csX47" fmla="*/ 875015 w 876352"/>
                <a:gd name="csY47" fmla="*/ 570709 h 816263"/>
                <a:gd name="csX48" fmla="*/ 875568 w 876352"/>
                <a:gd name="csY48" fmla="*/ 561832 h 816263"/>
                <a:gd name="csX49" fmla="*/ 776889 w 876352"/>
                <a:gd name="csY49" fmla="*/ 619706 h 816263"/>
                <a:gd name="csX50" fmla="*/ 711252 w 876352"/>
                <a:gd name="csY50" fmla="*/ 581006 h 816263"/>
                <a:gd name="csX51" fmla="*/ 697789 w 876352"/>
                <a:gd name="csY51" fmla="*/ 580542 h 816263"/>
                <a:gd name="csX52" fmla="*/ 694821 w 876352"/>
                <a:gd name="csY52" fmla="*/ 588550 h 816263"/>
                <a:gd name="csX53" fmla="*/ 688002 w 876352"/>
                <a:gd name="csY53" fmla="*/ 620811 h 816263"/>
                <a:gd name="csX54" fmla="*/ 675619 w 876352"/>
                <a:gd name="csY54" fmla="*/ 627259 h 816263"/>
                <a:gd name="csX55" fmla="*/ 605639 w 876352"/>
                <a:gd name="csY55" fmla="*/ 574358 h 816263"/>
                <a:gd name="csX56" fmla="*/ 592690 w 876352"/>
                <a:gd name="csY56" fmla="*/ 570646 h 816263"/>
                <a:gd name="csX57" fmla="*/ 587856 w 876352"/>
                <a:gd name="csY57" fmla="*/ 577806 h 816263"/>
                <a:gd name="csX58" fmla="*/ 578959 w 876352"/>
                <a:gd name="csY58" fmla="*/ 597999 h 816263"/>
                <a:gd name="csX59" fmla="*/ 571225 w 876352"/>
                <a:gd name="csY59" fmla="*/ 597408 h 816263"/>
                <a:gd name="csX60" fmla="*/ 528648 w 876352"/>
                <a:gd name="csY60" fmla="*/ 539620 h 816263"/>
                <a:gd name="csX61" fmla="*/ 516009 w 876352"/>
                <a:gd name="csY61" fmla="*/ 535229 h 816263"/>
                <a:gd name="csX62" fmla="*/ 513151 w 876352"/>
                <a:gd name="csY62" fmla="*/ 536467 h 816263"/>
                <a:gd name="csX63" fmla="*/ 522152 w 876352"/>
                <a:gd name="csY63" fmla="*/ 502225 h 816263"/>
                <a:gd name="csX64" fmla="*/ 513881 w 876352"/>
                <a:gd name="csY64" fmla="*/ 487343 h 816263"/>
                <a:gd name="csX65" fmla="*/ 510513 w 876352"/>
                <a:gd name="csY65" fmla="*/ 486880 h 816263"/>
                <a:gd name="csX66" fmla="*/ 510513 w 876352"/>
                <a:gd name="csY66" fmla="*/ 486880 h 816263"/>
                <a:gd name="csX67" fmla="*/ 504798 w 876352"/>
                <a:gd name="csY67" fmla="*/ 493109 h 816263"/>
                <a:gd name="csX68" fmla="*/ 492339 w 876352"/>
                <a:gd name="csY68" fmla="*/ 541172 h 816263"/>
                <a:gd name="csX69" fmla="*/ 490339 w 876352"/>
                <a:gd name="csY69" fmla="*/ 549335 h 816263"/>
                <a:gd name="csX70" fmla="*/ 489805 w 876352"/>
                <a:gd name="csY70" fmla="*/ 551478 h 816263"/>
                <a:gd name="csX71" fmla="*/ 457620 w 876352"/>
                <a:gd name="csY71" fmla="*/ 662521 h 816263"/>
                <a:gd name="csX72" fmla="*/ 356846 w 876352"/>
                <a:gd name="csY72" fmla="*/ 793661 h 816263"/>
                <a:gd name="csX73" fmla="*/ 110558 w 876352"/>
                <a:gd name="csY73" fmla="*/ 573776 h 816263"/>
                <a:gd name="csX74" fmla="*/ 154573 w 876352"/>
                <a:gd name="csY74" fmla="*/ 522522 h 816263"/>
                <a:gd name="csX75" fmla="*/ 215142 w 876352"/>
                <a:gd name="csY75" fmla="*/ 378695 h 816263"/>
                <a:gd name="csX76" fmla="*/ 212018 w 876352"/>
                <a:gd name="csY76" fmla="*/ 368941 h 816263"/>
                <a:gd name="csX77" fmla="*/ 200474 w 876352"/>
                <a:gd name="csY77" fmla="*/ 359340 h 816263"/>
                <a:gd name="csX78" fmla="*/ 193368 w 876352"/>
                <a:gd name="csY78" fmla="*/ 352006 h 816263"/>
                <a:gd name="csX79" fmla="*/ 192482 w 876352"/>
                <a:gd name="csY79" fmla="*/ 350872 h 816263"/>
                <a:gd name="csX80" fmla="*/ 185958 w 876352"/>
                <a:gd name="csY80" fmla="*/ 340195 h 816263"/>
                <a:gd name="csX81" fmla="*/ 175337 w 876352"/>
                <a:gd name="csY81" fmla="*/ 334670 h 816263"/>
                <a:gd name="csX82" fmla="*/ 122645 w 876352"/>
                <a:gd name="csY82" fmla="*/ 329689 h 816263"/>
                <a:gd name="csX83" fmla="*/ 119664 w 876352"/>
                <a:gd name="csY83" fmla="*/ 324650 h 816263"/>
                <a:gd name="csX84" fmla="*/ 129189 w 876352"/>
                <a:gd name="csY84" fmla="*/ 310620 h 816263"/>
                <a:gd name="csX85" fmla="*/ 130362 w 876352"/>
                <a:gd name="csY85" fmla="*/ 297201 h 816263"/>
                <a:gd name="csX86" fmla="*/ 123055 w 876352"/>
                <a:gd name="csY86" fmla="*/ 293799 h 816263"/>
                <a:gd name="csX87" fmla="*/ 123007 w 876352"/>
                <a:gd name="csY87" fmla="*/ 293799 h 816263"/>
                <a:gd name="csX88" fmla="*/ 67105 w 876352"/>
                <a:gd name="csY88" fmla="*/ 266490 h 816263"/>
                <a:gd name="csX89" fmla="*/ 79487 w 876352"/>
                <a:gd name="csY89" fmla="*/ 237658 h 816263"/>
                <a:gd name="csX90" fmla="*/ 83289 w 876352"/>
                <a:gd name="csY90" fmla="*/ 224736 h 816263"/>
                <a:gd name="csX91" fmla="*/ 77039 w 876352"/>
                <a:gd name="csY91" fmla="*/ 220008 h 816263"/>
                <a:gd name="csX92" fmla="*/ 26262 w 876352"/>
                <a:gd name="csY92" fmla="*/ 190157 h 816263"/>
                <a:gd name="csX93" fmla="*/ 25976 w 876352"/>
                <a:gd name="csY93" fmla="*/ 119358 h 816263"/>
                <a:gd name="csX94" fmla="*/ 26107 w 876352"/>
                <a:gd name="csY94" fmla="*/ 119327 h 816263"/>
                <a:gd name="csX95" fmla="*/ 26138 w 876352"/>
                <a:gd name="csY95" fmla="*/ 119358 h 816263"/>
                <a:gd name="csX96" fmla="*/ 89546 w 876352"/>
                <a:gd name="csY96" fmla="*/ 157258 h 816263"/>
                <a:gd name="csX97" fmla="*/ 158126 w 876352"/>
                <a:gd name="csY97" fmla="*/ 172498 h 816263"/>
                <a:gd name="csX98" fmla="*/ 207256 w 876352"/>
                <a:gd name="csY98" fmla="*/ 191167 h 816263"/>
                <a:gd name="csX99" fmla="*/ 232487 w 876352"/>
                <a:gd name="csY99" fmla="*/ 256127 h 816263"/>
                <a:gd name="csX100" fmla="*/ 233164 w 876352"/>
                <a:gd name="csY100" fmla="*/ 259337 h 816263"/>
                <a:gd name="csX101" fmla="*/ 207827 w 876352"/>
                <a:gd name="csY101" fmla="*/ 332680 h 816263"/>
                <a:gd name="csX102" fmla="*/ 215030 w 876352"/>
                <a:gd name="csY102" fmla="*/ 344063 h 816263"/>
                <a:gd name="csX103" fmla="*/ 226096 w 876352"/>
                <a:gd name="csY103" fmla="*/ 337957 h 816263"/>
                <a:gd name="csX104" fmla="*/ 256205 w 876352"/>
                <a:gd name="csY104" fmla="*/ 253022 h 816263"/>
                <a:gd name="csX105" fmla="*/ 441304 w 876352"/>
                <a:gd name="csY105" fmla="*/ 23060 h 816263"/>
                <a:gd name="csX106" fmla="*/ 709909 w 876352"/>
                <a:gd name="csY106" fmla="*/ 218275 h 816263"/>
                <a:gd name="csX107" fmla="*/ 551956 w 876352"/>
                <a:gd name="csY107" fmla="*/ 387106 h 816263"/>
                <a:gd name="csX108" fmla="*/ 526562 w 876352"/>
                <a:gd name="csY108" fmla="*/ 434731 h 816263"/>
                <a:gd name="csX109" fmla="*/ 518257 w 876352"/>
                <a:gd name="csY109" fmla="*/ 453952 h 816263"/>
                <a:gd name="csX110" fmla="*/ 520920 w 876352"/>
                <a:gd name="csY110" fmla="*/ 460619 h 816263"/>
                <a:gd name="csX111" fmla="*/ 524924 w 876352"/>
                <a:gd name="csY111" fmla="*/ 460619 h 816263"/>
                <a:gd name="csX112" fmla="*/ 537668 w 876352"/>
                <a:gd name="csY112" fmla="*/ 455419 h 816263"/>
                <a:gd name="csX113" fmla="*/ 539450 w 876352"/>
                <a:gd name="csY113" fmla="*/ 454409 h 816263"/>
                <a:gd name="csX114" fmla="*/ 655255 w 876352"/>
                <a:gd name="csY114" fmla="*/ 417833 h 816263"/>
                <a:gd name="csX115" fmla="*/ 708166 w 876352"/>
                <a:gd name="csY115" fmla="*/ 461562 h 816263"/>
                <a:gd name="csX116" fmla="*/ 768526 w 876352"/>
                <a:gd name="csY116" fmla="*/ 527199 h 816263"/>
                <a:gd name="csX117" fmla="*/ 849908 w 876352"/>
                <a:gd name="csY117" fmla="*/ 574529 h 816263"/>
                <a:gd name="csX118" fmla="*/ 849987 w 876352"/>
                <a:gd name="csY118" fmla="*/ 574638 h 816263"/>
                <a:gd name="csX119" fmla="*/ 849974 w 876352"/>
                <a:gd name="csY119" fmla="*/ 574672 h 816263"/>
                <a:gd name="csX120" fmla="*/ 776879 w 876352"/>
                <a:gd name="csY120" fmla="*/ 619706 h 8162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Lst>
              <a:rect l="l" t="t" r="r" b="b"/>
              <a:pathLst>
                <a:path w="876352" h="816263">
                  <a:moveTo>
                    <a:pt x="875568" y="561832"/>
                  </a:moveTo>
                  <a:cubicBezTo>
                    <a:pt x="873944" y="558185"/>
                    <a:pt x="870218" y="555937"/>
                    <a:pt x="866233" y="556203"/>
                  </a:cubicBezTo>
                  <a:cubicBezTo>
                    <a:pt x="834963" y="558260"/>
                    <a:pt x="807055" y="535943"/>
                    <a:pt x="781156" y="512883"/>
                  </a:cubicBezTo>
                  <a:cubicBezTo>
                    <a:pt x="759800" y="493773"/>
                    <a:pt x="740362" y="472623"/>
                    <a:pt x="723120" y="449732"/>
                  </a:cubicBezTo>
                  <a:cubicBezTo>
                    <a:pt x="704556" y="426025"/>
                    <a:pt x="691135" y="408899"/>
                    <a:pt x="660846" y="399545"/>
                  </a:cubicBezTo>
                  <a:cubicBezTo>
                    <a:pt x="624013" y="388115"/>
                    <a:pt x="584141" y="403793"/>
                    <a:pt x="554299" y="421453"/>
                  </a:cubicBezTo>
                  <a:cubicBezTo>
                    <a:pt x="558462" y="413556"/>
                    <a:pt x="563053" y="405451"/>
                    <a:pt x="568215" y="397021"/>
                  </a:cubicBezTo>
                  <a:cubicBezTo>
                    <a:pt x="624803" y="304629"/>
                    <a:pt x="741513" y="217656"/>
                    <a:pt x="741513" y="217656"/>
                  </a:cubicBezTo>
                  <a:lnTo>
                    <a:pt x="441961" y="0"/>
                  </a:lnTo>
                  <a:cubicBezTo>
                    <a:pt x="357010" y="55475"/>
                    <a:pt x="289510" y="133879"/>
                    <a:pt x="247280" y="226133"/>
                  </a:cubicBezTo>
                  <a:cubicBezTo>
                    <a:pt x="242785" y="207876"/>
                    <a:pt x="233589" y="191112"/>
                    <a:pt x="220610" y="177508"/>
                  </a:cubicBezTo>
                  <a:cubicBezTo>
                    <a:pt x="201741" y="159048"/>
                    <a:pt x="183615" y="156639"/>
                    <a:pt x="160678" y="153581"/>
                  </a:cubicBezTo>
                  <a:cubicBezTo>
                    <a:pt x="138548" y="151084"/>
                    <a:pt x="116743" y="146263"/>
                    <a:pt x="95623" y="139198"/>
                  </a:cubicBezTo>
                  <a:cubicBezTo>
                    <a:pt x="74277" y="132007"/>
                    <a:pt x="44569" y="119624"/>
                    <a:pt x="33053" y="95231"/>
                  </a:cubicBezTo>
                  <a:cubicBezTo>
                    <a:pt x="30807" y="90474"/>
                    <a:pt x="25131" y="88438"/>
                    <a:pt x="20373" y="90684"/>
                  </a:cubicBezTo>
                  <a:cubicBezTo>
                    <a:pt x="18562" y="91538"/>
                    <a:pt x="17066" y="92943"/>
                    <a:pt x="16099" y="94698"/>
                  </a:cubicBezTo>
                  <a:cubicBezTo>
                    <a:pt x="-342" y="124511"/>
                    <a:pt x="-7123" y="172079"/>
                    <a:pt x="9945" y="200025"/>
                  </a:cubicBezTo>
                  <a:cubicBezTo>
                    <a:pt x="21332" y="215739"/>
                    <a:pt x="37430" y="227417"/>
                    <a:pt x="55903" y="233363"/>
                  </a:cubicBezTo>
                  <a:cubicBezTo>
                    <a:pt x="55940" y="233392"/>
                    <a:pt x="55946" y="233446"/>
                    <a:pt x="55916" y="233483"/>
                  </a:cubicBezTo>
                  <a:cubicBezTo>
                    <a:pt x="55912" y="233488"/>
                    <a:pt x="55908" y="233492"/>
                    <a:pt x="55903" y="233496"/>
                  </a:cubicBezTo>
                  <a:cubicBezTo>
                    <a:pt x="47078" y="244351"/>
                    <a:pt x="44412" y="258962"/>
                    <a:pt x="48836" y="272234"/>
                  </a:cubicBezTo>
                  <a:cubicBezTo>
                    <a:pt x="54199" y="289379"/>
                    <a:pt x="72934" y="306524"/>
                    <a:pt x="103824" y="311468"/>
                  </a:cubicBezTo>
                  <a:cubicBezTo>
                    <a:pt x="103871" y="311470"/>
                    <a:pt x="103908" y="311510"/>
                    <a:pt x="103905" y="311558"/>
                  </a:cubicBezTo>
                  <a:cubicBezTo>
                    <a:pt x="103904" y="311573"/>
                    <a:pt x="103899" y="311588"/>
                    <a:pt x="103890" y="311601"/>
                  </a:cubicBezTo>
                  <a:cubicBezTo>
                    <a:pt x="101740" y="315671"/>
                    <a:pt x="100600" y="320199"/>
                    <a:pt x="100566" y="324802"/>
                  </a:cubicBezTo>
                  <a:cubicBezTo>
                    <a:pt x="100670" y="332521"/>
                    <a:pt x="104320" y="339761"/>
                    <a:pt x="110463" y="344434"/>
                  </a:cubicBezTo>
                  <a:cubicBezTo>
                    <a:pt x="127608" y="358654"/>
                    <a:pt x="157926" y="356521"/>
                    <a:pt x="171966" y="354578"/>
                  </a:cubicBezTo>
                  <a:cubicBezTo>
                    <a:pt x="177146" y="363769"/>
                    <a:pt x="184376" y="371644"/>
                    <a:pt x="193092" y="377590"/>
                  </a:cubicBezTo>
                  <a:lnTo>
                    <a:pt x="195311" y="379143"/>
                  </a:lnTo>
                  <a:cubicBezTo>
                    <a:pt x="183839" y="426554"/>
                    <a:pt x="164523" y="471716"/>
                    <a:pt x="138161" y="512759"/>
                  </a:cubicBezTo>
                  <a:cubicBezTo>
                    <a:pt x="123541" y="536678"/>
                    <a:pt x="103829" y="557081"/>
                    <a:pt x="80430" y="572519"/>
                  </a:cubicBezTo>
                  <a:lnTo>
                    <a:pt x="353550" y="816264"/>
                  </a:lnTo>
                  <a:cubicBezTo>
                    <a:pt x="353550" y="816264"/>
                    <a:pt x="434151" y="786917"/>
                    <a:pt x="475594" y="668807"/>
                  </a:cubicBezTo>
                  <a:cubicBezTo>
                    <a:pt x="488452" y="632109"/>
                    <a:pt x="499304" y="594737"/>
                    <a:pt x="508103" y="556860"/>
                  </a:cubicBezTo>
                  <a:cubicBezTo>
                    <a:pt x="509734" y="557273"/>
                    <a:pt x="511444" y="557236"/>
                    <a:pt x="513056" y="556755"/>
                  </a:cubicBezTo>
                  <a:lnTo>
                    <a:pt x="515618" y="555879"/>
                  </a:lnTo>
                  <a:cubicBezTo>
                    <a:pt x="524162" y="571843"/>
                    <a:pt x="544098" y="605752"/>
                    <a:pt x="563148" y="614667"/>
                  </a:cubicBezTo>
                  <a:cubicBezTo>
                    <a:pt x="570965" y="618862"/>
                    <a:pt x="580362" y="618862"/>
                    <a:pt x="588180" y="614667"/>
                  </a:cubicBezTo>
                  <a:cubicBezTo>
                    <a:pt x="593349" y="611667"/>
                    <a:pt x="597552" y="607252"/>
                    <a:pt x="600295" y="601942"/>
                  </a:cubicBezTo>
                  <a:cubicBezTo>
                    <a:pt x="600310" y="601903"/>
                    <a:pt x="600353" y="601882"/>
                    <a:pt x="600393" y="601897"/>
                  </a:cubicBezTo>
                  <a:cubicBezTo>
                    <a:pt x="600414" y="601905"/>
                    <a:pt x="600431" y="601921"/>
                    <a:pt x="600438" y="601942"/>
                  </a:cubicBezTo>
                  <a:cubicBezTo>
                    <a:pt x="626546" y="639042"/>
                    <a:pt x="653569" y="646557"/>
                    <a:pt x="671142" y="646557"/>
                  </a:cubicBezTo>
                  <a:cubicBezTo>
                    <a:pt x="673338" y="646559"/>
                    <a:pt x="675531" y="646442"/>
                    <a:pt x="677715" y="646205"/>
                  </a:cubicBezTo>
                  <a:cubicBezTo>
                    <a:pt x="687591" y="645316"/>
                    <a:pt x="696682" y="640451"/>
                    <a:pt x="702899" y="632727"/>
                  </a:cubicBezTo>
                  <a:cubicBezTo>
                    <a:pt x="708212" y="625688"/>
                    <a:pt x="711674" y="617429"/>
                    <a:pt x="712967" y="608705"/>
                  </a:cubicBezTo>
                  <a:cubicBezTo>
                    <a:pt x="712967" y="608619"/>
                    <a:pt x="713043" y="608590"/>
                    <a:pt x="713100" y="608648"/>
                  </a:cubicBezTo>
                  <a:cubicBezTo>
                    <a:pt x="728264" y="621316"/>
                    <a:pt x="752305" y="637718"/>
                    <a:pt x="776051" y="638737"/>
                  </a:cubicBezTo>
                  <a:cubicBezTo>
                    <a:pt x="815103" y="640642"/>
                    <a:pt x="856061" y="605228"/>
                    <a:pt x="875015" y="570709"/>
                  </a:cubicBezTo>
                  <a:cubicBezTo>
                    <a:pt x="876577" y="568000"/>
                    <a:pt x="876782" y="564714"/>
                    <a:pt x="875568" y="561832"/>
                  </a:cubicBezTo>
                  <a:close/>
                  <a:moveTo>
                    <a:pt x="776889" y="619706"/>
                  </a:moveTo>
                  <a:cubicBezTo>
                    <a:pt x="746495" y="618411"/>
                    <a:pt x="711595" y="581377"/>
                    <a:pt x="711252" y="581006"/>
                  </a:cubicBezTo>
                  <a:cubicBezTo>
                    <a:pt x="707663" y="577161"/>
                    <a:pt x="701636" y="576953"/>
                    <a:pt x="697789" y="580542"/>
                  </a:cubicBezTo>
                  <a:cubicBezTo>
                    <a:pt x="695592" y="582594"/>
                    <a:pt x="694492" y="585562"/>
                    <a:pt x="694821" y="588550"/>
                  </a:cubicBezTo>
                  <a:cubicBezTo>
                    <a:pt x="696039" y="599755"/>
                    <a:pt x="693650" y="611056"/>
                    <a:pt x="688002" y="620811"/>
                  </a:cubicBezTo>
                  <a:cubicBezTo>
                    <a:pt x="684955" y="624595"/>
                    <a:pt x="680466" y="626934"/>
                    <a:pt x="675619" y="627259"/>
                  </a:cubicBezTo>
                  <a:cubicBezTo>
                    <a:pt x="650854" y="629945"/>
                    <a:pt x="626013" y="611181"/>
                    <a:pt x="605639" y="574358"/>
                  </a:cubicBezTo>
                  <a:cubicBezTo>
                    <a:pt x="603088" y="569757"/>
                    <a:pt x="597291" y="568095"/>
                    <a:pt x="592690" y="570646"/>
                  </a:cubicBezTo>
                  <a:cubicBezTo>
                    <a:pt x="590026" y="572122"/>
                    <a:pt x="588230" y="574783"/>
                    <a:pt x="587856" y="577806"/>
                  </a:cubicBezTo>
                  <a:cubicBezTo>
                    <a:pt x="586360" y="589883"/>
                    <a:pt x="582284" y="596160"/>
                    <a:pt x="578959" y="597999"/>
                  </a:cubicBezTo>
                  <a:cubicBezTo>
                    <a:pt x="578216" y="598399"/>
                    <a:pt x="575978" y="599637"/>
                    <a:pt x="571225" y="597408"/>
                  </a:cubicBezTo>
                  <a:cubicBezTo>
                    <a:pt x="557890" y="591160"/>
                    <a:pt x="538011" y="558651"/>
                    <a:pt x="528648" y="539620"/>
                  </a:cubicBezTo>
                  <a:cubicBezTo>
                    <a:pt x="526345" y="534945"/>
                    <a:pt x="520714" y="532989"/>
                    <a:pt x="516009" y="535229"/>
                  </a:cubicBezTo>
                  <a:cubicBezTo>
                    <a:pt x="516009" y="535229"/>
                    <a:pt x="514885" y="535743"/>
                    <a:pt x="513151" y="536467"/>
                  </a:cubicBezTo>
                  <a:cubicBezTo>
                    <a:pt x="516009" y="524723"/>
                    <a:pt x="518942" y="513398"/>
                    <a:pt x="522152" y="502225"/>
                  </a:cubicBezTo>
                  <a:cubicBezTo>
                    <a:pt x="523977" y="495831"/>
                    <a:pt x="520274" y="489168"/>
                    <a:pt x="513881" y="487343"/>
                  </a:cubicBezTo>
                  <a:cubicBezTo>
                    <a:pt x="512785" y="487029"/>
                    <a:pt x="511652" y="486874"/>
                    <a:pt x="510513" y="486880"/>
                  </a:cubicBezTo>
                  <a:lnTo>
                    <a:pt x="510513" y="486880"/>
                  </a:lnTo>
                  <a:cubicBezTo>
                    <a:pt x="507751" y="487968"/>
                    <a:pt x="505644" y="490265"/>
                    <a:pt x="504798" y="493109"/>
                  </a:cubicBezTo>
                  <a:cubicBezTo>
                    <a:pt x="500283" y="508673"/>
                    <a:pt x="496473" y="524418"/>
                    <a:pt x="492339" y="541172"/>
                  </a:cubicBezTo>
                  <a:lnTo>
                    <a:pt x="490339" y="549335"/>
                  </a:lnTo>
                  <a:lnTo>
                    <a:pt x="489805" y="551478"/>
                  </a:lnTo>
                  <a:cubicBezTo>
                    <a:pt x="481110" y="589052"/>
                    <a:pt x="470366" y="626121"/>
                    <a:pt x="457620" y="662521"/>
                  </a:cubicBezTo>
                  <a:cubicBezTo>
                    <a:pt x="427893" y="747141"/>
                    <a:pt x="377963" y="782155"/>
                    <a:pt x="356846" y="793661"/>
                  </a:cubicBezTo>
                  <a:lnTo>
                    <a:pt x="110558" y="573776"/>
                  </a:lnTo>
                  <a:cubicBezTo>
                    <a:pt x="127915" y="559196"/>
                    <a:pt x="142782" y="541884"/>
                    <a:pt x="154573" y="522522"/>
                  </a:cubicBezTo>
                  <a:cubicBezTo>
                    <a:pt x="182702" y="478325"/>
                    <a:pt x="203179" y="429700"/>
                    <a:pt x="215142" y="378695"/>
                  </a:cubicBezTo>
                  <a:cubicBezTo>
                    <a:pt x="216064" y="375114"/>
                    <a:pt x="214849" y="371321"/>
                    <a:pt x="212018" y="368941"/>
                  </a:cubicBezTo>
                  <a:lnTo>
                    <a:pt x="200474" y="359340"/>
                  </a:lnTo>
                  <a:cubicBezTo>
                    <a:pt x="197832" y="357177"/>
                    <a:pt x="195447" y="354716"/>
                    <a:pt x="193368" y="352006"/>
                  </a:cubicBezTo>
                  <a:lnTo>
                    <a:pt x="192482" y="350872"/>
                  </a:lnTo>
                  <a:cubicBezTo>
                    <a:pt x="189973" y="347529"/>
                    <a:pt x="187789" y="343953"/>
                    <a:pt x="185958" y="340195"/>
                  </a:cubicBezTo>
                  <a:cubicBezTo>
                    <a:pt x="184161" y="336081"/>
                    <a:pt x="179737" y="333779"/>
                    <a:pt x="175337" y="334670"/>
                  </a:cubicBezTo>
                  <a:cubicBezTo>
                    <a:pt x="165612" y="336652"/>
                    <a:pt x="135066" y="339976"/>
                    <a:pt x="122645" y="329689"/>
                  </a:cubicBezTo>
                  <a:cubicBezTo>
                    <a:pt x="119683" y="327250"/>
                    <a:pt x="119673" y="325364"/>
                    <a:pt x="119664" y="324650"/>
                  </a:cubicBezTo>
                  <a:cubicBezTo>
                    <a:pt x="120842" y="318890"/>
                    <a:pt x="124270" y="313840"/>
                    <a:pt x="129189" y="310620"/>
                  </a:cubicBezTo>
                  <a:cubicBezTo>
                    <a:pt x="133219" y="307238"/>
                    <a:pt x="133744" y="301230"/>
                    <a:pt x="130362" y="297201"/>
                  </a:cubicBezTo>
                  <a:cubicBezTo>
                    <a:pt x="128550" y="295041"/>
                    <a:pt x="125874" y="293796"/>
                    <a:pt x="123055" y="293799"/>
                  </a:cubicBezTo>
                  <a:lnTo>
                    <a:pt x="123007" y="293799"/>
                  </a:lnTo>
                  <a:cubicBezTo>
                    <a:pt x="85441" y="293741"/>
                    <a:pt x="70096" y="276015"/>
                    <a:pt x="67105" y="266490"/>
                  </a:cubicBezTo>
                  <a:cubicBezTo>
                    <a:pt x="63922" y="255162"/>
                    <a:pt x="69081" y="243150"/>
                    <a:pt x="79487" y="237658"/>
                  </a:cubicBezTo>
                  <a:cubicBezTo>
                    <a:pt x="84106" y="235140"/>
                    <a:pt x="85807" y="229353"/>
                    <a:pt x="83289" y="224736"/>
                  </a:cubicBezTo>
                  <a:cubicBezTo>
                    <a:pt x="81980" y="222336"/>
                    <a:pt x="79705" y="220614"/>
                    <a:pt x="77039" y="220008"/>
                  </a:cubicBezTo>
                  <a:cubicBezTo>
                    <a:pt x="66429" y="217580"/>
                    <a:pt x="36634" y="207502"/>
                    <a:pt x="26262" y="190157"/>
                  </a:cubicBezTo>
                  <a:cubicBezTo>
                    <a:pt x="15784" y="173012"/>
                    <a:pt x="17689" y="143170"/>
                    <a:pt x="25976" y="119358"/>
                  </a:cubicBezTo>
                  <a:cubicBezTo>
                    <a:pt x="26004" y="119313"/>
                    <a:pt x="26062" y="119300"/>
                    <a:pt x="26107" y="119327"/>
                  </a:cubicBezTo>
                  <a:cubicBezTo>
                    <a:pt x="26120" y="119335"/>
                    <a:pt x="26130" y="119345"/>
                    <a:pt x="26138" y="119358"/>
                  </a:cubicBezTo>
                  <a:cubicBezTo>
                    <a:pt x="43216" y="139675"/>
                    <a:pt x="69600" y="150533"/>
                    <a:pt x="89546" y="157258"/>
                  </a:cubicBezTo>
                  <a:cubicBezTo>
                    <a:pt x="111805" y="164739"/>
                    <a:pt x="134792" y="169847"/>
                    <a:pt x="158126" y="172498"/>
                  </a:cubicBezTo>
                  <a:cubicBezTo>
                    <a:pt x="179824" y="175355"/>
                    <a:pt x="192921" y="177136"/>
                    <a:pt x="207256" y="191167"/>
                  </a:cubicBezTo>
                  <a:cubicBezTo>
                    <a:pt x="223341" y="208999"/>
                    <a:pt x="232319" y="232114"/>
                    <a:pt x="232487" y="256127"/>
                  </a:cubicBezTo>
                  <a:cubicBezTo>
                    <a:pt x="232531" y="257227"/>
                    <a:pt x="232760" y="258313"/>
                    <a:pt x="233164" y="259337"/>
                  </a:cubicBezTo>
                  <a:cubicBezTo>
                    <a:pt x="221810" y="287979"/>
                    <a:pt x="213895" y="311991"/>
                    <a:pt x="207827" y="332680"/>
                  </a:cubicBezTo>
                  <a:cubicBezTo>
                    <a:pt x="206673" y="337812"/>
                    <a:pt x="209898" y="342909"/>
                    <a:pt x="215030" y="344063"/>
                  </a:cubicBezTo>
                  <a:cubicBezTo>
                    <a:pt x="219733" y="345120"/>
                    <a:pt x="224484" y="342499"/>
                    <a:pt x="226096" y="337957"/>
                  </a:cubicBezTo>
                  <a:cubicBezTo>
                    <a:pt x="234566" y="309114"/>
                    <a:pt x="244618" y="280760"/>
                    <a:pt x="256205" y="253022"/>
                  </a:cubicBezTo>
                  <a:cubicBezTo>
                    <a:pt x="295020" y="160468"/>
                    <a:pt x="359181" y="80756"/>
                    <a:pt x="441304" y="23060"/>
                  </a:cubicBezTo>
                  <a:lnTo>
                    <a:pt x="709909" y="218275"/>
                  </a:lnTo>
                  <a:cubicBezTo>
                    <a:pt x="673257" y="247993"/>
                    <a:pt x="595952" y="315306"/>
                    <a:pt x="551956" y="387106"/>
                  </a:cubicBezTo>
                  <a:cubicBezTo>
                    <a:pt x="542513" y="402439"/>
                    <a:pt x="534032" y="418345"/>
                    <a:pt x="526562" y="434731"/>
                  </a:cubicBezTo>
                  <a:cubicBezTo>
                    <a:pt x="523505" y="441255"/>
                    <a:pt x="520762" y="447646"/>
                    <a:pt x="518257" y="453952"/>
                  </a:cubicBezTo>
                  <a:cubicBezTo>
                    <a:pt x="517151" y="456529"/>
                    <a:pt x="518343" y="459514"/>
                    <a:pt x="520920" y="460619"/>
                  </a:cubicBezTo>
                  <a:cubicBezTo>
                    <a:pt x="522198" y="461168"/>
                    <a:pt x="523646" y="461168"/>
                    <a:pt x="524924" y="460619"/>
                  </a:cubicBezTo>
                  <a:lnTo>
                    <a:pt x="537668" y="455419"/>
                  </a:lnTo>
                  <a:lnTo>
                    <a:pt x="539450" y="454409"/>
                  </a:lnTo>
                  <a:cubicBezTo>
                    <a:pt x="565339" y="434959"/>
                    <a:pt x="614059" y="405079"/>
                    <a:pt x="655255" y="417833"/>
                  </a:cubicBezTo>
                  <a:cubicBezTo>
                    <a:pt x="679858" y="425453"/>
                    <a:pt x="690497" y="439036"/>
                    <a:pt x="708166" y="461562"/>
                  </a:cubicBezTo>
                  <a:cubicBezTo>
                    <a:pt x="726099" y="485356"/>
                    <a:pt x="746315" y="507340"/>
                    <a:pt x="768526" y="527199"/>
                  </a:cubicBezTo>
                  <a:cubicBezTo>
                    <a:pt x="791872" y="547983"/>
                    <a:pt x="818827" y="569786"/>
                    <a:pt x="849908" y="574529"/>
                  </a:cubicBezTo>
                  <a:cubicBezTo>
                    <a:pt x="849960" y="574538"/>
                    <a:pt x="849995" y="574586"/>
                    <a:pt x="849987" y="574638"/>
                  </a:cubicBezTo>
                  <a:cubicBezTo>
                    <a:pt x="849985" y="574650"/>
                    <a:pt x="849980" y="574661"/>
                    <a:pt x="849974" y="574672"/>
                  </a:cubicBezTo>
                  <a:cubicBezTo>
                    <a:pt x="831753" y="599475"/>
                    <a:pt x="802664" y="621059"/>
                    <a:pt x="776879" y="619706"/>
                  </a:cubicBezTo>
                  <a:close/>
                </a:path>
              </a:pathLst>
            </a:custGeom>
            <a:grpFill/>
            <a:ln w="9525" cap="flat">
              <a:solidFill>
                <a:schemeClr val="accent3">
                  <a:lumMod val="50000"/>
                </a:schemeClr>
              </a:solidFill>
              <a:prstDash val="solid"/>
              <a:miter/>
            </a:ln>
          </p:spPr>
          <p:txBody>
            <a:bodyPr/>
            <a:lstStyle/>
            <a:p>
              <a:endParaRPr lang="en-US"/>
            </a:p>
          </p:txBody>
        </p:sp>
      </p:grpSp>
      <p:grpSp>
        <p:nvGrpSpPr>
          <p:cNvPr id="31" name="Graphic 19" descr="Flying Money outline">
            <a:extLst>
              <a:ext uri="{FF2B5EF4-FFF2-40B4-BE49-F238E27FC236}">
                <a16:creationId xmlns:a16="http://schemas.microsoft.com/office/drawing/2014/main" id="{C72D6966-F3BC-A344-0206-0B02F8A7DD5D}"/>
              </a:ext>
            </a:extLst>
          </p:cNvPr>
          <p:cNvGrpSpPr/>
          <p:nvPr/>
        </p:nvGrpSpPr>
        <p:grpSpPr>
          <a:xfrm>
            <a:off x="11151487" y="3051630"/>
            <a:ext cx="876352" cy="816263"/>
            <a:chOff x="4742277" y="4551845"/>
            <a:chExt cx="876352" cy="816263"/>
          </a:xfrm>
          <a:solidFill>
            <a:srgbClr val="000000"/>
          </a:solidFill>
        </p:grpSpPr>
        <p:sp>
          <p:nvSpPr>
            <p:cNvPr id="32" name="Freeform 31">
              <a:extLst>
                <a:ext uri="{FF2B5EF4-FFF2-40B4-BE49-F238E27FC236}">
                  <a16:creationId xmlns:a16="http://schemas.microsoft.com/office/drawing/2014/main" id="{6AB4DE2B-83D9-D32F-1F4E-53735D5FB7E9}"/>
                </a:ext>
              </a:extLst>
            </p:cNvPr>
            <p:cNvSpPr/>
            <p:nvPr/>
          </p:nvSpPr>
          <p:spPr>
            <a:xfrm>
              <a:off x="5045295" y="4863370"/>
              <a:ext cx="148372" cy="144607"/>
            </a:xfrm>
            <a:custGeom>
              <a:avLst/>
              <a:gdLst>
                <a:gd name="csX0" fmla="*/ 116302 w 148372"/>
                <a:gd name="csY0" fmla="*/ 23374 h 144607"/>
                <a:gd name="csX1" fmla="*/ 57761 w 148372"/>
                <a:gd name="csY1" fmla="*/ 28 h 144607"/>
                <a:gd name="csX2" fmla="*/ 13136 w 148372"/>
                <a:gd name="csY2" fmla="*/ 19078 h 144607"/>
                <a:gd name="csX3" fmla="*/ 32043 w 148372"/>
                <a:gd name="csY3" fmla="*/ 121205 h 144607"/>
                <a:gd name="csX4" fmla="*/ 90584 w 148372"/>
                <a:gd name="csY4" fmla="*/ 144580 h 144607"/>
                <a:gd name="csX5" fmla="*/ 135209 w 148372"/>
                <a:gd name="csY5" fmla="*/ 125530 h 144607"/>
                <a:gd name="csX6" fmla="*/ 116302 w 148372"/>
                <a:gd name="csY6" fmla="*/ 23374 h 144607"/>
                <a:gd name="csX7" fmla="*/ 120778 w 148372"/>
                <a:gd name="csY7" fmla="*/ 113061 h 144607"/>
                <a:gd name="csX8" fmla="*/ 90584 w 148372"/>
                <a:gd name="csY8" fmla="*/ 125530 h 144607"/>
                <a:gd name="csX9" fmla="*/ 44559 w 148372"/>
                <a:gd name="csY9" fmla="*/ 106870 h 144607"/>
                <a:gd name="csX10" fmla="*/ 27567 w 148372"/>
                <a:gd name="csY10" fmla="*/ 31546 h 144607"/>
                <a:gd name="csX11" fmla="*/ 57761 w 148372"/>
                <a:gd name="csY11" fmla="*/ 19078 h 144607"/>
                <a:gd name="csX12" fmla="*/ 103786 w 148372"/>
                <a:gd name="csY12" fmla="*/ 37728 h 144607"/>
                <a:gd name="csX13" fmla="*/ 120816 w 148372"/>
                <a:gd name="csY13" fmla="*/ 113061 h 1446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8372" h="144607">
                  <a:moveTo>
                    <a:pt x="116302" y="23374"/>
                  </a:moveTo>
                  <a:cubicBezTo>
                    <a:pt x="100207" y="8843"/>
                    <a:pt x="79438" y="560"/>
                    <a:pt x="57761" y="28"/>
                  </a:cubicBezTo>
                  <a:cubicBezTo>
                    <a:pt x="40806" y="-502"/>
                    <a:pt x="24481" y="6467"/>
                    <a:pt x="13136" y="19078"/>
                  </a:cubicBezTo>
                  <a:cubicBezTo>
                    <a:pt x="-10124" y="46082"/>
                    <a:pt x="-1685" y="91811"/>
                    <a:pt x="32043" y="121205"/>
                  </a:cubicBezTo>
                  <a:cubicBezTo>
                    <a:pt x="48133" y="135747"/>
                    <a:pt x="68903" y="144041"/>
                    <a:pt x="90584" y="144580"/>
                  </a:cubicBezTo>
                  <a:cubicBezTo>
                    <a:pt x="107539" y="145110"/>
                    <a:pt x="123864" y="138141"/>
                    <a:pt x="135209" y="125530"/>
                  </a:cubicBezTo>
                  <a:cubicBezTo>
                    <a:pt x="158507" y="98498"/>
                    <a:pt x="150068" y="52768"/>
                    <a:pt x="116302" y="23374"/>
                  </a:cubicBezTo>
                  <a:close/>
                  <a:moveTo>
                    <a:pt x="120778" y="113061"/>
                  </a:moveTo>
                  <a:cubicBezTo>
                    <a:pt x="113034" y="121451"/>
                    <a:pt x="101992" y="126011"/>
                    <a:pt x="90584" y="125530"/>
                  </a:cubicBezTo>
                  <a:cubicBezTo>
                    <a:pt x="73516" y="124959"/>
                    <a:pt x="57206" y="118347"/>
                    <a:pt x="44559" y="106870"/>
                  </a:cubicBezTo>
                  <a:cubicBezTo>
                    <a:pt x="19204" y="84782"/>
                    <a:pt x="11422" y="50282"/>
                    <a:pt x="27567" y="31546"/>
                  </a:cubicBezTo>
                  <a:cubicBezTo>
                    <a:pt x="35311" y="23157"/>
                    <a:pt x="46353" y="18597"/>
                    <a:pt x="57761" y="19078"/>
                  </a:cubicBezTo>
                  <a:cubicBezTo>
                    <a:pt x="74827" y="19649"/>
                    <a:pt x="91137" y="26258"/>
                    <a:pt x="103786" y="37728"/>
                  </a:cubicBezTo>
                  <a:cubicBezTo>
                    <a:pt x="129179" y="59826"/>
                    <a:pt x="136961" y="94326"/>
                    <a:pt x="120816" y="113061"/>
                  </a:cubicBezTo>
                  <a:close/>
                </a:path>
              </a:pathLst>
            </a:custGeom>
            <a:grpFill/>
            <a:ln w="9525" cap="flat">
              <a:solidFill>
                <a:schemeClr val="accent3">
                  <a:lumMod val="50000"/>
                </a:schemeClr>
              </a:solidFill>
              <a:prstDash val="solid"/>
              <a:miter/>
            </a:ln>
          </p:spPr>
          <p:txBody>
            <a:bodyPr/>
            <a:lstStyle/>
            <a:p>
              <a:endParaRPr lang="en-US"/>
            </a:p>
          </p:txBody>
        </p:sp>
        <p:sp>
          <p:nvSpPr>
            <p:cNvPr id="33" name="Freeform 32">
              <a:extLst>
                <a:ext uri="{FF2B5EF4-FFF2-40B4-BE49-F238E27FC236}">
                  <a16:creationId xmlns:a16="http://schemas.microsoft.com/office/drawing/2014/main" id="{4EDB15D2-2094-BF65-0B55-37F81CD596F5}"/>
                </a:ext>
              </a:extLst>
            </p:cNvPr>
            <p:cNvSpPr/>
            <p:nvPr/>
          </p:nvSpPr>
          <p:spPr>
            <a:xfrm>
              <a:off x="5184625" y="4738278"/>
              <a:ext cx="65374" cy="63415"/>
            </a:xfrm>
            <a:custGeom>
              <a:avLst/>
              <a:gdLst>
                <a:gd name="csX0" fmla="*/ 50019 w 65374"/>
                <a:gd name="csY0" fmla="*/ 7076 h 63415"/>
                <a:gd name="csX1" fmla="*/ 28617 w 65374"/>
                <a:gd name="csY1" fmla="*/ 9 h 63415"/>
                <a:gd name="csX2" fmla="*/ 4671 w 65374"/>
                <a:gd name="csY2" fmla="*/ 11744 h 63415"/>
                <a:gd name="csX3" fmla="*/ 15339 w 65374"/>
                <a:gd name="csY3" fmla="*/ 56349 h 63415"/>
                <a:gd name="csX4" fmla="*/ 36742 w 65374"/>
                <a:gd name="csY4" fmla="*/ 63407 h 63415"/>
                <a:gd name="csX5" fmla="*/ 60687 w 65374"/>
                <a:gd name="csY5" fmla="*/ 51672 h 63415"/>
                <a:gd name="csX6" fmla="*/ 50019 w 65374"/>
                <a:gd name="csY6" fmla="*/ 7076 h 63415"/>
                <a:gd name="csX7" fmla="*/ 45162 w 65374"/>
                <a:gd name="csY7" fmla="*/ 40633 h 63415"/>
                <a:gd name="csX8" fmla="*/ 36742 w 65374"/>
                <a:gd name="csY8" fmla="*/ 44357 h 63415"/>
                <a:gd name="csX9" fmla="*/ 26435 w 65374"/>
                <a:gd name="csY9" fmla="*/ 40861 h 63415"/>
                <a:gd name="csX10" fmla="*/ 20187 w 65374"/>
                <a:gd name="csY10" fmla="*/ 22764 h 63415"/>
                <a:gd name="csX11" fmla="*/ 28617 w 65374"/>
                <a:gd name="csY11" fmla="*/ 19040 h 63415"/>
                <a:gd name="csX12" fmla="*/ 38923 w 65374"/>
                <a:gd name="csY12" fmla="*/ 22545 h 63415"/>
                <a:gd name="csX13" fmla="*/ 45162 w 65374"/>
                <a:gd name="csY13" fmla="*/ 40585 h 634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5374" h="63415">
                  <a:moveTo>
                    <a:pt x="50019" y="7076"/>
                  </a:moveTo>
                  <a:cubicBezTo>
                    <a:pt x="43797" y="2545"/>
                    <a:pt x="36314" y="74"/>
                    <a:pt x="28617" y="9"/>
                  </a:cubicBezTo>
                  <a:cubicBezTo>
                    <a:pt x="19197" y="-223"/>
                    <a:pt x="10259" y="4158"/>
                    <a:pt x="4671" y="11744"/>
                  </a:cubicBezTo>
                  <a:cubicBezTo>
                    <a:pt x="-4501" y="27038"/>
                    <a:pt x="240" y="46859"/>
                    <a:pt x="15339" y="56349"/>
                  </a:cubicBezTo>
                  <a:cubicBezTo>
                    <a:pt x="21564" y="60873"/>
                    <a:pt x="29046" y="63340"/>
                    <a:pt x="36742" y="63407"/>
                  </a:cubicBezTo>
                  <a:cubicBezTo>
                    <a:pt x="46161" y="63640"/>
                    <a:pt x="55100" y="59259"/>
                    <a:pt x="60687" y="51672"/>
                  </a:cubicBezTo>
                  <a:cubicBezTo>
                    <a:pt x="69886" y="36385"/>
                    <a:pt x="65139" y="16547"/>
                    <a:pt x="50019" y="7076"/>
                  </a:cubicBezTo>
                  <a:close/>
                  <a:moveTo>
                    <a:pt x="45162" y="40633"/>
                  </a:moveTo>
                  <a:cubicBezTo>
                    <a:pt x="43092" y="43123"/>
                    <a:pt x="39976" y="44501"/>
                    <a:pt x="36742" y="44357"/>
                  </a:cubicBezTo>
                  <a:cubicBezTo>
                    <a:pt x="33027" y="44287"/>
                    <a:pt x="29426" y="43066"/>
                    <a:pt x="26435" y="40861"/>
                  </a:cubicBezTo>
                  <a:cubicBezTo>
                    <a:pt x="20021" y="37323"/>
                    <a:pt x="17322" y="29507"/>
                    <a:pt x="20187" y="22764"/>
                  </a:cubicBezTo>
                  <a:cubicBezTo>
                    <a:pt x="22261" y="20274"/>
                    <a:pt x="25379" y="18896"/>
                    <a:pt x="28617" y="19040"/>
                  </a:cubicBezTo>
                  <a:cubicBezTo>
                    <a:pt x="32331" y="19115"/>
                    <a:pt x="35932" y="20340"/>
                    <a:pt x="38923" y="22545"/>
                  </a:cubicBezTo>
                  <a:cubicBezTo>
                    <a:pt x="45666" y="27336"/>
                    <a:pt x="48581" y="35785"/>
                    <a:pt x="45162" y="40585"/>
                  </a:cubicBezTo>
                  <a:close/>
                </a:path>
              </a:pathLst>
            </a:custGeom>
            <a:grpFill/>
            <a:ln w="9525" cap="flat">
              <a:solidFill>
                <a:schemeClr val="accent3">
                  <a:lumMod val="50000"/>
                </a:schemeClr>
              </a:solidFill>
              <a:prstDash val="solid"/>
              <a:miter/>
            </a:ln>
          </p:spPr>
          <p:txBody>
            <a:bodyPr/>
            <a:lstStyle/>
            <a:p>
              <a:endParaRPr lang="en-US"/>
            </a:p>
          </p:txBody>
        </p:sp>
        <p:sp>
          <p:nvSpPr>
            <p:cNvPr id="34" name="Freeform 33">
              <a:extLst>
                <a:ext uri="{FF2B5EF4-FFF2-40B4-BE49-F238E27FC236}">
                  <a16:creationId xmlns:a16="http://schemas.microsoft.com/office/drawing/2014/main" id="{AA5A27C7-6EF9-E376-04E0-07E98346643F}"/>
                </a:ext>
              </a:extLst>
            </p:cNvPr>
            <p:cNvSpPr/>
            <p:nvPr/>
          </p:nvSpPr>
          <p:spPr>
            <a:xfrm>
              <a:off x="5029681" y="5085905"/>
              <a:ext cx="65021" cy="63878"/>
            </a:xfrm>
            <a:custGeom>
              <a:avLst/>
              <a:gdLst>
                <a:gd name="csX0" fmla="*/ 51287 w 65021"/>
                <a:gd name="csY0" fmla="*/ 8398 h 63878"/>
                <a:gd name="csX1" fmla="*/ 28294 w 65021"/>
                <a:gd name="csY1" fmla="*/ 7 h 63878"/>
                <a:gd name="csX2" fmla="*/ 5739 w 65021"/>
                <a:gd name="csY2" fmla="*/ 10398 h 63878"/>
                <a:gd name="csX3" fmla="*/ 13749 w 65021"/>
                <a:gd name="csY3" fmla="*/ 55480 h 63878"/>
                <a:gd name="csX4" fmla="*/ 36742 w 65021"/>
                <a:gd name="csY4" fmla="*/ 63872 h 63878"/>
                <a:gd name="csX5" fmla="*/ 59288 w 65021"/>
                <a:gd name="csY5" fmla="*/ 53480 h 63878"/>
                <a:gd name="csX6" fmla="*/ 51287 w 65021"/>
                <a:gd name="csY6" fmla="*/ 8398 h 63878"/>
                <a:gd name="csX7" fmla="*/ 44381 w 65021"/>
                <a:gd name="csY7" fmla="*/ 41621 h 63878"/>
                <a:gd name="csX8" fmla="*/ 36761 w 65021"/>
                <a:gd name="csY8" fmla="*/ 44822 h 63878"/>
                <a:gd name="csX9" fmla="*/ 25731 w 65021"/>
                <a:gd name="csY9" fmla="*/ 40650 h 63878"/>
                <a:gd name="csX10" fmla="*/ 20674 w 65021"/>
                <a:gd name="csY10" fmla="*/ 22257 h 63878"/>
                <a:gd name="csX11" fmla="*/ 28294 w 65021"/>
                <a:gd name="csY11" fmla="*/ 19057 h 63878"/>
                <a:gd name="csX12" fmla="*/ 39267 w 65021"/>
                <a:gd name="csY12" fmla="*/ 23181 h 63878"/>
                <a:gd name="csX13" fmla="*/ 44381 w 65021"/>
                <a:gd name="csY13" fmla="*/ 41621 h 638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5021" h="63878">
                  <a:moveTo>
                    <a:pt x="51287" y="8398"/>
                  </a:moveTo>
                  <a:cubicBezTo>
                    <a:pt x="44802" y="3062"/>
                    <a:pt x="36691" y="102"/>
                    <a:pt x="28294" y="7"/>
                  </a:cubicBezTo>
                  <a:cubicBezTo>
                    <a:pt x="19577" y="-181"/>
                    <a:pt x="11259" y="3651"/>
                    <a:pt x="5739" y="10398"/>
                  </a:cubicBezTo>
                  <a:cubicBezTo>
                    <a:pt x="-4357" y="25091"/>
                    <a:pt x="-790" y="45166"/>
                    <a:pt x="13749" y="55480"/>
                  </a:cubicBezTo>
                  <a:cubicBezTo>
                    <a:pt x="20236" y="60812"/>
                    <a:pt x="28346" y="63773"/>
                    <a:pt x="36742" y="63872"/>
                  </a:cubicBezTo>
                  <a:cubicBezTo>
                    <a:pt x="45456" y="64060"/>
                    <a:pt x="53772" y="60227"/>
                    <a:pt x="59288" y="53480"/>
                  </a:cubicBezTo>
                  <a:cubicBezTo>
                    <a:pt x="69374" y="38788"/>
                    <a:pt x="65813" y="18722"/>
                    <a:pt x="51287" y="8398"/>
                  </a:cubicBezTo>
                  <a:close/>
                  <a:moveTo>
                    <a:pt x="44381" y="41621"/>
                  </a:moveTo>
                  <a:cubicBezTo>
                    <a:pt x="42446" y="43771"/>
                    <a:pt x="39651" y="44945"/>
                    <a:pt x="36761" y="44822"/>
                  </a:cubicBezTo>
                  <a:cubicBezTo>
                    <a:pt x="32718" y="44723"/>
                    <a:pt x="28828" y="43252"/>
                    <a:pt x="25731" y="40650"/>
                  </a:cubicBezTo>
                  <a:cubicBezTo>
                    <a:pt x="19600" y="36706"/>
                    <a:pt x="17421" y="28781"/>
                    <a:pt x="20674" y="22257"/>
                  </a:cubicBezTo>
                  <a:cubicBezTo>
                    <a:pt x="22608" y="20106"/>
                    <a:pt x="25403" y="18932"/>
                    <a:pt x="28294" y="19057"/>
                  </a:cubicBezTo>
                  <a:cubicBezTo>
                    <a:pt x="32313" y="19147"/>
                    <a:pt x="36182" y="20602"/>
                    <a:pt x="39267" y="23181"/>
                  </a:cubicBezTo>
                  <a:cubicBezTo>
                    <a:pt x="45490" y="27075"/>
                    <a:pt x="47709" y="35078"/>
                    <a:pt x="44381" y="41621"/>
                  </a:cubicBezTo>
                  <a:close/>
                </a:path>
              </a:pathLst>
            </a:custGeom>
            <a:grpFill/>
            <a:ln w="9525" cap="flat">
              <a:solidFill>
                <a:schemeClr val="accent3">
                  <a:lumMod val="50000"/>
                </a:schemeClr>
              </a:solidFill>
              <a:prstDash val="solid"/>
              <a:miter/>
            </a:ln>
          </p:spPr>
          <p:txBody>
            <a:bodyPr/>
            <a:lstStyle/>
            <a:p>
              <a:endParaRPr lang="en-US"/>
            </a:p>
          </p:txBody>
        </p:sp>
        <p:sp>
          <p:nvSpPr>
            <p:cNvPr id="35" name="Freeform 34">
              <a:extLst>
                <a:ext uri="{FF2B5EF4-FFF2-40B4-BE49-F238E27FC236}">
                  <a16:creationId xmlns:a16="http://schemas.microsoft.com/office/drawing/2014/main" id="{614F3EB9-9F88-BA01-C9C7-049D94694719}"/>
                </a:ext>
              </a:extLst>
            </p:cNvPr>
            <p:cNvSpPr/>
            <p:nvPr/>
          </p:nvSpPr>
          <p:spPr>
            <a:xfrm>
              <a:off x="4924253" y="4636160"/>
              <a:ext cx="436035" cy="648576"/>
            </a:xfrm>
            <a:custGeom>
              <a:avLst/>
              <a:gdLst>
                <a:gd name="csX0" fmla="*/ 432978 w 436035"/>
                <a:gd name="csY0" fmla="*/ 180880 h 648576"/>
                <a:gd name="csX1" fmla="*/ 436035 w 436035"/>
                <a:gd name="csY1" fmla="*/ 177813 h 648576"/>
                <a:gd name="csX2" fmla="*/ 430701 w 436035"/>
                <a:gd name="csY2" fmla="*/ 98717 h 648576"/>
                <a:gd name="csX3" fmla="*/ 294846 w 436035"/>
                <a:gd name="csY3" fmla="*/ 0 h 648576"/>
                <a:gd name="csX4" fmla="*/ 211217 w 436035"/>
                <a:gd name="csY4" fmla="*/ 15850 h 648576"/>
                <a:gd name="csX5" fmla="*/ 209131 w 436035"/>
                <a:gd name="csY5" fmla="*/ 17936 h 648576"/>
                <a:gd name="csX6" fmla="*/ 100470 w 436035"/>
                <a:gd name="csY6" fmla="*/ 179680 h 648576"/>
                <a:gd name="csX7" fmla="*/ 61932 w 436035"/>
                <a:gd name="csY7" fmla="*/ 297037 h 648576"/>
                <a:gd name="csX8" fmla="*/ 1572 w 436035"/>
                <a:gd name="csY8" fmla="*/ 445332 h 648576"/>
                <a:gd name="csX9" fmla="*/ 0 w 436035"/>
                <a:gd name="csY9" fmla="*/ 448018 h 648576"/>
                <a:gd name="csX10" fmla="*/ 7620 w 436035"/>
                <a:gd name="csY10" fmla="*/ 521970 h 648576"/>
                <a:gd name="csX11" fmla="*/ 149390 w 436035"/>
                <a:gd name="csY11" fmla="*/ 648576 h 648576"/>
                <a:gd name="csX12" fmla="*/ 216008 w 436035"/>
                <a:gd name="csY12" fmla="*/ 632974 h 648576"/>
                <a:gd name="csX13" fmla="*/ 218094 w 436035"/>
                <a:gd name="csY13" fmla="*/ 629945 h 648576"/>
                <a:gd name="csX14" fmla="*/ 248574 w 436035"/>
                <a:gd name="csY14" fmla="*/ 568900 h 648576"/>
                <a:gd name="csX15" fmla="*/ 280864 w 436035"/>
                <a:gd name="csY15" fmla="*/ 455962 h 648576"/>
                <a:gd name="csX16" fmla="*/ 345453 w 436035"/>
                <a:gd name="csY16" fmla="*/ 287760 h 648576"/>
                <a:gd name="csX17" fmla="*/ 432978 w 436035"/>
                <a:gd name="csY17" fmla="*/ 180880 h 648576"/>
                <a:gd name="csX18" fmla="*/ 262357 w 436035"/>
                <a:gd name="csY18" fmla="*/ 451514 h 648576"/>
                <a:gd name="csX19" fmla="*/ 230619 w 436035"/>
                <a:gd name="csY19" fmla="*/ 562585 h 648576"/>
                <a:gd name="csX20" fmla="*/ 230619 w 436035"/>
                <a:gd name="csY20" fmla="*/ 562585 h 648576"/>
                <a:gd name="csX21" fmla="*/ 204464 w 436035"/>
                <a:gd name="csY21" fmla="*/ 616106 h 648576"/>
                <a:gd name="csX22" fmla="*/ 154705 w 436035"/>
                <a:gd name="csY22" fmla="*/ 627755 h 648576"/>
                <a:gd name="csX23" fmla="*/ 25889 w 436035"/>
                <a:gd name="csY23" fmla="*/ 512674 h 648576"/>
                <a:gd name="csX24" fmla="*/ 19631 w 436035"/>
                <a:gd name="csY24" fmla="*/ 452247 h 648576"/>
                <a:gd name="csX25" fmla="*/ 80420 w 436035"/>
                <a:gd name="csY25" fmla="*/ 301752 h 648576"/>
                <a:gd name="csX26" fmla="*/ 118100 w 436035"/>
                <a:gd name="csY26" fmla="*/ 186976 h 648576"/>
                <a:gd name="csX27" fmla="*/ 220561 w 436035"/>
                <a:gd name="csY27" fmla="*/ 33423 h 648576"/>
                <a:gd name="csX28" fmla="*/ 290293 w 436035"/>
                <a:gd name="csY28" fmla="*/ 20250 h 648576"/>
                <a:gd name="csX29" fmla="*/ 412280 w 436035"/>
                <a:gd name="csY29" fmla="*/ 108899 h 648576"/>
                <a:gd name="csX30" fmla="*/ 416452 w 436035"/>
                <a:gd name="csY30" fmla="*/ 170478 h 648576"/>
                <a:gd name="csX31" fmla="*/ 329232 w 436035"/>
                <a:gd name="csY31" fmla="*/ 277787 h 648576"/>
                <a:gd name="csX32" fmla="*/ 262357 w 436035"/>
                <a:gd name="csY32" fmla="*/ 451514 h 648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436035" h="648576">
                  <a:moveTo>
                    <a:pt x="432978" y="180880"/>
                  </a:moveTo>
                  <a:lnTo>
                    <a:pt x="436035" y="177813"/>
                  </a:lnTo>
                  <a:lnTo>
                    <a:pt x="430701" y="98717"/>
                  </a:lnTo>
                  <a:lnTo>
                    <a:pt x="294846" y="0"/>
                  </a:lnTo>
                  <a:lnTo>
                    <a:pt x="211217" y="15850"/>
                  </a:lnTo>
                  <a:lnTo>
                    <a:pt x="209131" y="17936"/>
                  </a:lnTo>
                  <a:cubicBezTo>
                    <a:pt x="162659" y="64207"/>
                    <a:pt x="125740" y="119164"/>
                    <a:pt x="100470" y="179680"/>
                  </a:cubicBezTo>
                  <a:cubicBezTo>
                    <a:pt x="84450" y="217684"/>
                    <a:pt x="71560" y="256934"/>
                    <a:pt x="61932" y="297037"/>
                  </a:cubicBezTo>
                  <a:cubicBezTo>
                    <a:pt x="50154" y="349468"/>
                    <a:pt x="29757" y="399579"/>
                    <a:pt x="1572" y="445332"/>
                  </a:cubicBezTo>
                  <a:lnTo>
                    <a:pt x="0" y="448018"/>
                  </a:lnTo>
                  <a:lnTo>
                    <a:pt x="7620" y="521970"/>
                  </a:lnTo>
                  <a:lnTo>
                    <a:pt x="149390" y="648576"/>
                  </a:lnTo>
                  <a:lnTo>
                    <a:pt x="216008" y="632974"/>
                  </a:lnTo>
                  <a:lnTo>
                    <a:pt x="218094" y="629945"/>
                  </a:lnTo>
                  <a:cubicBezTo>
                    <a:pt x="230917" y="611039"/>
                    <a:pt x="241167" y="590511"/>
                    <a:pt x="248574" y="568900"/>
                  </a:cubicBezTo>
                  <a:cubicBezTo>
                    <a:pt x="261395" y="531872"/>
                    <a:pt x="272174" y="494170"/>
                    <a:pt x="280864" y="455962"/>
                  </a:cubicBezTo>
                  <a:cubicBezTo>
                    <a:pt x="294675" y="399764"/>
                    <a:pt x="306581" y="351187"/>
                    <a:pt x="345453" y="287760"/>
                  </a:cubicBezTo>
                  <a:cubicBezTo>
                    <a:pt x="370399" y="248870"/>
                    <a:pt x="399770" y="213004"/>
                    <a:pt x="432978" y="180880"/>
                  </a:cubicBezTo>
                  <a:close/>
                  <a:moveTo>
                    <a:pt x="262357" y="451514"/>
                  </a:moveTo>
                  <a:cubicBezTo>
                    <a:pt x="253813" y="489089"/>
                    <a:pt x="243218" y="526168"/>
                    <a:pt x="230619" y="562585"/>
                  </a:cubicBezTo>
                  <a:lnTo>
                    <a:pt x="230619" y="562585"/>
                  </a:lnTo>
                  <a:cubicBezTo>
                    <a:pt x="224149" y="581438"/>
                    <a:pt x="215363" y="599416"/>
                    <a:pt x="204464" y="616106"/>
                  </a:cubicBezTo>
                  <a:lnTo>
                    <a:pt x="154705" y="627755"/>
                  </a:lnTo>
                  <a:lnTo>
                    <a:pt x="25889" y="512674"/>
                  </a:lnTo>
                  <a:lnTo>
                    <a:pt x="19631" y="452247"/>
                  </a:lnTo>
                  <a:cubicBezTo>
                    <a:pt x="47964" y="405732"/>
                    <a:pt x="68497" y="354896"/>
                    <a:pt x="80420" y="301752"/>
                  </a:cubicBezTo>
                  <a:cubicBezTo>
                    <a:pt x="89839" y="262533"/>
                    <a:pt x="102440" y="224146"/>
                    <a:pt x="118100" y="186976"/>
                  </a:cubicBezTo>
                  <a:cubicBezTo>
                    <a:pt x="142019" y="129655"/>
                    <a:pt x="176813" y="77512"/>
                    <a:pt x="220561" y="33423"/>
                  </a:cubicBezTo>
                  <a:lnTo>
                    <a:pt x="290293" y="20250"/>
                  </a:lnTo>
                  <a:lnTo>
                    <a:pt x="412280" y="108899"/>
                  </a:lnTo>
                  <a:lnTo>
                    <a:pt x="416452" y="170478"/>
                  </a:lnTo>
                  <a:cubicBezTo>
                    <a:pt x="383397" y="202819"/>
                    <a:pt x="354135" y="238820"/>
                    <a:pt x="329232" y="277787"/>
                  </a:cubicBezTo>
                  <a:cubicBezTo>
                    <a:pt x="288836" y="343757"/>
                    <a:pt x="276577" y="393649"/>
                    <a:pt x="262357" y="451514"/>
                  </a:cubicBezTo>
                  <a:close/>
                </a:path>
              </a:pathLst>
            </a:custGeom>
            <a:grpFill/>
            <a:ln w="9525" cap="flat">
              <a:solidFill>
                <a:schemeClr val="accent3">
                  <a:lumMod val="50000"/>
                </a:schemeClr>
              </a:solidFill>
              <a:prstDash val="solid"/>
              <a:miter/>
            </a:ln>
          </p:spPr>
          <p:txBody>
            <a:bodyPr/>
            <a:lstStyle/>
            <a:p>
              <a:endParaRPr lang="en-US"/>
            </a:p>
          </p:txBody>
        </p:sp>
        <p:sp>
          <p:nvSpPr>
            <p:cNvPr id="36" name="Freeform 35">
              <a:extLst>
                <a:ext uri="{FF2B5EF4-FFF2-40B4-BE49-F238E27FC236}">
                  <a16:creationId xmlns:a16="http://schemas.microsoft.com/office/drawing/2014/main" id="{81D419A3-2988-3965-802F-F4EC761EF812}"/>
                </a:ext>
              </a:extLst>
            </p:cNvPr>
            <p:cNvSpPr/>
            <p:nvPr/>
          </p:nvSpPr>
          <p:spPr>
            <a:xfrm>
              <a:off x="4742277" y="4551845"/>
              <a:ext cx="876352" cy="816263"/>
            </a:xfrm>
            <a:custGeom>
              <a:avLst/>
              <a:gdLst>
                <a:gd name="csX0" fmla="*/ 875568 w 876352"/>
                <a:gd name="csY0" fmla="*/ 561832 h 816263"/>
                <a:gd name="csX1" fmla="*/ 866233 w 876352"/>
                <a:gd name="csY1" fmla="*/ 556203 h 816263"/>
                <a:gd name="csX2" fmla="*/ 781156 w 876352"/>
                <a:gd name="csY2" fmla="*/ 512883 h 816263"/>
                <a:gd name="csX3" fmla="*/ 723120 w 876352"/>
                <a:gd name="csY3" fmla="*/ 449732 h 816263"/>
                <a:gd name="csX4" fmla="*/ 660846 w 876352"/>
                <a:gd name="csY4" fmla="*/ 399545 h 816263"/>
                <a:gd name="csX5" fmla="*/ 554299 w 876352"/>
                <a:gd name="csY5" fmla="*/ 421453 h 816263"/>
                <a:gd name="csX6" fmla="*/ 568215 w 876352"/>
                <a:gd name="csY6" fmla="*/ 397021 h 816263"/>
                <a:gd name="csX7" fmla="*/ 741513 w 876352"/>
                <a:gd name="csY7" fmla="*/ 217656 h 816263"/>
                <a:gd name="csX8" fmla="*/ 441961 w 876352"/>
                <a:gd name="csY8" fmla="*/ 0 h 816263"/>
                <a:gd name="csX9" fmla="*/ 247280 w 876352"/>
                <a:gd name="csY9" fmla="*/ 226133 h 816263"/>
                <a:gd name="csX10" fmla="*/ 220610 w 876352"/>
                <a:gd name="csY10" fmla="*/ 177508 h 816263"/>
                <a:gd name="csX11" fmla="*/ 160678 w 876352"/>
                <a:gd name="csY11" fmla="*/ 153581 h 816263"/>
                <a:gd name="csX12" fmla="*/ 95623 w 876352"/>
                <a:gd name="csY12" fmla="*/ 139198 h 816263"/>
                <a:gd name="csX13" fmla="*/ 33053 w 876352"/>
                <a:gd name="csY13" fmla="*/ 95231 h 816263"/>
                <a:gd name="csX14" fmla="*/ 20373 w 876352"/>
                <a:gd name="csY14" fmla="*/ 90684 h 816263"/>
                <a:gd name="csX15" fmla="*/ 16099 w 876352"/>
                <a:gd name="csY15" fmla="*/ 94698 h 816263"/>
                <a:gd name="csX16" fmla="*/ 9945 w 876352"/>
                <a:gd name="csY16" fmla="*/ 200025 h 816263"/>
                <a:gd name="csX17" fmla="*/ 55903 w 876352"/>
                <a:gd name="csY17" fmla="*/ 233363 h 816263"/>
                <a:gd name="csX18" fmla="*/ 55916 w 876352"/>
                <a:gd name="csY18" fmla="*/ 233483 h 816263"/>
                <a:gd name="csX19" fmla="*/ 55903 w 876352"/>
                <a:gd name="csY19" fmla="*/ 233496 h 816263"/>
                <a:gd name="csX20" fmla="*/ 48836 w 876352"/>
                <a:gd name="csY20" fmla="*/ 272234 h 816263"/>
                <a:gd name="csX21" fmla="*/ 103824 w 876352"/>
                <a:gd name="csY21" fmla="*/ 311468 h 816263"/>
                <a:gd name="csX22" fmla="*/ 103905 w 876352"/>
                <a:gd name="csY22" fmla="*/ 311558 h 816263"/>
                <a:gd name="csX23" fmla="*/ 103890 w 876352"/>
                <a:gd name="csY23" fmla="*/ 311601 h 816263"/>
                <a:gd name="csX24" fmla="*/ 100566 w 876352"/>
                <a:gd name="csY24" fmla="*/ 324802 h 816263"/>
                <a:gd name="csX25" fmla="*/ 110463 w 876352"/>
                <a:gd name="csY25" fmla="*/ 344434 h 816263"/>
                <a:gd name="csX26" fmla="*/ 171966 w 876352"/>
                <a:gd name="csY26" fmla="*/ 354578 h 816263"/>
                <a:gd name="csX27" fmla="*/ 193092 w 876352"/>
                <a:gd name="csY27" fmla="*/ 377590 h 816263"/>
                <a:gd name="csX28" fmla="*/ 195311 w 876352"/>
                <a:gd name="csY28" fmla="*/ 379143 h 816263"/>
                <a:gd name="csX29" fmla="*/ 138161 w 876352"/>
                <a:gd name="csY29" fmla="*/ 512759 h 816263"/>
                <a:gd name="csX30" fmla="*/ 80430 w 876352"/>
                <a:gd name="csY30" fmla="*/ 572519 h 816263"/>
                <a:gd name="csX31" fmla="*/ 353550 w 876352"/>
                <a:gd name="csY31" fmla="*/ 816264 h 816263"/>
                <a:gd name="csX32" fmla="*/ 475594 w 876352"/>
                <a:gd name="csY32" fmla="*/ 668807 h 816263"/>
                <a:gd name="csX33" fmla="*/ 508103 w 876352"/>
                <a:gd name="csY33" fmla="*/ 556860 h 816263"/>
                <a:gd name="csX34" fmla="*/ 513056 w 876352"/>
                <a:gd name="csY34" fmla="*/ 556755 h 816263"/>
                <a:gd name="csX35" fmla="*/ 515618 w 876352"/>
                <a:gd name="csY35" fmla="*/ 555879 h 816263"/>
                <a:gd name="csX36" fmla="*/ 563148 w 876352"/>
                <a:gd name="csY36" fmla="*/ 614667 h 816263"/>
                <a:gd name="csX37" fmla="*/ 588180 w 876352"/>
                <a:gd name="csY37" fmla="*/ 614667 h 816263"/>
                <a:gd name="csX38" fmla="*/ 600295 w 876352"/>
                <a:gd name="csY38" fmla="*/ 601942 h 816263"/>
                <a:gd name="csX39" fmla="*/ 600393 w 876352"/>
                <a:gd name="csY39" fmla="*/ 601897 h 816263"/>
                <a:gd name="csX40" fmla="*/ 600438 w 876352"/>
                <a:gd name="csY40" fmla="*/ 601942 h 816263"/>
                <a:gd name="csX41" fmla="*/ 671142 w 876352"/>
                <a:gd name="csY41" fmla="*/ 646557 h 816263"/>
                <a:gd name="csX42" fmla="*/ 677715 w 876352"/>
                <a:gd name="csY42" fmla="*/ 646205 h 816263"/>
                <a:gd name="csX43" fmla="*/ 702899 w 876352"/>
                <a:gd name="csY43" fmla="*/ 632727 h 816263"/>
                <a:gd name="csX44" fmla="*/ 712967 w 876352"/>
                <a:gd name="csY44" fmla="*/ 608705 h 816263"/>
                <a:gd name="csX45" fmla="*/ 713100 w 876352"/>
                <a:gd name="csY45" fmla="*/ 608648 h 816263"/>
                <a:gd name="csX46" fmla="*/ 776051 w 876352"/>
                <a:gd name="csY46" fmla="*/ 638737 h 816263"/>
                <a:gd name="csX47" fmla="*/ 875015 w 876352"/>
                <a:gd name="csY47" fmla="*/ 570709 h 816263"/>
                <a:gd name="csX48" fmla="*/ 875568 w 876352"/>
                <a:gd name="csY48" fmla="*/ 561832 h 816263"/>
                <a:gd name="csX49" fmla="*/ 776889 w 876352"/>
                <a:gd name="csY49" fmla="*/ 619706 h 816263"/>
                <a:gd name="csX50" fmla="*/ 711252 w 876352"/>
                <a:gd name="csY50" fmla="*/ 581006 h 816263"/>
                <a:gd name="csX51" fmla="*/ 697789 w 876352"/>
                <a:gd name="csY51" fmla="*/ 580542 h 816263"/>
                <a:gd name="csX52" fmla="*/ 694821 w 876352"/>
                <a:gd name="csY52" fmla="*/ 588550 h 816263"/>
                <a:gd name="csX53" fmla="*/ 688002 w 876352"/>
                <a:gd name="csY53" fmla="*/ 620811 h 816263"/>
                <a:gd name="csX54" fmla="*/ 675619 w 876352"/>
                <a:gd name="csY54" fmla="*/ 627259 h 816263"/>
                <a:gd name="csX55" fmla="*/ 605639 w 876352"/>
                <a:gd name="csY55" fmla="*/ 574358 h 816263"/>
                <a:gd name="csX56" fmla="*/ 592690 w 876352"/>
                <a:gd name="csY56" fmla="*/ 570646 h 816263"/>
                <a:gd name="csX57" fmla="*/ 587856 w 876352"/>
                <a:gd name="csY57" fmla="*/ 577806 h 816263"/>
                <a:gd name="csX58" fmla="*/ 578959 w 876352"/>
                <a:gd name="csY58" fmla="*/ 597999 h 816263"/>
                <a:gd name="csX59" fmla="*/ 571225 w 876352"/>
                <a:gd name="csY59" fmla="*/ 597408 h 816263"/>
                <a:gd name="csX60" fmla="*/ 528648 w 876352"/>
                <a:gd name="csY60" fmla="*/ 539620 h 816263"/>
                <a:gd name="csX61" fmla="*/ 516009 w 876352"/>
                <a:gd name="csY61" fmla="*/ 535229 h 816263"/>
                <a:gd name="csX62" fmla="*/ 513151 w 876352"/>
                <a:gd name="csY62" fmla="*/ 536467 h 816263"/>
                <a:gd name="csX63" fmla="*/ 522152 w 876352"/>
                <a:gd name="csY63" fmla="*/ 502225 h 816263"/>
                <a:gd name="csX64" fmla="*/ 513881 w 876352"/>
                <a:gd name="csY64" fmla="*/ 487343 h 816263"/>
                <a:gd name="csX65" fmla="*/ 510513 w 876352"/>
                <a:gd name="csY65" fmla="*/ 486880 h 816263"/>
                <a:gd name="csX66" fmla="*/ 510513 w 876352"/>
                <a:gd name="csY66" fmla="*/ 486880 h 816263"/>
                <a:gd name="csX67" fmla="*/ 504798 w 876352"/>
                <a:gd name="csY67" fmla="*/ 493109 h 816263"/>
                <a:gd name="csX68" fmla="*/ 492339 w 876352"/>
                <a:gd name="csY68" fmla="*/ 541172 h 816263"/>
                <a:gd name="csX69" fmla="*/ 490339 w 876352"/>
                <a:gd name="csY69" fmla="*/ 549335 h 816263"/>
                <a:gd name="csX70" fmla="*/ 489805 w 876352"/>
                <a:gd name="csY70" fmla="*/ 551478 h 816263"/>
                <a:gd name="csX71" fmla="*/ 457620 w 876352"/>
                <a:gd name="csY71" fmla="*/ 662521 h 816263"/>
                <a:gd name="csX72" fmla="*/ 356846 w 876352"/>
                <a:gd name="csY72" fmla="*/ 793661 h 816263"/>
                <a:gd name="csX73" fmla="*/ 110558 w 876352"/>
                <a:gd name="csY73" fmla="*/ 573776 h 816263"/>
                <a:gd name="csX74" fmla="*/ 154573 w 876352"/>
                <a:gd name="csY74" fmla="*/ 522522 h 816263"/>
                <a:gd name="csX75" fmla="*/ 215142 w 876352"/>
                <a:gd name="csY75" fmla="*/ 378695 h 816263"/>
                <a:gd name="csX76" fmla="*/ 212018 w 876352"/>
                <a:gd name="csY76" fmla="*/ 368941 h 816263"/>
                <a:gd name="csX77" fmla="*/ 200474 w 876352"/>
                <a:gd name="csY77" fmla="*/ 359340 h 816263"/>
                <a:gd name="csX78" fmla="*/ 193368 w 876352"/>
                <a:gd name="csY78" fmla="*/ 352006 h 816263"/>
                <a:gd name="csX79" fmla="*/ 192482 w 876352"/>
                <a:gd name="csY79" fmla="*/ 350872 h 816263"/>
                <a:gd name="csX80" fmla="*/ 185958 w 876352"/>
                <a:gd name="csY80" fmla="*/ 340195 h 816263"/>
                <a:gd name="csX81" fmla="*/ 175337 w 876352"/>
                <a:gd name="csY81" fmla="*/ 334670 h 816263"/>
                <a:gd name="csX82" fmla="*/ 122645 w 876352"/>
                <a:gd name="csY82" fmla="*/ 329689 h 816263"/>
                <a:gd name="csX83" fmla="*/ 119664 w 876352"/>
                <a:gd name="csY83" fmla="*/ 324650 h 816263"/>
                <a:gd name="csX84" fmla="*/ 129189 w 876352"/>
                <a:gd name="csY84" fmla="*/ 310620 h 816263"/>
                <a:gd name="csX85" fmla="*/ 130362 w 876352"/>
                <a:gd name="csY85" fmla="*/ 297201 h 816263"/>
                <a:gd name="csX86" fmla="*/ 123055 w 876352"/>
                <a:gd name="csY86" fmla="*/ 293799 h 816263"/>
                <a:gd name="csX87" fmla="*/ 123007 w 876352"/>
                <a:gd name="csY87" fmla="*/ 293799 h 816263"/>
                <a:gd name="csX88" fmla="*/ 67105 w 876352"/>
                <a:gd name="csY88" fmla="*/ 266490 h 816263"/>
                <a:gd name="csX89" fmla="*/ 79487 w 876352"/>
                <a:gd name="csY89" fmla="*/ 237658 h 816263"/>
                <a:gd name="csX90" fmla="*/ 83289 w 876352"/>
                <a:gd name="csY90" fmla="*/ 224736 h 816263"/>
                <a:gd name="csX91" fmla="*/ 77039 w 876352"/>
                <a:gd name="csY91" fmla="*/ 220008 h 816263"/>
                <a:gd name="csX92" fmla="*/ 26262 w 876352"/>
                <a:gd name="csY92" fmla="*/ 190157 h 816263"/>
                <a:gd name="csX93" fmla="*/ 25976 w 876352"/>
                <a:gd name="csY93" fmla="*/ 119358 h 816263"/>
                <a:gd name="csX94" fmla="*/ 26107 w 876352"/>
                <a:gd name="csY94" fmla="*/ 119327 h 816263"/>
                <a:gd name="csX95" fmla="*/ 26138 w 876352"/>
                <a:gd name="csY95" fmla="*/ 119358 h 816263"/>
                <a:gd name="csX96" fmla="*/ 89546 w 876352"/>
                <a:gd name="csY96" fmla="*/ 157258 h 816263"/>
                <a:gd name="csX97" fmla="*/ 158126 w 876352"/>
                <a:gd name="csY97" fmla="*/ 172498 h 816263"/>
                <a:gd name="csX98" fmla="*/ 207256 w 876352"/>
                <a:gd name="csY98" fmla="*/ 191167 h 816263"/>
                <a:gd name="csX99" fmla="*/ 232487 w 876352"/>
                <a:gd name="csY99" fmla="*/ 256127 h 816263"/>
                <a:gd name="csX100" fmla="*/ 233164 w 876352"/>
                <a:gd name="csY100" fmla="*/ 259337 h 816263"/>
                <a:gd name="csX101" fmla="*/ 207827 w 876352"/>
                <a:gd name="csY101" fmla="*/ 332680 h 816263"/>
                <a:gd name="csX102" fmla="*/ 215030 w 876352"/>
                <a:gd name="csY102" fmla="*/ 344063 h 816263"/>
                <a:gd name="csX103" fmla="*/ 226096 w 876352"/>
                <a:gd name="csY103" fmla="*/ 337957 h 816263"/>
                <a:gd name="csX104" fmla="*/ 256205 w 876352"/>
                <a:gd name="csY104" fmla="*/ 253022 h 816263"/>
                <a:gd name="csX105" fmla="*/ 441304 w 876352"/>
                <a:gd name="csY105" fmla="*/ 23060 h 816263"/>
                <a:gd name="csX106" fmla="*/ 709909 w 876352"/>
                <a:gd name="csY106" fmla="*/ 218275 h 816263"/>
                <a:gd name="csX107" fmla="*/ 551956 w 876352"/>
                <a:gd name="csY107" fmla="*/ 387106 h 816263"/>
                <a:gd name="csX108" fmla="*/ 526562 w 876352"/>
                <a:gd name="csY108" fmla="*/ 434731 h 816263"/>
                <a:gd name="csX109" fmla="*/ 518257 w 876352"/>
                <a:gd name="csY109" fmla="*/ 453952 h 816263"/>
                <a:gd name="csX110" fmla="*/ 520920 w 876352"/>
                <a:gd name="csY110" fmla="*/ 460619 h 816263"/>
                <a:gd name="csX111" fmla="*/ 524924 w 876352"/>
                <a:gd name="csY111" fmla="*/ 460619 h 816263"/>
                <a:gd name="csX112" fmla="*/ 537668 w 876352"/>
                <a:gd name="csY112" fmla="*/ 455419 h 816263"/>
                <a:gd name="csX113" fmla="*/ 539450 w 876352"/>
                <a:gd name="csY113" fmla="*/ 454409 h 816263"/>
                <a:gd name="csX114" fmla="*/ 655255 w 876352"/>
                <a:gd name="csY114" fmla="*/ 417833 h 816263"/>
                <a:gd name="csX115" fmla="*/ 708166 w 876352"/>
                <a:gd name="csY115" fmla="*/ 461562 h 816263"/>
                <a:gd name="csX116" fmla="*/ 768526 w 876352"/>
                <a:gd name="csY116" fmla="*/ 527199 h 816263"/>
                <a:gd name="csX117" fmla="*/ 849908 w 876352"/>
                <a:gd name="csY117" fmla="*/ 574529 h 816263"/>
                <a:gd name="csX118" fmla="*/ 849987 w 876352"/>
                <a:gd name="csY118" fmla="*/ 574638 h 816263"/>
                <a:gd name="csX119" fmla="*/ 849974 w 876352"/>
                <a:gd name="csY119" fmla="*/ 574672 h 816263"/>
                <a:gd name="csX120" fmla="*/ 776879 w 876352"/>
                <a:gd name="csY120" fmla="*/ 619706 h 8162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Lst>
              <a:rect l="l" t="t" r="r" b="b"/>
              <a:pathLst>
                <a:path w="876352" h="816263">
                  <a:moveTo>
                    <a:pt x="875568" y="561832"/>
                  </a:moveTo>
                  <a:cubicBezTo>
                    <a:pt x="873944" y="558185"/>
                    <a:pt x="870218" y="555937"/>
                    <a:pt x="866233" y="556203"/>
                  </a:cubicBezTo>
                  <a:cubicBezTo>
                    <a:pt x="834963" y="558260"/>
                    <a:pt x="807055" y="535943"/>
                    <a:pt x="781156" y="512883"/>
                  </a:cubicBezTo>
                  <a:cubicBezTo>
                    <a:pt x="759800" y="493773"/>
                    <a:pt x="740362" y="472623"/>
                    <a:pt x="723120" y="449732"/>
                  </a:cubicBezTo>
                  <a:cubicBezTo>
                    <a:pt x="704556" y="426025"/>
                    <a:pt x="691135" y="408899"/>
                    <a:pt x="660846" y="399545"/>
                  </a:cubicBezTo>
                  <a:cubicBezTo>
                    <a:pt x="624013" y="388115"/>
                    <a:pt x="584141" y="403793"/>
                    <a:pt x="554299" y="421453"/>
                  </a:cubicBezTo>
                  <a:cubicBezTo>
                    <a:pt x="558462" y="413556"/>
                    <a:pt x="563053" y="405451"/>
                    <a:pt x="568215" y="397021"/>
                  </a:cubicBezTo>
                  <a:cubicBezTo>
                    <a:pt x="624803" y="304629"/>
                    <a:pt x="741513" y="217656"/>
                    <a:pt x="741513" y="217656"/>
                  </a:cubicBezTo>
                  <a:lnTo>
                    <a:pt x="441961" y="0"/>
                  </a:lnTo>
                  <a:cubicBezTo>
                    <a:pt x="357010" y="55475"/>
                    <a:pt x="289510" y="133879"/>
                    <a:pt x="247280" y="226133"/>
                  </a:cubicBezTo>
                  <a:cubicBezTo>
                    <a:pt x="242785" y="207876"/>
                    <a:pt x="233589" y="191112"/>
                    <a:pt x="220610" y="177508"/>
                  </a:cubicBezTo>
                  <a:cubicBezTo>
                    <a:pt x="201741" y="159048"/>
                    <a:pt x="183615" y="156639"/>
                    <a:pt x="160678" y="153581"/>
                  </a:cubicBezTo>
                  <a:cubicBezTo>
                    <a:pt x="138548" y="151084"/>
                    <a:pt x="116743" y="146263"/>
                    <a:pt x="95623" y="139198"/>
                  </a:cubicBezTo>
                  <a:cubicBezTo>
                    <a:pt x="74277" y="132007"/>
                    <a:pt x="44569" y="119624"/>
                    <a:pt x="33053" y="95231"/>
                  </a:cubicBezTo>
                  <a:cubicBezTo>
                    <a:pt x="30807" y="90474"/>
                    <a:pt x="25131" y="88438"/>
                    <a:pt x="20373" y="90684"/>
                  </a:cubicBezTo>
                  <a:cubicBezTo>
                    <a:pt x="18562" y="91538"/>
                    <a:pt x="17066" y="92943"/>
                    <a:pt x="16099" y="94698"/>
                  </a:cubicBezTo>
                  <a:cubicBezTo>
                    <a:pt x="-342" y="124511"/>
                    <a:pt x="-7123" y="172079"/>
                    <a:pt x="9945" y="200025"/>
                  </a:cubicBezTo>
                  <a:cubicBezTo>
                    <a:pt x="21332" y="215739"/>
                    <a:pt x="37430" y="227417"/>
                    <a:pt x="55903" y="233363"/>
                  </a:cubicBezTo>
                  <a:cubicBezTo>
                    <a:pt x="55940" y="233392"/>
                    <a:pt x="55946" y="233446"/>
                    <a:pt x="55916" y="233483"/>
                  </a:cubicBezTo>
                  <a:cubicBezTo>
                    <a:pt x="55912" y="233488"/>
                    <a:pt x="55908" y="233492"/>
                    <a:pt x="55903" y="233496"/>
                  </a:cubicBezTo>
                  <a:cubicBezTo>
                    <a:pt x="47078" y="244351"/>
                    <a:pt x="44412" y="258962"/>
                    <a:pt x="48836" y="272234"/>
                  </a:cubicBezTo>
                  <a:cubicBezTo>
                    <a:pt x="54199" y="289379"/>
                    <a:pt x="72934" y="306524"/>
                    <a:pt x="103824" y="311468"/>
                  </a:cubicBezTo>
                  <a:cubicBezTo>
                    <a:pt x="103871" y="311470"/>
                    <a:pt x="103908" y="311510"/>
                    <a:pt x="103905" y="311558"/>
                  </a:cubicBezTo>
                  <a:cubicBezTo>
                    <a:pt x="103904" y="311573"/>
                    <a:pt x="103899" y="311588"/>
                    <a:pt x="103890" y="311601"/>
                  </a:cubicBezTo>
                  <a:cubicBezTo>
                    <a:pt x="101740" y="315671"/>
                    <a:pt x="100600" y="320199"/>
                    <a:pt x="100566" y="324802"/>
                  </a:cubicBezTo>
                  <a:cubicBezTo>
                    <a:pt x="100670" y="332521"/>
                    <a:pt x="104320" y="339761"/>
                    <a:pt x="110463" y="344434"/>
                  </a:cubicBezTo>
                  <a:cubicBezTo>
                    <a:pt x="127608" y="358654"/>
                    <a:pt x="157926" y="356521"/>
                    <a:pt x="171966" y="354578"/>
                  </a:cubicBezTo>
                  <a:cubicBezTo>
                    <a:pt x="177146" y="363769"/>
                    <a:pt x="184376" y="371644"/>
                    <a:pt x="193092" y="377590"/>
                  </a:cubicBezTo>
                  <a:lnTo>
                    <a:pt x="195311" y="379143"/>
                  </a:lnTo>
                  <a:cubicBezTo>
                    <a:pt x="183839" y="426554"/>
                    <a:pt x="164523" y="471716"/>
                    <a:pt x="138161" y="512759"/>
                  </a:cubicBezTo>
                  <a:cubicBezTo>
                    <a:pt x="123541" y="536678"/>
                    <a:pt x="103829" y="557081"/>
                    <a:pt x="80430" y="572519"/>
                  </a:cubicBezTo>
                  <a:lnTo>
                    <a:pt x="353550" y="816264"/>
                  </a:lnTo>
                  <a:cubicBezTo>
                    <a:pt x="353550" y="816264"/>
                    <a:pt x="434151" y="786917"/>
                    <a:pt x="475594" y="668807"/>
                  </a:cubicBezTo>
                  <a:cubicBezTo>
                    <a:pt x="488452" y="632109"/>
                    <a:pt x="499304" y="594737"/>
                    <a:pt x="508103" y="556860"/>
                  </a:cubicBezTo>
                  <a:cubicBezTo>
                    <a:pt x="509734" y="557273"/>
                    <a:pt x="511444" y="557236"/>
                    <a:pt x="513056" y="556755"/>
                  </a:cubicBezTo>
                  <a:lnTo>
                    <a:pt x="515618" y="555879"/>
                  </a:lnTo>
                  <a:cubicBezTo>
                    <a:pt x="524162" y="571843"/>
                    <a:pt x="544098" y="605752"/>
                    <a:pt x="563148" y="614667"/>
                  </a:cubicBezTo>
                  <a:cubicBezTo>
                    <a:pt x="570965" y="618862"/>
                    <a:pt x="580362" y="618862"/>
                    <a:pt x="588180" y="614667"/>
                  </a:cubicBezTo>
                  <a:cubicBezTo>
                    <a:pt x="593349" y="611667"/>
                    <a:pt x="597552" y="607252"/>
                    <a:pt x="600295" y="601942"/>
                  </a:cubicBezTo>
                  <a:cubicBezTo>
                    <a:pt x="600310" y="601903"/>
                    <a:pt x="600353" y="601882"/>
                    <a:pt x="600393" y="601897"/>
                  </a:cubicBezTo>
                  <a:cubicBezTo>
                    <a:pt x="600414" y="601905"/>
                    <a:pt x="600431" y="601921"/>
                    <a:pt x="600438" y="601942"/>
                  </a:cubicBezTo>
                  <a:cubicBezTo>
                    <a:pt x="626546" y="639042"/>
                    <a:pt x="653569" y="646557"/>
                    <a:pt x="671142" y="646557"/>
                  </a:cubicBezTo>
                  <a:cubicBezTo>
                    <a:pt x="673338" y="646559"/>
                    <a:pt x="675531" y="646442"/>
                    <a:pt x="677715" y="646205"/>
                  </a:cubicBezTo>
                  <a:cubicBezTo>
                    <a:pt x="687591" y="645316"/>
                    <a:pt x="696682" y="640451"/>
                    <a:pt x="702899" y="632727"/>
                  </a:cubicBezTo>
                  <a:cubicBezTo>
                    <a:pt x="708212" y="625688"/>
                    <a:pt x="711674" y="617429"/>
                    <a:pt x="712967" y="608705"/>
                  </a:cubicBezTo>
                  <a:cubicBezTo>
                    <a:pt x="712967" y="608619"/>
                    <a:pt x="713043" y="608590"/>
                    <a:pt x="713100" y="608648"/>
                  </a:cubicBezTo>
                  <a:cubicBezTo>
                    <a:pt x="728264" y="621316"/>
                    <a:pt x="752305" y="637718"/>
                    <a:pt x="776051" y="638737"/>
                  </a:cubicBezTo>
                  <a:cubicBezTo>
                    <a:pt x="815103" y="640642"/>
                    <a:pt x="856061" y="605228"/>
                    <a:pt x="875015" y="570709"/>
                  </a:cubicBezTo>
                  <a:cubicBezTo>
                    <a:pt x="876577" y="568000"/>
                    <a:pt x="876782" y="564714"/>
                    <a:pt x="875568" y="561832"/>
                  </a:cubicBezTo>
                  <a:close/>
                  <a:moveTo>
                    <a:pt x="776889" y="619706"/>
                  </a:moveTo>
                  <a:cubicBezTo>
                    <a:pt x="746495" y="618411"/>
                    <a:pt x="711595" y="581377"/>
                    <a:pt x="711252" y="581006"/>
                  </a:cubicBezTo>
                  <a:cubicBezTo>
                    <a:pt x="707663" y="577161"/>
                    <a:pt x="701636" y="576953"/>
                    <a:pt x="697789" y="580542"/>
                  </a:cubicBezTo>
                  <a:cubicBezTo>
                    <a:pt x="695592" y="582594"/>
                    <a:pt x="694492" y="585562"/>
                    <a:pt x="694821" y="588550"/>
                  </a:cubicBezTo>
                  <a:cubicBezTo>
                    <a:pt x="696039" y="599755"/>
                    <a:pt x="693650" y="611056"/>
                    <a:pt x="688002" y="620811"/>
                  </a:cubicBezTo>
                  <a:cubicBezTo>
                    <a:pt x="684955" y="624595"/>
                    <a:pt x="680466" y="626934"/>
                    <a:pt x="675619" y="627259"/>
                  </a:cubicBezTo>
                  <a:cubicBezTo>
                    <a:pt x="650854" y="629945"/>
                    <a:pt x="626013" y="611181"/>
                    <a:pt x="605639" y="574358"/>
                  </a:cubicBezTo>
                  <a:cubicBezTo>
                    <a:pt x="603088" y="569757"/>
                    <a:pt x="597291" y="568095"/>
                    <a:pt x="592690" y="570646"/>
                  </a:cubicBezTo>
                  <a:cubicBezTo>
                    <a:pt x="590026" y="572122"/>
                    <a:pt x="588230" y="574783"/>
                    <a:pt x="587856" y="577806"/>
                  </a:cubicBezTo>
                  <a:cubicBezTo>
                    <a:pt x="586360" y="589883"/>
                    <a:pt x="582284" y="596160"/>
                    <a:pt x="578959" y="597999"/>
                  </a:cubicBezTo>
                  <a:cubicBezTo>
                    <a:pt x="578216" y="598399"/>
                    <a:pt x="575978" y="599637"/>
                    <a:pt x="571225" y="597408"/>
                  </a:cubicBezTo>
                  <a:cubicBezTo>
                    <a:pt x="557890" y="591160"/>
                    <a:pt x="538011" y="558651"/>
                    <a:pt x="528648" y="539620"/>
                  </a:cubicBezTo>
                  <a:cubicBezTo>
                    <a:pt x="526345" y="534945"/>
                    <a:pt x="520714" y="532989"/>
                    <a:pt x="516009" y="535229"/>
                  </a:cubicBezTo>
                  <a:cubicBezTo>
                    <a:pt x="516009" y="535229"/>
                    <a:pt x="514885" y="535743"/>
                    <a:pt x="513151" y="536467"/>
                  </a:cubicBezTo>
                  <a:cubicBezTo>
                    <a:pt x="516009" y="524723"/>
                    <a:pt x="518942" y="513398"/>
                    <a:pt x="522152" y="502225"/>
                  </a:cubicBezTo>
                  <a:cubicBezTo>
                    <a:pt x="523977" y="495831"/>
                    <a:pt x="520274" y="489168"/>
                    <a:pt x="513881" y="487343"/>
                  </a:cubicBezTo>
                  <a:cubicBezTo>
                    <a:pt x="512785" y="487029"/>
                    <a:pt x="511652" y="486874"/>
                    <a:pt x="510513" y="486880"/>
                  </a:cubicBezTo>
                  <a:lnTo>
                    <a:pt x="510513" y="486880"/>
                  </a:lnTo>
                  <a:cubicBezTo>
                    <a:pt x="507751" y="487968"/>
                    <a:pt x="505644" y="490265"/>
                    <a:pt x="504798" y="493109"/>
                  </a:cubicBezTo>
                  <a:cubicBezTo>
                    <a:pt x="500283" y="508673"/>
                    <a:pt x="496473" y="524418"/>
                    <a:pt x="492339" y="541172"/>
                  </a:cubicBezTo>
                  <a:lnTo>
                    <a:pt x="490339" y="549335"/>
                  </a:lnTo>
                  <a:lnTo>
                    <a:pt x="489805" y="551478"/>
                  </a:lnTo>
                  <a:cubicBezTo>
                    <a:pt x="481110" y="589052"/>
                    <a:pt x="470366" y="626121"/>
                    <a:pt x="457620" y="662521"/>
                  </a:cubicBezTo>
                  <a:cubicBezTo>
                    <a:pt x="427893" y="747141"/>
                    <a:pt x="377963" y="782155"/>
                    <a:pt x="356846" y="793661"/>
                  </a:cubicBezTo>
                  <a:lnTo>
                    <a:pt x="110558" y="573776"/>
                  </a:lnTo>
                  <a:cubicBezTo>
                    <a:pt x="127915" y="559196"/>
                    <a:pt x="142782" y="541884"/>
                    <a:pt x="154573" y="522522"/>
                  </a:cubicBezTo>
                  <a:cubicBezTo>
                    <a:pt x="182702" y="478325"/>
                    <a:pt x="203179" y="429700"/>
                    <a:pt x="215142" y="378695"/>
                  </a:cubicBezTo>
                  <a:cubicBezTo>
                    <a:pt x="216064" y="375114"/>
                    <a:pt x="214849" y="371321"/>
                    <a:pt x="212018" y="368941"/>
                  </a:cubicBezTo>
                  <a:lnTo>
                    <a:pt x="200474" y="359340"/>
                  </a:lnTo>
                  <a:cubicBezTo>
                    <a:pt x="197832" y="357177"/>
                    <a:pt x="195447" y="354716"/>
                    <a:pt x="193368" y="352006"/>
                  </a:cubicBezTo>
                  <a:lnTo>
                    <a:pt x="192482" y="350872"/>
                  </a:lnTo>
                  <a:cubicBezTo>
                    <a:pt x="189973" y="347529"/>
                    <a:pt x="187789" y="343953"/>
                    <a:pt x="185958" y="340195"/>
                  </a:cubicBezTo>
                  <a:cubicBezTo>
                    <a:pt x="184161" y="336081"/>
                    <a:pt x="179737" y="333779"/>
                    <a:pt x="175337" y="334670"/>
                  </a:cubicBezTo>
                  <a:cubicBezTo>
                    <a:pt x="165612" y="336652"/>
                    <a:pt x="135066" y="339976"/>
                    <a:pt x="122645" y="329689"/>
                  </a:cubicBezTo>
                  <a:cubicBezTo>
                    <a:pt x="119683" y="327250"/>
                    <a:pt x="119673" y="325364"/>
                    <a:pt x="119664" y="324650"/>
                  </a:cubicBezTo>
                  <a:cubicBezTo>
                    <a:pt x="120842" y="318890"/>
                    <a:pt x="124270" y="313840"/>
                    <a:pt x="129189" y="310620"/>
                  </a:cubicBezTo>
                  <a:cubicBezTo>
                    <a:pt x="133219" y="307238"/>
                    <a:pt x="133744" y="301230"/>
                    <a:pt x="130362" y="297201"/>
                  </a:cubicBezTo>
                  <a:cubicBezTo>
                    <a:pt x="128550" y="295041"/>
                    <a:pt x="125874" y="293796"/>
                    <a:pt x="123055" y="293799"/>
                  </a:cubicBezTo>
                  <a:lnTo>
                    <a:pt x="123007" y="293799"/>
                  </a:lnTo>
                  <a:cubicBezTo>
                    <a:pt x="85441" y="293741"/>
                    <a:pt x="70096" y="276015"/>
                    <a:pt x="67105" y="266490"/>
                  </a:cubicBezTo>
                  <a:cubicBezTo>
                    <a:pt x="63922" y="255162"/>
                    <a:pt x="69081" y="243150"/>
                    <a:pt x="79487" y="237658"/>
                  </a:cubicBezTo>
                  <a:cubicBezTo>
                    <a:pt x="84106" y="235140"/>
                    <a:pt x="85807" y="229353"/>
                    <a:pt x="83289" y="224736"/>
                  </a:cubicBezTo>
                  <a:cubicBezTo>
                    <a:pt x="81980" y="222336"/>
                    <a:pt x="79705" y="220614"/>
                    <a:pt x="77039" y="220008"/>
                  </a:cubicBezTo>
                  <a:cubicBezTo>
                    <a:pt x="66429" y="217580"/>
                    <a:pt x="36634" y="207502"/>
                    <a:pt x="26262" y="190157"/>
                  </a:cubicBezTo>
                  <a:cubicBezTo>
                    <a:pt x="15784" y="173012"/>
                    <a:pt x="17689" y="143170"/>
                    <a:pt x="25976" y="119358"/>
                  </a:cubicBezTo>
                  <a:cubicBezTo>
                    <a:pt x="26004" y="119313"/>
                    <a:pt x="26062" y="119300"/>
                    <a:pt x="26107" y="119327"/>
                  </a:cubicBezTo>
                  <a:cubicBezTo>
                    <a:pt x="26120" y="119335"/>
                    <a:pt x="26130" y="119345"/>
                    <a:pt x="26138" y="119358"/>
                  </a:cubicBezTo>
                  <a:cubicBezTo>
                    <a:pt x="43216" y="139675"/>
                    <a:pt x="69600" y="150533"/>
                    <a:pt x="89546" y="157258"/>
                  </a:cubicBezTo>
                  <a:cubicBezTo>
                    <a:pt x="111805" y="164739"/>
                    <a:pt x="134792" y="169847"/>
                    <a:pt x="158126" y="172498"/>
                  </a:cubicBezTo>
                  <a:cubicBezTo>
                    <a:pt x="179824" y="175355"/>
                    <a:pt x="192921" y="177136"/>
                    <a:pt x="207256" y="191167"/>
                  </a:cubicBezTo>
                  <a:cubicBezTo>
                    <a:pt x="223341" y="208999"/>
                    <a:pt x="232319" y="232114"/>
                    <a:pt x="232487" y="256127"/>
                  </a:cubicBezTo>
                  <a:cubicBezTo>
                    <a:pt x="232531" y="257227"/>
                    <a:pt x="232760" y="258313"/>
                    <a:pt x="233164" y="259337"/>
                  </a:cubicBezTo>
                  <a:cubicBezTo>
                    <a:pt x="221810" y="287979"/>
                    <a:pt x="213895" y="311991"/>
                    <a:pt x="207827" y="332680"/>
                  </a:cubicBezTo>
                  <a:cubicBezTo>
                    <a:pt x="206673" y="337812"/>
                    <a:pt x="209898" y="342909"/>
                    <a:pt x="215030" y="344063"/>
                  </a:cubicBezTo>
                  <a:cubicBezTo>
                    <a:pt x="219733" y="345120"/>
                    <a:pt x="224484" y="342499"/>
                    <a:pt x="226096" y="337957"/>
                  </a:cubicBezTo>
                  <a:cubicBezTo>
                    <a:pt x="234566" y="309114"/>
                    <a:pt x="244618" y="280760"/>
                    <a:pt x="256205" y="253022"/>
                  </a:cubicBezTo>
                  <a:cubicBezTo>
                    <a:pt x="295020" y="160468"/>
                    <a:pt x="359181" y="80756"/>
                    <a:pt x="441304" y="23060"/>
                  </a:cubicBezTo>
                  <a:lnTo>
                    <a:pt x="709909" y="218275"/>
                  </a:lnTo>
                  <a:cubicBezTo>
                    <a:pt x="673257" y="247993"/>
                    <a:pt x="595952" y="315306"/>
                    <a:pt x="551956" y="387106"/>
                  </a:cubicBezTo>
                  <a:cubicBezTo>
                    <a:pt x="542513" y="402439"/>
                    <a:pt x="534032" y="418345"/>
                    <a:pt x="526562" y="434731"/>
                  </a:cubicBezTo>
                  <a:cubicBezTo>
                    <a:pt x="523505" y="441255"/>
                    <a:pt x="520762" y="447646"/>
                    <a:pt x="518257" y="453952"/>
                  </a:cubicBezTo>
                  <a:cubicBezTo>
                    <a:pt x="517151" y="456529"/>
                    <a:pt x="518343" y="459514"/>
                    <a:pt x="520920" y="460619"/>
                  </a:cubicBezTo>
                  <a:cubicBezTo>
                    <a:pt x="522198" y="461168"/>
                    <a:pt x="523646" y="461168"/>
                    <a:pt x="524924" y="460619"/>
                  </a:cubicBezTo>
                  <a:lnTo>
                    <a:pt x="537668" y="455419"/>
                  </a:lnTo>
                  <a:lnTo>
                    <a:pt x="539450" y="454409"/>
                  </a:lnTo>
                  <a:cubicBezTo>
                    <a:pt x="565339" y="434959"/>
                    <a:pt x="614059" y="405079"/>
                    <a:pt x="655255" y="417833"/>
                  </a:cubicBezTo>
                  <a:cubicBezTo>
                    <a:pt x="679858" y="425453"/>
                    <a:pt x="690497" y="439036"/>
                    <a:pt x="708166" y="461562"/>
                  </a:cubicBezTo>
                  <a:cubicBezTo>
                    <a:pt x="726099" y="485356"/>
                    <a:pt x="746315" y="507340"/>
                    <a:pt x="768526" y="527199"/>
                  </a:cubicBezTo>
                  <a:cubicBezTo>
                    <a:pt x="791872" y="547983"/>
                    <a:pt x="818827" y="569786"/>
                    <a:pt x="849908" y="574529"/>
                  </a:cubicBezTo>
                  <a:cubicBezTo>
                    <a:pt x="849960" y="574538"/>
                    <a:pt x="849995" y="574586"/>
                    <a:pt x="849987" y="574638"/>
                  </a:cubicBezTo>
                  <a:cubicBezTo>
                    <a:pt x="849985" y="574650"/>
                    <a:pt x="849980" y="574661"/>
                    <a:pt x="849974" y="574672"/>
                  </a:cubicBezTo>
                  <a:cubicBezTo>
                    <a:pt x="831753" y="599475"/>
                    <a:pt x="802664" y="621059"/>
                    <a:pt x="776879" y="619706"/>
                  </a:cubicBezTo>
                  <a:close/>
                </a:path>
              </a:pathLst>
            </a:custGeom>
            <a:grpFill/>
            <a:ln w="9525" cap="flat">
              <a:solidFill>
                <a:schemeClr val="accent3">
                  <a:lumMod val="50000"/>
                </a:schemeClr>
              </a:solidFill>
              <a:prstDash val="solid"/>
              <a:miter/>
            </a:ln>
          </p:spPr>
          <p:txBody>
            <a:bodyPr/>
            <a:lstStyle/>
            <a:p>
              <a:endParaRPr lang="en-US"/>
            </a:p>
          </p:txBody>
        </p:sp>
      </p:grpSp>
      <p:grpSp>
        <p:nvGrpSpPr>
          <p:cNvPr id="37" name="Graphic 19" descr="Flying Money outline">
            <a:extLst>
              <a:ext uri="{FF2B5EF4-FFF2-40B4-BE49-F238E27FC236}">
                <a16:creationId xmlns:a16="http://schemas.microsoft.com/office/drawing/2014/main" id="{6D53869B-FB74-DE9A-8CB1-691FBB1640F0}"/>
              </a:ext>
            </a:extLst>
          </p:cNvPr>
          <p:cNvGrpSpPr/>
          <p:nvPr/>
        </p:nvGrpSpPr>
        <p:grpSpPr>
          <a:xfrm>
            <a:off x="9227768" y="1987596"/>
            <a:ext cx="876352" cy="816263"/>
            <a:chOff x="4742277" y="4551845"/>
            <a:chExt cx="876352" cy="816263"/>
          </a:xfrm>
          <a:solidFill>
            <a:srgbClr val="000000"/>
          </a:solidFill>
        </p:grpSpPr>
        <p:sp>
          <p:nvSpPr>
            <p:cNvPr id="38" name="Freeform 37">
              <a:extLst>
                <a:ext uri="{FF2B5EF4-FFF2-40B4-BE49-F238E27FC236}">
                  <a16:creationId xmlns:a16="http://schemas.microsoft.com/office/drawing/2014/main" id="{FC6243C5-D40C-F9C6-BBA6-215245713D8D}"/>
                </a:ext>
              </a:extLst>
            </p:cNvPr>
            <p:cNvSpPr/>
            <p:nvPr/>
          </p:nvSpPr>
          <p:spPr>
            <a:xfrm>
              <a:off x="5045295" y="4863370"/>
              <a:ext cx="148372" cy="144607"/>
            </a:xfrm>
            <a:custGeom>
              <a:avLst/>
              <a:gdLst>
                <a:gd name="csX0" fmla="*/ 116302 w 148372"/>
                <a:gd name="csY0" fmla="*/ 23374 h 144607"/>
                <a:gd name="csX1" fmla="*/ 57761 w 148372"/>
                <a:gd name="csY1" fmla="*/ 28 h 144607"/>
                <a:gd name="csX2" fmla="*/ 13136 w 148372"/>
                <a:gd name="csY2" fmla="*/ 19078 h 144607"/>
                <a:gd name="csX3" fmla="*/ 32043 w 148372"/>
                <a:gd name="csY3" fmla="*/ 121205 h 144607"/>
                <a:gd name="csX4" fmla="*/ 90584 w 148372"/>
                <a:gd name="csY4" fmla="*/ 144580 h 144607"/>
                <a:gd name="csX5" fmla="*/ 135209 w 148372"/>
                <a:gd name="csY5" fmla="*/ 125530 h 144607"/>
                <a:gd name="csX6" fmla="*/ 116302 w 148372"/>
                <a:gd name="csY6" fmla="*/ 23374 h 144607"/>
                <a:gd name="csX7" fmla="*/ 120778 w 148372"/>
                <a:gd name="csY7" fmla="*/ 113061 h 144607"/>
                <a:gd name="csX8" fmla="*/ 90584 w 148372"/>
                <a:gd name="csY8" fmla="*/ 125530 h 144607"/>
                <a:gd name="csX9" fmla="*/ 44559 w 148372"/>
                <a:gd name="csY9" fmla="*/ 106870 h 144607"/>
                <a:gd name="csX10" fmla="*/ 27567 w 148372"/>
                <a:gd name="csY10" fmla="*/ 31546 h 144607"/>
                <a:gd name="csX11" fmla="*/ 57761 w 148372"/>
                <a:gd name="csY11" fmla="*/ 19078 h 144607"/>
                <a:gd name="csX12" fmla="*/ 103786 w 148372"/>
                <a:gd name="csY12" fmla="*/ 37728 h 144607"/>
                <a:gd name="csX13" fmla="*/ 120816 w 148372"/>
                <a:gd name="csY13" fmla="*/ 113061 h 1446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8372" h="144607">
                  <a:moveTo>
                    <a:pt x="116302" y="23374"/>
                  </a:moveTo>
                  <a:cubicBezTo>
                    <a:pt x="100207" y="8843"/>
                    <a:pt x="79438" y="560"/>
                    <a:pt x="57761" y="28"/>
                  </a:cubicBezTo>
                  <a:cubicBezTo>
                    <a:pt x="40806" y="-502"/>
                    <a:pt x="24481" y="6467"/>
                    <a:pt x="13136" y="19078"/>
                  </a:cubicBezTo>
                  <a:cubicBezTo>
                    <a:pt x="-10124" y="46082"/>
                    <a:pt x="-1685" y="91811"/>
                    <a:pt x="32043" y="121205"/>
                  </a:cubicBezTo>
                  <a:cubicBezTo>
                    <a:pt x="48133" y="135747"/>
                    <a:pt x="68903" y="144041"/>
                    <a:pt x="90584" y="144580"/>
                  </a:cubicBezTo>
                  <a:cubicBezTo>
                    <a:pt x="107539" y="145110"/>
                    <a:pt x="123864" y="138141"/>
                    <a:pt x="135209" y="125530"/>
                  </a:cubicBezTo>
                  <a:cubicBezTo>
                    <a:pt x="158507" y="98498"/>
                    <a:pt x="150068" y="52768"/>
                    <a:pt x="116302" y="23374"/>
                  </a:cubicBezTo>
                  <a:close/>
                  <a:moveTo>
                    <a:pt x="120778" y="113061"/>
                  </a:moveTo>
                  <a:cubicBezTo>
                    <a:pt x="113034" y="121451"/>
                    <a:pt x="101992" y="126011"/>
                    <a:pt x="90584" y="125530"/>
                  </a:cubicBezTo>
                  <a:cubicBezTo>
                    <a:pt x="73516" y="124959"/>
                    <a:pt x="57206" y="118347"/>
                    <a:pt x="44559" y="106870"/>
                  </a:cubicBezTo>
                  <a:cubicBezTo>
                    <a:pt x="19204" y="84782"/>
                    <a:pt x="11422" y="50282"/>
                    <a:pt x="27567" y="31546"/>
                  </a:cubicBezTo>
                  <a:cubicBezTo>
                    <a:pt x="35311" y="23157"/>
                    <a:pt x="46353" y="18597"/>
                    <a:pt x="57761" y="19078"/>
                  </a:cubicBezTo>
                  <a:cubicBezTo>
                    <a:pt x="74827" y="19649"/>
                    <a:pt x="91137" y="26258"/>
                    <a:pt x="103786" y="37728"/>
                  </a:cubicBezTo>
                  <a:cubicBezTo>
                    <a:pt x="129179" y="59826"/>
                    <a:pt x="136961" y="94326"/>
                    <a:pt x="120816" y="113061"/>
                  </a:cubicBezTo>
                  <a:close/>
                </a:path>
              </a:pathLst>
            </a:custGeom>
            <a:grpFill/>
            <a:ln w="9525" cap="flat">
              <a:solidFill>
                <a:schemeClr val="accent3">
                  <a:lumMod val="50000"/>
                </a:schemeClr>
              </a:solidFill>
              <a:prstDash val="solid"/>
              <a:miter/>
            </a:ln>
          </p:spPr>
          <p:txBody>
            <a:bodyPr/>
            <a:lstStyle/>
            <a:p>
              <a:endParaRPr lang="en-US"/>
            </a:p>
          </p:txBody>
        </p:sp>
        <p:sp>
          <p:nvSpPr>
            <p:cNvPr id="39" name="Freeform 38">
              <a:extLst>
                <a:ext uri="{FF2B5EF4-FFF2-40B4-BE49-F238E27FC236}">
                  <a16:creationId xmlns:a16="http://schemas.microsoft.com/office/drawing/2014/main" id="{3A7A8292-59B1-84CC-F79C-6980E8B69888}"/>
                </a:ext>
              </a:extLst>
            </p:cNvPr>
            <p:cNvSpPr/>
            <p:nvPr/>
          </p:nvSpPr>
          <p:spPr>
            <a:xfrm>
              <a:off x="5184625" y="4738278"/>
              <a:ext cx="65374" cy="63415"/>
            </a:xfrm>
            <a:custGeom>
              <a:avLst/>
              <a:gdLst>
                <a:gd name="csX0" fmla="*/ 50019 w 65374"/>
                <a:gd name="csY0" fmla="*/ 7076 h 63415"/>
                <a:gd name="csX1" fmla="*/ 28617 w 65374"/>
                <a:gd name="csY1" fmla="*/ 9 h 63415"/>
                <a:gd name="csX2" fmla="*/ 4671 w 65374"/>
                <a:gd name="csY2" fmla="*/ 11744 h 63415"/>
                <a:gd name="csX3" fmla="*/ 15339 w 65374"/>
                <a:gd name="csY3" fmla="*/ 56349 h 63415"/>
                <a:gd name="csX4" fmla="*/ 36742 w 65374"/>
                <a:gd name="csY4" fmla="*/ 63407 h 63415"/>
                <a:gd name="csX5" fmla="*/ 60687 w 65374"/>
                <a:gd name="csY5" fmla="*/ 51672 h 63415"/>
                <a:gd name="csX6" fmla="*/ 50019 w 65374"/>
                <a:gd name="csY6" fmla="*/ 7076 h 63415"/>
                <a:gd name="csX7" fmla="*/ 45162 w 65374"/>
                <a:gd name="csY7" fmla="*/ 40633 h 63415"/>
                <a:gd name="csX8" fmla="*/ 36742 w 65374"/>
                <a:gd name="csY8" fmla="*/ 44357 h 63415"/>
                <a:gd name="csX9" fmla="*/ 26435 w 65374"/>
                <a:gd name="csY9" fmla="*/ 40861 h 63415"/>
                <a:gd name="csX10" fmla="*/ 20187 w 65374"/>
                <a:gd name="csY10" fmla="*/ 22764 h 63415"/>
                <a:gd name="csX11" fmla="*/ 28617 w 65374"/>
                <a:gd name="csY11" fmla="*/ 19040 h 63415"/>
                <a:gd name="csX12" fmla="*/ 38923 w 65374"/>
                <a:gd name="csY12" fmla="*/ 22545 h 63415"/>
                <a:gd name="csX13" fmla="*/ 45162 w 65374"/>
                <a:gd name="csY13" fmla="*/ 40585 h 634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5374" h="63415">
                  <a:moveTo>
                    <a:pt x="50019" y="7076"/>
                  </a:moveTo>
                  <a:cubicBezTo>
                    <a:pt x="43797" y="2545"/>
                    <a:pt x="36314" y="74"/>
                    <a:pt x="28617" y="9"/>
                  </a:cubicBezTo>
                  <a:cubicBezTo>
                    <a:pt x="19197" y="-223"/>
                    <a:pt x="10259" y="4158"/>
                    <a:pt x="4671" y="11744"/>
                  </a:cubicBezTo>
                  <a:cubicBezTo>
                    <a:pt x="-4501" y="27038"/>
                    <a:pt x="240" y="46859"/>
                    <a:pt x="15339" y="56349"/>
                  </a:cubicBezTo>
                  <a:cubicBezTo>
                    <a:pt x="21564" y="60873"/>
                    <a:pt x="29046" y="63340"/>
                    <a:pt x="36742" y="63407"/>
                  </a:cubicBezTo>
                  <a:cubicBezTo>
                    <a:pt x="46161" y="63640"/>
                    <a:pt x="55100" y="59259"/>
                    <a:pt x="60687" y="51672"/>
                  </a:cubicBezTo>
                  <a:cubicBezTo>
                    <a:pt x="69886" y="36385"/>
                    <a:pt x="65139" y="16547"/>
                    <a:pt x="50019" y="7076"/>
                  </a:cubicBezTo>
                  <a:close/>
                  <a:moveTo>
                    <a:pt x="45162" y="40633"/>
                  </a:moveTo>
                  <a:cubicBezTo>
                    <a:pt x="43092" y="43123"/>
                    <a:pt x="39976" y="44501"/>
                    <a:pt x="36742" y="44357"/>
                  </a:cubicBezTo>
                  <a:cubicBezTo>
                    <a:pt x="33027" y="44287"/>
                    <a:pt x="29426" y="43066"/>
                    <a:pt x="26435" y="40861"/>
                  </a:cubicBezTo>
                  <a:cubicBezTo>
                    <a:pt x="20021" y="37323"/>
                    <a:pt x="17322" y="29507"/>
                    <a:pt x="20187" y="22764"/>
                  </a:cubicBezTo>
                  <a:cubicBezTo>
                    <a:pt x="22261" y="20274"/>
                    <a:pt x="25379" y="18896"/>
                    <a:pt x="28617" y="19040"/>
                  </a:cubicBezTo>
                  <a:cubicBezTo>
                    <a:pt x="32331" y="19115"/>
                    <a:pt x="35932" y="20340"/>
                    <a:pt x="38923" y="22545"/>
                  </a:cubicBezTo>
                  <a:cubicBezTo>
                    <a:pt x="45666" y="27336"/>
                    <a:pt x="48581" y="35785"/>
                    <a:pt x="45162" y="40585"/>
                  </a:cubicBezTo>
                  <a:close/>
                </a:path>
              </a:pathLst>
            </a:custGeom>
            <a:grpFill/>
            <a:ln w="9525" cap="flat">
              <a:solidFill>
                <a:schemeClr val="accent3">
                  <a:lumMod val="50000"/>
                </a:schemeClr>
              </a:solidFill>
              <a:prstDash val="solid"/>
              <a:miter/>
            </a:ln>
          </p:spPr>
          <p:txBody>
            <a:bodyPr/>
            <a:lstStyle/>
            <a:p>
              <a:endParaRPr lang="en-US"/>
            </a:p>
          </p:txBody>
        </p:sp>
        <p:sp>
          <p:nvSpPr>
            <p:cNvPr id="40" name="Freeform 39">
              <a:extLst>
                <a:ext uri="{FF2B5EF4-FFF2-40B4-BE49-F238E27FC236}">
                  <a16:creationId xmlns:a16="http://schemas.microsoft.com/office/drawing/2014/main" id="{FF8CBE64-330C-4E7F-442F-1E82C17F722A}"/>
                </a:ext>
              </a:extLst>
            </p:cNvPr>
            <p:cNvSpPr/>
            <p:nvPr/>
          </p:nvSpPr>
          <p:spPr>
            <a:xfrm>
              <a:off x="5029681" y="5085905"/>
              <a:ext cx="65021" cy="63878"/>
            </a:xfrm>
            <a:custGeom>
              <a:avLst/>
              <a:gdLst>
                <a:gd name="csX0" fmla="*/ 51287 w 65021"/>
                <a:gd name="csY0" fmla="*/ 8398 h 63878"/>
                <a:gd name="csX1" fmla="*/ 28294 w 65021"/>
                <a:gd name="csY1" fmla="*/ 7 h 63878"/>
                <a:gd name="csX2" fmla="*/ 5739 w 65021"/>
                <a:gd name="csY2" fmla="*/ 10398 h 63878"/>
                <a:gd name="csX3" fmla="*/ 13749 w 65021"/>
                <a:gd name="csY3" fmla="*/ 55480 h 63878"/>
                <a:gd name="csX4" fmla="*/ 36742 w 65021"/>
                <a:gd name="csY4" fmla="*/ 63872 h 63878"/>
                <a:gd name="csX5" fmla="*/ 59288 w 65021"/>
                <a:gd name="csY5" fmla="*/ 53480 h 63878"/>
                <a:gd name="csX6" fmla="*/ 51287 w 65021"/>
                <a:gd name="csY6" fmla="*/ 8398 h 63878"/>
                <a:gd name="csX7" fmla="*/ 44381 w 65021"/>
                <a:gd name="csY7" fmla="*/ 41621 h 63878"/>
                <a:gd name="csX8" fmla="*/ 36761 w 65021"/>
                <a:gd name="csY8" fmla="*/ 44822 h 63878"/>
                <a:gd name="csX9" fmla="*/ 25731 w 65021"/>
                <a:gd name="csY9" fmla="*/ 40650 h 63878"/>
                <a:gd name="csX10" fmla="*/ 20674 w 65021"/>
                <a:gd name="csY10" fmla="*/ 22257 h 63878"/>
                <a:gd name="csX11" fmla="*/ 28294 w 65021"/>
                <a:gd name="csY11" fmla="*/ 19057 h 63878"/>
                <a:gd name="csX12" fmla="*/ 39267 w 65021"/>
                <a:gd name="csY12" fmla="*/ 23181 h 63878"/>
                <a:gd name="csX13" fmla="*/ 44381 w 65021"/>
                <a:gd name="csY13" fmla="*/ 41621 h 638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5021" h="63878">
                  <a:moveTo>
                    <a:pt x="51287" y="8398"/>
                  </a:moveTo>
                  <a:cubicBezTo>
                    <a:pt x="44802" y="3062"/>
                    <a:pt x="36691" y="102"/>
                    <a:pt x="28294" y="7"/>
                  </a:cubicBezTo>
                  <a:cubicBezTo>
                    <a:pt x="19577" y="-181"/>
                    <a:pt x="11259" y="3651"/>
                    <a:pt x="5739" y="10398"/>
                  </a:cubicBezTo>
                  <a:cubicBezTo>
                    <a:pt x="-4357" y="25091"/>
                    <a:pt x="-790" y="45166"/>
                    <a:pt x="13749" y="55480"/>
                  </a:cubicBezTo>
                  <a:cubicBezTo>
                    <a:pt x="20236" y="60812"/>
                    <a:pt x="28346" y="63773"/>
                    <a:pt x="36742" y="63872"/>
                  </a:cubicBezTo>
                  <a:cubicBezTo>
                    <a:pt x="45456" y="64060"/>
                    <a:pt x="53772" y="60227"/>
                    <a:pt x="59288" y="53480"/>
                  </a:cubicBezTo>
                  <a:cubicBezTo>
                    <a:pt x="69374" y="38788"/>
                    <a:pt x="65813" y="18722"/>
                    <a:pt x="51287" y="8398"/>
                  </a:cubicBezTo>
                  <a:close/>
                  <a:moveTo>
                    <a:pt x="44381" y="41621"/>
                  </a:moveTo>
                  <a:cubicBezTo>
                    <a:pt x="42446" y="43771"/>
                    <a:pt x="39651" y="44945"/>
                    <a:pt x="36761" y="44822"/>
                  </a:cubicBezTo>
                  <a:cubicBezTo>
                    <a:pt x="32718" y="44723"/>
                    <a:pt x="28828" y="43252"/>
                    <a:pt x="25731" y="40650"/>
                  </a:cubicBezTo>
                  <a:cubicBezTo>
                    <a:pt x="19600" y="36706"/>
                    <a:pt x="17421" y="28781"/>
                    <a:pt x="20674" y="22257"/>
                  </a:cubicBezTo>
                  <a:cubicBezTo>
                    <a:pt x="22608" y="20106"/>
                    <a:pt x="25403" y="18932"/>
                    <a:pt x="28294" y="19057"/>
                  </a:cubicBezTo>
                  <a:cubicBezTo>
                    <a:pt x="32313" y="19147"/>
                    <a:pt x="36182" y="20602"/>
                    <a:pt x="39267" y="23181"/>
                  </a:cubicBezTo>
                  <a:cubicBezTo>
                    <a:pt x="45490" y="27075"/>
                    <a:pt x="47709" y="35078"/>
                    <a:pt x="44381" y="41621"/>
                  </a:cubicBezTo>
                  <a:close/>
                </a:path>
              </a:pathLst>
            </a:custGeom>
            <a:grpFill/>
            <a:ln w="9525" cap="flat">
              <a:solidFill>
                <a:schemeClr val="accent3">
                  <a:lumMod val="50000"/>
                </a:schemeClr>
              </a:solidFill>
              <a:prstDash val="solid"/>
              <a:miter/>
            </a:ln>
          </p:spPr>
          <p:txBody>
            <a:bodyPr/>
            <a:lstStyle/>
            <a:p>
              <a:endParaRPr lang="en-US"/>
            </a:p>
          </p:txBody>
        </p:sp>
        <p:sp>
          <p:nvSpPr>
            <p:cNvPr id="41" name="Freeform 40">
              <a:extLst>
                <a:ext uri="{FF2B5EF4-FFF2-40B4-BE49-F238E27FC236}">
                  <a16:creationId xmlns:a16="http://schemas.microsoft.com/office/drawing/2014/main" id="{30833FAB-9CF1-30F8-67A6-B842CAD5718A}"/>
                </a:ext>
              </a:extLst>
            </p:cNvPr>
            <p:cNvSpPr/>
            <p:nvPr/>
          </p:nvSpPr>
          <p:spPr>
            <a:xfrm>
              <a:off x="4924253" y="4636160"/>
              <a:ext cx="436035" cy="648576"/>
            </a:xfrm>
            <a:custGeom>
              <a:avLst/>
              <a:gdLst>
                <a:gd name="csX0" fmla="*/ 432978 w 436035"/>
                <a:gd name="csY0" fmla="*/ 180880 h 648576"/>
                <a:gd name="csX1" fmla="*/ 436035 w 436035"/>
                <a:gd name="csY1" fmla="*/ 177813 h 648576"/>
                <a:gd name="csX2" fmla="*/ 430701 w 436035"/>
                <a:gd name="csY2" fmla="*/ 98717 h 648576"/>
                <a:gd name="csX3" fmla="*/ 294846 w 436035"/>
                <a:gd name="csY3" fmla="*/ 0 h 648576"/>
                <a:gd name="csX4" fmla="*/ 211217 w 436035"/>
                <a:gd name="csY4" fmla="*/ 15850 h 648576"/>
                <a:gd name="csX5" fmla="*/ 209131 w 436035"/>
                <a:gd name="csY5" fmla="*/ 17936 h 648576"/>
                <a:gd name="csX6" fmla="*/ 100470 w 436035"/>
                <a:gd name="csY6" fmla="*/ 179680 h 648576"/>
                <a:gd name="csX7" fmla="*/ 61932 w 436035"/>
                <a:gd name="csY7" fmla="*/ 297037 h 648576"/>
                <a:gd name="csX8" fmla="*/ 1572 w 436035"/>
                <a:gd name="csY8" fmla="*/ 445332 h 648576"/>
                <a:gd name="csX9" fmla="*/ 0 w 436035"/>
                <a:gd name="csY9" fmla="*/ 448018 h 648576"/>
                <a:gd name="csX10" fmla="*/ 7620 w 436035"/>
                <a:gd name="csY10" fmla="*/ 521970 h 648576"/>
                <a:gd name="csX11" fmla="*/ 149390 w 436035"/>
                <a:gd name="csY11" fmla="*/ 648576 h 648576"/>
                <a:gd name="csX12" fmla="*/ 216008 w 436035"/>
                <a:gd name="csY12" fmla="*/ 632974 h 648576"/>
                <a:gd name="csX13" fmla="*/ 218094 w 436035"/>
                <a:gd name="csY13" fmla="*/ 629945 h 648576"/>
                <a:gd name="csX14" fmla="*/ 248574 w 436035"/>
                <a:gd name="csY14" fmla="*/ 568900 h 648576"/>
                <a:gd name="csX15" fmla="*/ 280864 w 436035"/>
                <a:gd name="csY15" fmla="*/ 455962 h 648576"/>
                <a:gd name="csX16" fmla="*/ 345453 w 436035"/>
                <a:gd name="csY16" fmla="*/ 287760 h 648576"/>
                <a:gd name="csX17" fmla="*/ 432978 w 436035"/>
                <a:gd name="csY17" fmla="*/ 180880 h 648576"/>
                <a:gd name="csX18" fmla="*/ 262357 w 436035"/>
                <a:gd name="csY18" fmla="*/ 451514 h 648576"/>
                <a:gd name="csX19" fmla="*/ 230619 w 436035"/>
                <a:gd name="csY19" fmla="*/ 562585 h 648576"/>
                <a:gd name="csX20" fmla="*/ 230619 w 436035"/>
                <a:gd name="csY20" fmla="*/ 562585 h 648576"/>
                <a:gd name="csX21" fmla="*/ 204464 w 436035"/>
                <a:gd name="csY21" fmla="*/ 616106 h 648576"/>
                <a:gd name="csX22" fmla="*/ 154705 w 436035"/>
                <a:gd name="csY22" fmla="*/ 627755 h 648576"/>
                <a:gd name="csX23" fmla="*/ 25889 w 436035"/>
                <a:gd name="csY23" fmla="*/ 512674 h 648576"/>
                <a:gd name="csX24" fmla="*/ 19631 w 436035"/>
                <a:gd name="csY24" fmla="*/ 452247 h 648576"/>
                <a:gd name="csX25" fmla="*/ 80420 w 436035"/>
                <a:gd name="csY25" fmla="*/ 301752 h 648576"/>
                <a:gd name="csX26" fmla="*/ 118100 w 436035"/>
                <a:gd name="csY26" fmla="*/ 186976 h 648576"/>
                <a:gd name="csX27" fmla="*/ 220561 w 436035"/>
                <a:gd name="csY27" fmla="*/ 33423 h 648576"/>
                <a:gd name="csX28" fmla="*/ 290293 w 436035"/>
                <a:gd name="csY28" fmla="*/ 20250 h 648576"/>
                <a:gd name="csX29" fmla="*/ 412280 w 436035"/>
                <a:gd name="csY29" fmla="*/ 108899 h 648576"/>
                <a:gd name="csX30" fmla="*/ 416452 w 436035"/>
                <a:gd name="csY30" fmla="*/ 170478 h 648576"/>
                <a:gd name="csX31" fmla="*/ 329232 w 436035"/>
                <a:gd name="csY31" fmla="*/ 277787 h 648576"/>
                <a:gd name="csX32" fmla="*/ 262357 w 436035"/>
                <a:gd name="csY32" fmla="*/ 451514 h 648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436035" h="648576">
                  <a:moveTo>
                    <a:pt x="432978" y="180880"/>
                  </a:moveTo>
                  <a:lnTo>
                    <a:pt x="436035" y="177813"/>
                  </a:lnTo>
                  <a:lnTo>
                    <a:pt x="430701" y="98717"/>
                  </a:lnTo>
                  <a:lnTo>
                    <a:pt x="294846" y="0"/>
                  </a:lnTo>
                  <a:lnTo>
                    <a:pt x="211217" y="15850"/>
                  </a:lnTo>
                  <a:lnTo>
                    <a:pt x="209131" y="17936"/>
                  </a:lnTo>
                  <a:cubicBezTo>
                    <a:pt x="162659" y="64207"/>
                    <a:pt x="125740" y="119164"/>
                    <a:pt x="100470" y="179680"/>
                  </a:cubicBezTo>
                  <a:cubicBezTo>
                    <a:pt x="84450" y="217684"/>
                    <a:pt x="71560" y="256934"/>
                    <a:pt x="61932" y="297037"/>
                  </a:cubicBezTo>
                  <a:cubicBezTo>
                    <a:pt x="50154" y="349468"/>
                    <a:pt x="29757" y="399579"/>
                    <a:pt x="1572" y="445332"/>
                  </a:cubicBezTo>
                  <a:lnTo>
                    <a:pt x="0" y="448018"/>
                  </a:lnTo>
                  <a:lnTo>
                    <a:pt x="7620" y="521970"/>
                  </a:lnTo>
                  <a:lnTo>
                    <a:pt x="149390" y="648576"/>
                  </a:lnTo>
                  <a:lnTo>
                    <a:pt x="216008" y="632974"/>
                  </a:lnTo>
                  <a:lnTo>
                    <a:pt x="218094" y="629945"/>
                  </a:lnTo>
                  <a:cubicBezTo>
                    <a:pt x="230917" y="611039"/>
                    <a:pt x="241167" y="590511"/>
                    <a:pt x="248574" y="568900"/>
                  </a:cubicBezTo>
                  <a:cubicBezTo>
                    <a:pt x="261395" y="531872"/>
                    <a:pt x="272174" y="494170"/>
                    <a:pt x="280864" y="455962"/>
                  </a:cubicBezTo>
                  <a:cubicBezTo>
                    <a:pt x="294675" y="399764"/>
                    <a:pt x="306581" y="351187"/>
                    <a:pt x="345453" y="287760"/>
                  </a:cubicBezTo>
                  <a:cubicBezTo>
                    <a:pt x="370399" y="248870"/>
                    <a:pt x="399770" y="213004"/>
                    <a:pt x="432978" y="180880"/>
                  </a:cubicBezTo>
                  <a:close/>
                  <a:moveTo>
                    <a:pt x="262357" y="451514"/>
                  </a:moveTo>
                  <a:cubicBezTo>
                    <a:pt x="253813" y="489089"/>
                    <a:pt x="243218" y="526168"/>
                    <a:pt x="230619" y="562585"/>
                  </a:cubicBezTo>
                  <a:lnTo>
                    <a:pt x="230619" y="562585"/>
                  </a:lnTo>
                  <a:cubicBezTo>
                    <a:pt x="224149" y="581438"/>
                    <a:pt x="215363" y="599416"/>
                    <a:pt x="204464" y="616106"/>
                  </a:cubicBezTo>
                  <a:lnTo>
                    <a:pt x="154705" y="627755"/>
                  </a:lnTo>
                  <a:lnTo>
                    <a:pt x="25889" y="512674"/>
                  </a:lnTo>
                  <a:lnTo>
                    <a:pt x="19631" y="452247"/>
                  </a:lnTo>
                  <a:cubicBezTo>
                    <a:pt x="47964" y="405732"/>
                    <a:pt x="68497" y="354896"/>
                    <a:pt x="80420" y="301752"/>
                  </a:cubicBezTo>
                  <a:cubicBezTo>
                    <a:pt x="89839" y="262533"/>
                    <a:pt x="102440" y="224146"/>
                    <a:pt x="118100" y="186976"/>
                  </a:cubicBezTo>
                  <a:cubicBezTo>
                    <a:pt x="142019" y="129655"/>
                    <a:pt x="176813" y="77512"/>
                    <a:pt x="220561" y="33423"/>
                  </a:cubicBezTo>
                  <a:lnTo>
                    <a:pt x="290293" y="20250"/>
                  </a:lnTo>
                  <a:lnTo>
                    <a:pt x="412280" y="108899"/>
                  </a:lnTo>
                  <a:lnTo>
                    <a:pt x="416452" y="170478"/>
                  </a:lnTo>
                  <a:cubicBezTo>
                    <a:pt x="383397" y="202819"/>
                    <a:pt x="354135" y="238820"/>
                    <a:pt x="329232" y="277787"/>
                  </a:cubicBezTo>
                  <a:cubicBezTo>
                    <a:pt x="288836" y="343757"/>
                    <a:pt x="276577" y="393649"/>
                    <a:pt x="262357" y="451514"/>
                  </a:cubicBezTo>
                  <a:close/>
                </a:path>
              </a:pathLst>
            </a:custGeom>
            <a:grpFill/>
            <a:ln w="9525" cap="flat">
              <a:solidFill>
                <a:schemeClr val="accent3">
                  <a:lumMod val="50000"/>
                </a:schemeClr>
              </a:solidFill>
              <a:prstDash val="solid"/>
              <a:miter/>
            </a:ln>
          </p:spPr>
          <p:txBody>
            <a:bodyPr/>
            <a:lstStyle/>
            <a:p>
              <a:endParaRPr lang="en-US"/>
            </a:p>
          </p:txBody>
        </p:sp>
        <p:sp>
          <p:nvSpPr>
            <p:cNvPr id="42" name="Freeform 41">
              <a:extLst>
                <a:ext uri="{FF2B5EF4-FFF2-40B4-BE49-F238E27FC236}">
                  <a16:creationId xmlns:a16="http://schemas.microsoft.com/office/drawing/2014/main" id="{9FE1ABB5-AA23-D196-B574-DDAF1E26533F}"/>
                </a:ext>
              </a:extLst>
            </p:cNvPr>
            <p:cNvSpPr/>
            <p:nvPr/>
          </p:nvSpPr>
          <p:spPr>
            <a:xfrm>
              <a:off x="4742277" y="4551845"/>
              <a:ext cx="876352" cy="816263"/>
            </a:xfrm>
            <a:custGeom>
              <a:avLst/>
              <a:gdLst>
                <a:gd name="csX0" fmla="*/ 875568 w 876352"/>
                <a:gd name="csY0" fmla="*/ 561832 h 816263"/>
                <a:gd name="csX1" fmla="*/ 866233 w 876352"/>
                <a:gd name="csY1" fmla="*/ 556203 h 816263"/>
                <a:gd name="csX2" fmla="*/ 781156 w 876352"/>
                <a:gd name="csY2" fmla="*/ 512883 h 816263"/>
                <a:gd name="csX3" fmla="*/ 723120 w 876352"/>
                <a:gd name="csY3" fmla="*/ 449732 h 816263"/>
                <a:gd name="csX4" fmla="*/ 660846 w 876352"/>
                <a:gd name="csY4" fmla="*/ 399545 h 816263"/>
                <a:gd name="csX5" fmla="*/ 554299 w 876352"/>
                <a:gd name="csY5" fmla="*/ 421453 h 816263"/>
                <a:gd name="csX6" fmla="*/ 568215 w 876352"/>
                <a:gd name="csY6" fmla="*/ 397021 h 816263"/>
                <a:gd name="csX7" fmla="*/ 741513 w 876352"/>
                <a:gd name="csY7" fmla="*/ 217656 h 816263"/>
                <a:gd name="csX8" fmla="*/ 441961 w 876352"/>
                <a:gd name="csY8" fmla="*/ 0 h 816263"/>
                <a:gd name="csX9" fmla="*/ 247280 w 876352"/>
                <a:gd name="csY9" fmla="*/ 226133 h 816263"/>
                <a:gd name="csX10" fmla="*/ 220610 w 876352"/>
                <a:gd name="csY10" fmla="*/ 177508 h 816263"/>
                <a:gd name="csX11" fmla="*/ 160678 w 876352"/>
                <a:gd name="csY11" fmla="*/ 153581 h 816263"/>
                <a:gd name="csX12" fmla="*/ 95623 w 876352"/>
                <a:gd name="csY12" fmla="*/ 139198 h 816263"/>
                <a:gd name="csX13" fmla="*/ 33053 w 876352"/>
                <a:gd name="csY13" fmla="*/ 95231 h 816263"/>
                <a:gd name="csX14" fmla="*/ 20373 w 876352"/>
                <a:gd name="csY14" fmla="*/ 90684 h 816263"/>
                <a:gd name="csX15" fmla="*/ 16099 w 876352"/>
                <a:gd name="csY15" fmla="*/ 94698 h 816263"/>
                <a:gd name="csX16" fmla="*/ 9945 w 876352"/>
                <a:gd name="csY16" fmla="*/ 200025 h 816263"/>
                <a:gd name="csX17" fmla="*/ 55903 w 876352"/>
                <a:gd name="csY17" fmla="*/ 233363 h 816263"/>
                <a:gd name="csX18" fmla="*/ 55916 w 876352"/>
                <a:gd name="csY18" fmla="*/ 233483 h 816263"/>
                <a:gd name="csX19" fmla="*/ 55903 w 876352"/>
                <a:gd name="csY19" fmla="*/ 233496 h 816263"/>
                <a:gd name="csX20" fmla="*/ 48836 w 876352"/>
                <a:gd name="csY20" fmla="*/ 272234 h 816263"/>
                <a:gd name="csX21" fmla="*/ 103824 w 876352"/>
                <a:gd name="csY21" fmla="*/ 311468 h 816263"/>
                <a:gd name="csX22" fmla="*/ 103905 w 876352"/>
                <a:gd name="csY22" fmla="*/ 311558 h 816263"/>
                <a:gd name="csX23" fmla="*/ 103890 w 876352"/>
                <a:gd name="csY23" fmla="*/ 311601 h 816263"/>
                <a:gd name="csX24" fmla="*/ 100566 w 876352"/>
                <a:gd name="csY24" fmla="*/ 324802 h 816263"/>
                <a:gd name="csX25" fmla="*/ 110463 w 876352"/>
                <a:gd name="csY25" fmla="*/ 344434 h 816263"/>
                <a:gd name="csX26" fmla="*/ 171966 w 876352"/>
                <a:gd name="csY26" fmla="*/ 354578 h 816263"/>
                <a:gd name="csX27" fmla="*/ 193092 w 876352"/>
                <a:gd name="csY27" fmla="*/ 377590 h 816263"/>
                <a:gd name="csX28" fmla="*/ 195311 w 876352"/>
                <a:gd name="csY28" fmla="*/ 379143 h 816263"/>
                <a:gd name="csX29" fmla="*/ 138161 w 876352"/>
                <a:gd name="csY29" fmla="*/ 512759 h 816263"/>
                <a:gd name="csX30" fmla="*/ 80430 w 876352"/>
                <a:gd name="csY30" fmla="*/ 572519 h 816263"/>
                <a:gd name="csX31" fmla="*/ 353550 w 876352"/>
                <a:gd name="csY31" fmla="*/ 816264 h 816263"/>
                <a:gd name="csX32" fmla="*/ 475594 w 876352"/>
                <a:gd name="csY32" fmla="*/ 668807 h 816263"/>
                <a:gd name="csX33" fmla="*/ 508103 w 876352"/>
                <a:gd name="csY33" fmla="*/ 556860 h 816263"/>
                <a:gd name="csX34" fmla="*/ 513056 w 876352"/>
                <a:gd name="csY34" fmla="*/ 556755 h 816263"/>
                <a:gd name="csX35" fmla="*/ 515618 w 876352"/>
                <a:gd name="csY35" fmla="*/ 555879 h 816263"/>
                <a:gd name="csX36" fmla="*/ 563148 w 876352"/>
                <a:gd name="csY36" fmla="*/ 614667 h 816263"/>
                <a:gd name="csX37" fmla="*/ 588180 w 876352"/>
                <a:gd name="csY37" fmla="*/ 614667 h 816263"/>
                <a:gd name="csX38" fmla="*/ 600295 w 876352"/>
                <a:gd name="csY38" fmla="*/ 601942 h 816263"/>
                <a:gd name="csX39" fmla="*/ 600393 w 876352"/>
                <a:gd name="csY39" fmla="*/ 601897 h 816263"/>
                <a:gd name="csX40" fmla="*/ 600438 w 876352"/>
                <a:gd name="csY40" fmla="*/ 601942 h 816263"/>
                <a:gd name="csX41" fmla="*/ 671142 w 876352"/>
                <a:gd name="csY41" fmla="*/ 646557 h 816263"/>
                <a:gd name="csX42" fmla="*/ 677715 w 876352"/>
                <a:gd name="csY42" fmla="*/ 646205 h 816263"/>
                <a:gd name="csX43" fmla="*/ 702899 w 876352"/>
                <a:gd name="csY43" fmla="*/ 632727 h 816263"/>
                <a:gd name="csX44" fmla="*/ 712967 w 876352"/>
                <a:gd name="csY44" fmla="*/ 608705 h 816263"/>
                <a:gd name="csX45" fmla="*/ 713100 w 876352"/>
                <a:gd name="csY45" fmla="*/ 608648 h 816263"/>
                <a:gd name="csX46" fmla="*/ 776051 w 876352"/>
                <a:gd name="csY46" fmla="*/ 638737 h 816263"/>
                <a:gd name="csX47" fmla="*/ 875015 w 876352"/>
                <a:gd name="csY47" fmla="*/ 570709 h 816263"/>
                <a:gd name="csX48" fmla="*/ 875568 w 876352"/>
                <a:gd name="csY48" fmla="*/ 561832 h 816263"/>
                <a:gd name="csX49" fmla="*/ 776889 w 876352"/>
                <a:gd name="csY49" fmla="*/ 619706 h 816263"/>
                <a:gd name="csX50" fmla="*/ 711252 w 876352"/>
                <a:gd name="csY50" fmla="*/ 581006 h 816263"/>
                <a:gd name="csX51" fmla="*/ 697789 w 876352"/>
                <a:gd name="csY51" fmla="*/ 580542 h 816263"/>
                <a:gd name="csX52" fmla="*/ 694821 w 876352"/>
                <a:gd name="csY52" fmla="*/ 588550 h 816263"/>
                <a:gd name="csX53" fmla="*/ 688002 w 876352"/>
                <a:gd name="csY53" fmla="*/ 620811 h 816263"/>
                <a:gd name="csX54" fmla="*/ 675619 w 876352"/>
                <a:gd name="csY54" fmla="*/ 627259 h 816263"/>
                <a:gd name="csX55" fmla="*/ 605639 w 876352"/>
                <a:gd name="csY55" fmla="*/ 574358 h 816263"/>
                <a:gd name="csX56" fmla="*/ 592690 w 876352"/>
                <a:gd name="csY56" fmla="*/ 570646 h 816263"/>
                <a:gd name="csX57" fmla="*/ 587856 w 876352"/>
                <a:gd name="csY57" fmla="*/ 577806 h 816263"/>
                <a:gd name="csX58" fmla="*/ 578959 w 876352"/>
                <a:gd name="csY58" fmla="*/ 597999 h 816263"/>
                <a:gd name="csX59" fmla="*/ 571225 w 876352"/>
                <a:gd name="csY59" fmla="*/ 597408 h 816263"/>
                <a:gd name="csX60" fmla="*/ 528648 w 876352"/>
                <a:gd name="csY60" fmla="*/ 539620 h 816263"/>
                <a:gd name="csX61" fmla="*/ 516009 w 876352"/>
                <a:gd name="csY61" fmla="*/ 535229 h 816263"/>
                <a:gd name="csX62" fmla="*/ 513151 w 876352"/>
                <a:gd name="csY62" fmla="*/ 536467 h 816263"/>
                <a:gd name="csX63" fmla="*/ 522152 w 876352"/>
                <a:gd name="csY63" fmla="*/ 502225 h 816263"/>
                <a:gd name="csX64" fmla="*/ 513881 w 876352"/>
                <a:gd name="csY64" fmla="*/ 487343 h 816263"/>
                <a:gd name="csX65" fmla="*/ 510513 w 876352"/>
                <a:gd name="csY65" fmla="*/ 486880 h 816263"/>
                <a:gd name="csX66" fmla="*/ 510513 w 876352"/>
                <a:gd name="csY66" fmla="*/ 486880 h 816263"/>
                <a:gd name="csX67" fmla="*/ 504798 w 876352"/>
                <a:gd name="csY67" fmla="*/ 493109 h 816263"/>
                <a:gd name="csX68" fmla="*/ 492339 w 876352"/>
                <a:gd name="csY68" fmla="*/ 541172 h 816263"/>
                <a:gd name="csX69" fmla="*/ 490339 w 876352"/>
                <a:gd name="csY69" fmla="*/ 549335 h 816263"/>
                <a:gd name="csX70" fmla="*/ 489805 w 876352"/>
                <a:gd name="csY70" fmla="*/ 551478 h 816263"/>
                <a:gd name="csX71" fmla="*/ 457620 w 876352"/>
                <a:gd name="csY71" fmla="*/ 662521 h 816263"/>
                <a:gd name="csX72" fmla="*/ 356846 w 876352"/>
                <a:gd name="csY72" fmla="*/ 793661 h 816263"/>
                <a:gd name="csX73" fmla="*/ 110558 w 876352"/>
                <a:gd name="csY73" fmla="*/ 573776 h 816263"/>
                <a:gd name="csX74" fmla="*/ 154573 w 876352"/>
                <a:gd name="csY74" fmla="*/ 522522 h 816263"/>
                <a:gd name="csX75" fmla="*/ 215142 w 876352"/>
                <a:gd name="csY75" fmla="*/ 378695 h 816263"/>
                <a:gd name="csX76" fmla="*/ 212018 w 876352"/>
                <a:gd name="csY76" fmla="*/ 368941 h 816263"/>
                <a:gd name="csX77" fmla="*/ 200474 w 876352"/>
                <a:gd name="csY77" fmla="*/ 359340 h 816263"/>
                <a:gd name="csX78" fmla="*/ 193368 w 876352"/>
                <a:gd name="csY78" fmla="*/ 352006 h 816263"/>
                <a:gd name="csX79" fmla="*/ 192482 w 876352"/>
                <a:gd name="csY79" fmla="*/ 350872 h 816263"/>
                <a:gd name="csX80" fmla="*/ 185958 w 876352"/>
                <a:gd name="csY80" fmla="*/ 340195 h 816263"/>
                <a:gd name="csX81" fmla="*/ 175337 w 876352"/>
                <a:gd name="csY81" fmla="*/ 334670 h 816263"/>
                <a:gd name="csX82" fmla="*/ 122645 w 876352"/>
                <a:gd name="csY82" fmla="*/ 329689 h 816263"/>
                <a:gd name="csX83" fmla="*/ 119664 w 876352"/>
                <a:gd name="csY83" fmla="*/ 324650 h 816263"/>
                <a:gd name="csX84" fmla="*/ 129189 w 876352"/>
                <a:gd name="csY84" fmla="*/ 310620 h 816263"/>
                <a:gd name="csX85" fmla="*/ 130362 w 876352"/>
                <a:gd name="csY85" fmla="*/ 297201 h 816263"/>
                <a:gd name="csX86" fmla="*/ 123055 w 876352"/>
                <a:gd name="csY86" fmla="*/ 293799 h 816263"/>
                <a:gd name="csX87" fmla="*/ 123007 w 876352"/>
                <a:gd name="csY87" fmla="*/ 293799 h 816263"/>
                <a:gd name="csX88" fmla="*/ 67105 w 876352"/>
                <a:gd name="csY88" fmla="*/ 266490 h 816263"/>
                <a:gd name="csX89" fmla="*/ 79487 w 876352"/>
                <a:gd name="csY89" fmla="*/ 237658 h 816263"/>
                <a:gd name="csX90" fmla="*/ 83289 w 876352"/>
                <a:gd name="csY90" fmla="*/ 224736 h 816263"/>
                <a:gd name="csX91" fmla="*/ 77039 w 876352"/>
                <a:gd name="csY91" fmla="*/ 220008 h 816263"/>
                <a:gd name="csX92" fmla="*/ 26262 w 876352"/>
                <a:gd name="csY92" fmla="*/ 190157 h 816263"/>
                <a:gd name="csX93" fmla="*/ 25976 w 876352"/>
                <a:gd name="csY93" fmla="*/ 119358 h 816263"/>
                <a:gd name="csX94" fmla="*/ 26107 w 876352"/>
                <a:gd name="csY94" fmla="*/ 119327 h 816263"/>
                <a:gd name="csX95" fmla="*/ 26138 w 876352"/>
                <a:gd name="csY95" fmla="*/ 119358 h 816263"/>
                <a:gd name="csX96" fmla="*/ 89546 w 876352"/>
                <a:gd name="csY96" fmla="*/ 157258 h 816263"/>
                <a:gd name="csX97" fmla="*/ 158126 w 876352"/>
                <a:gd name="csY97" fmla="*/ 172498 h 816263"/>
                <a:gd name="csX98" fmla="*/ 207256 w 876352"/>
                <a:gd name="csY98" fmla="*/ 191167 h 816263"/>
                <a:gd name="csX99" fmla="*/ 232487 w 876352"/>
                <a:gd name="csY99" fmla="*/ 256127 h 816263"/>
                <a:gd name="csX100" fmla="*/ 233164 w 876352"/>
                <a:gd name="csY100" fmla="*/ 259337 h 816263"/>
                <a:gd name="csX101" fmla="*/ 207827 w 876352"/>
                <a:gd name="csY101" fmla="*/ 332680 h 816263"/>
                <a:gd name="csX102" fmla="*/ 215030 w 876352"/>
                <a:gd name="csY102" fmla="*/ 344063 h 816263"/>
                <a:gd name="csX103" fmla="*/ 226096 w 876352"/>
                <a:gd name="csY103" fmla="*/ 337957 h 816263"/>
                <a:gd name="csX104" fmla="*/ 256205 w 876352"/>
                <a:gd name="csY104" fmla="*/ 253022 h 816263"/>
                <a:gd name="csX105" fmla="*/ 441304 w 876352"/>
                <a:gd name="csY105" fmla="*/ 23060 h 816263"/>
                <a:gd name="csX106" fmla="*/ 709909 w 876352"/>
                <a:gd name="csY106" fmla="*/ 218275 h 816263"/>
                <a:gd name="csX107" fmla="*/ 551956 w 876352"/>
                <a:gd name="csY107" fmla="*/ 387106 h 816263"/>
                <a:gd name="csX108" fmla="*/ 526562 w 876352"/>
                <a:gd name="csY108" fmla="*/ 434731 h 816263"/>
                <a:gd name="csX109" fmla="*/ 518257 w 876352"/>
                <a:gd name="csY109" fmla="*/ 453952 h 816263"/>
                <a:gd name="csX110" fmla="*/ 520920 w 876352"/>
                <a:gd name="csY110" fmla="*/ 460619 h 816263"/>
                <a:gd name="csX111" fmla="*/ 524924 w 876352"/>
                <a:gd name="csY111" fmla="*/ 460619 h 816263"/>
                <a:gd name="csX112" fmla="*/ 537668 w 876352"/>
                <a:gd name="csY112" fmla="*/ 455419 h 816263"/>
                <a:gd name="csX113" fmla="*/ 539450 w 876352"/>
                <a:gd name="csY113" fmla="*/ 454409 h 816263"/>
                <a:gd name="csX114" fmla="*/ 655255 w 876352"/>
                <a:gd name="csY114" fmla="*/ 417833 h 816263"/>
                <a:gd name="csX115" fmla="*/ 708166 w 876352"/>
                <a:gd name="csY115" fmla="*/ 461562 h 816263"/>
                <a:gd name="csX116" fmla="*/ 768526 w 876352"/>
                <a:gd name="csY116" fmla="*/ 527199 h 816263"/>
                <a:gd name="csX117" fmla="*/ 849908 w 876352"/>
                <a:gd name="csY117" fmla="*/ 574529 h 816263"/>
                <a:gd name="csX118" fmla="*/ 849987 w 876352"/>
                <a:gd name="csY118" fmla="*/ 574638 h 816263"/>
                <a:gd name="csX119" fmla="*/ 849974 w 876352"/>
                <a:gd name="csY119" fmla="*/ 574672 h 816263"/>
                <a:gd name="csX120" fmla="*/ 776879 w 876352"/>
                <a:gd name="csY120" fmla="*/ 619706 h 8162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Lst>
              <a:rect l="l" t="t" r="r" b="b"/>
              <a:pathLst>
                <a:path w="876352" h="816263">
                  <a:moveTo>
                    <a:pt x="875568" y="561832"/>
                  </a:moveTo>
                  <a:cubicBezTo>
                    <a:pt x="873944" y="558185"/>
                    <a:pt x="870218" y="555937"/>
                    <a:pt x="866233" y="556203"/>
                  </a:cubicBezTo>
                  <a:cubicBezTo>
                    <a:pt x="834963" y="558260"/>
                    <a:pt x="807055" y="535943"/>
                    <a:pt x="781156" y="512883"/>
                  </a:cubicBezTo>
                  <a:cubicBezTo>
                    <a:pt x="759800" y="493773"/>
                    <a:pt x="740362" y="472623"/>
                    <a:pt x="723120" y="449732"/>
                  </a:cubicBezTo>
                  <a:cubicBezTo>
                    <a:pt x="704556" y="426025"/>
                    <a:pt x="691135" y="408899"/>
                    <a:pt x="660846" y="399545"/>
                  </a:cubicBezTo>
                  <a:cubicBezTo>
                    <a:pt x="624013" y="388115"/>
                    <a:pt x="584141" y="403793"/>
                    <a:pt x="554299" y="421453"/>
                  </a:cubicBezTo>
                  <a:cubicBezTo>
                    <a:pt x="558462" y="413556"/>
                    <a:pt x="563053" y="405451"/>
                    <a:pt x="568215" y="397021"/>
                  </a:cubicBezTo>
                  <a:cubicBezTo>
                    <a:pt x="624803" y="304629"/>
                    <a:pt x="741513" y="217656"/>
                    <a:pt x="741513" y="217656"/>
                  </a:cubicBezTo>
                  <a:lnTo>
                    <a:pt x="441961" y="0"/>
                  </a:lnTo>
                  <a:cubicBezTo>
                    <a:pt x="357010" y="55475"/>
                    <a:pt x="289510" y="133879"/>
                    <a:pt x="247280" y="226133"/>
                  </a:cubicBezTo>
                  <a:cubicBezTo>
                    <a:pt x="242785" y="207876"/>
                    <a:pt x="233589" y="191112"/>
                    <a:pt x="220610" y="177508"/>
                  </a:cubicBezTo>
                  <a:cubicBezTo>
                    <a:pt x="201741" y="159048"/>
                    <a:pt x="183615" y="156639"/>
                    <a:pt x="160678" y="153581"/>
                  </a:cubicBezTo>
                  <a:cubicBezTo>
                    <a:pt x="138548" y="151084"/>
                    <a:pt x="116743" y="146263"/>
                    <a:pt x="95623" y="139198"/>
                  </a:cubicBezTo>
                  <a:cubicBezTo>
                    <a:pt x="74277" y="132007"/>
                    <a:pt x="44569" y="119624"/>
                    <a:pt x="33053" y="95231"/>
                  </a:cubicBezTo>
                  <a:cubicBezTo>
                    <a:pt x="30807" y="90474"/>
                    <a:pt x="25131" y="88438"/>
                    <a:pt x="20373" y="90684"/>
                  </a:cubicBezTo>
                  <a:cubicBezTo>
                    <a:pt x="18562" y="91538"/>
                    <a:pt x="17066" y="92943"/>
                    <a:pt x="16099" y="94698"/>
                  </a:cubicBezTo>
                  <a:cubicBezTo>
                    <a:pt x="-342" y="124511"/>
                    <a:pt x="-7123" y="172079"/>
                    <a:pt x="9945" y="200025"/>
                  </a:cubicBezTo>
                  <a:cubicBezTo>
                    <a:pt x="21332" y="215739"/>
                    <a:pt x="37430" y="227417"/>
                    <a:pt x="55903" y="233363"/>
                  </a:cubicBezTo>
                  <a:cubicBezTo>
                    <a:pt x="55940" y="233392"/>
                    <a:pt x="55946" y="233446"/>
                    <a:pt x="55916" y="233483"/>
                  </a:cubicBezTo>
                  <a:cubicBezTo>
                    <a:pt x="55912" y="233488"/>
                    <a:pt x="55908" y="233492"/>
                    <a:pt x="55903" y="233496"/>
                  </a:cubicBezTo>
                  <a:cubicBezTo>
                    <a:pt x="47078" y="244351"/>
                    <a:pt x="44412" y="258962"/>
                    <a:pt x="48836" y="272234"/>
                  </a:cubicBezTo>
                  <a:cubicBezTo>
                    <a:pt x="54199" y="289379"/>
                    <a:pt x="72934" y="306524"/>
                    <a:pt x="103824" y="311468"/>
                  </a:cubicBezTo>
                  <a:cubicBezTo>
                    <a:pt x="103871" y="311470"/>
                    <a:pt x="103908" y="311510"/>
                    <a:pt x="103905" y="311558"/>
                  </a:cubicBezTo>
                  <a:cubicBezTo>
                    <a:pt x="103904" y="311573"/>
                    <a:pt x="103899" y="311588"/>
                    <a:pt x="103890" y="311601"/>
                  </a:cubicBezTo>
                  <a:cubicBezTo>
                    <a:pt x="101740" y="315671"/>
                    <a:pt x="100600" y="320199"/>
                    <a:pt x="100566" y="324802"/>
                  </a:cubicBezTo>
                  <a:cubicBezTo>
                    <a:pt x="100670" y="332521"/>
                    <a:pt x="104320" y="339761"/>
                    <a:pt x="110463" y="344434"/>
                  </a:cubicBezTo>
                  <a:cubicBezTo>
                    <a:pt x="127608" y="358654"/>
                    <a:pt x="157926" y="356521"/>
                    <a:pt x="171966" y="354578"/>
                  </a:cubicBezTo>
                  <a:cubicBezTo>
                    <a:pt x="177146" y="363769"/>
                    <a:pt x="184376" y="371644"/>
                    <a:pt x="193092" y="377590"/>
                  </a:cubicBezTo>
                  <a:lnTo>
                    <a:pt x="195311" y="379143"/>
                  </a:lnTo>
                  <a:cubicBezTo>
                    <a:pt x="183839" y="426554"/>
                    <a:pt x="164523" y="471716"/>
                    <a:pt x="138161" y="512759"/>
                  </a:cubicBezTo>
                  <a:cubicBezTo>
                    <a:pt x="123541" y="536678"/>
                    <a:pt x="103829" y="557081"/>
                    <a:pt x="80430" y="572519"/>
                  </a:cubicBezTo>
                  <a:lnTo>
                    <a:pt x="353550" y="816264"/>
                  </a:lnTo>
                  <a:cubicBezTo>
                    <a:pt x="353550" y="816264"/>
                    <a:pt x="434151" y="786917"/>
                    <a:pt x="475594" y="668807"/>
                  </a:cubicBezTo>
                  <a:cubicBezTo>
                    <a:pt x="488452" y="632109"/>
                    <a:pt x="499304" y="594737"/>
                    <a:pt x="508103" y="556860"/>
                  </a:cubicBezTo>
                  <a:cubicBezTo>
                    <a:pt x="509734" y="557273"/>
                    <a:pt x="511444" y="557236"/>
                    <a:pt x="513056" y="556755"/>
                  </a:cubicBezTo>
                  <a:lnTo>
                    <a:pt x="515618" y="555879"/>
                  </a:lnTo>
                  <a:cubicBezTo>
                    <a:pt x="524162" y="571843"/>
                    <a:pt x="544098" y="605752"/>
                    <a:pt x="563148" y="614667"/>
                  </a:cubicBezTo>
                  <a:cubicBezTo>
                    <a:pt x="570965" y="618862"/>
                    <a:pt x="580362" y="618862"/>
                    <a:pt x="588180" y="614667"/>
                  </a:cubicBezTo>
                  <a:cubicBezTo>
                    <a:pt x="593349" y="611667"/>
                    <a:pt x="597552" y="607252"/>
                    <a:pt x="600295" y="601942"/>
                  </a:cubicBezTo>
                  <a:cubicBezTo>
                    <a:pt x="600310" y="601903"/>
                    <a:pt x="600353" y="601882"/>
                    <a:pt x="600393" y="601897"/>
                  </a:cubicBezTo>
                  <a:cubicBezTo>
                    <a:pt x="600414" y="601905"/>
                    <a:pt x="600431" y="601921"/>
                    <a:pt x="600438" y="601942"/>
                  </a:cubicBezTo>
                  <a:cubicBezTo>
                    <a:pt x="626546" y="639042"/>
                    <a:pt x="653569" y="646557"/>
                    <a:pt x="671142" y="646557"/>
                  </a:cubicBezTo>
                  <a:cubicBezTo>
                    <a:pt x="673338" y="646559"/>
                    <a:pt x="675531" y="646442"/>
                    <a:pt x="677715" y="646205"/>
                  </a:cubicBezTo>
                  <a:cubicBezTo>
                    <a:pt x="687591" y="645316"/>
                    <a:pt x="696682" y="640451"/>
                    <a:pt x="702899" y="632727"/>
                  </a:cubicBezTo>
                  <a:cubicBezTo>
                    <a:pt x="708212" y="625688"/>
                    <a:pt x="711674" y="617429"/>
                    <a:pt x="712967" y="608705"/>
                  </a:cubicBezTo>
                  <a:cubicBezTo>
                    <a:pt x="712967" y="608619"/>
                    <a:pt x="713043" y="608590"/>
                    <a:pt x="713100" y="608648"/>
                  </a:cubicBezTo>
                  <a:cubicBezTo>
                    <a:pt x="728264" y="621316"/>
                    <a:pt x="752305" y="637718"/>
                    <a:pt x="776051" y="638737"/>
                  </a:cubicBezTo>
                  <a:cubicBezTo>
                    <a:pt x="815103" y="640642"/>
                    <a:pt x="856061" y="605228"/>
                    <a:pt x="875015" y="570709"/>
                  </a:cubicBezTo>
                  <a:cubicBezTo>
                    <a:pt x="876577" y="568000"/>
                    <a:pt x="876782" y="564714"/>
                    <a:pt x="875568" y="561832"/>
                  </a:cubicBezTo>
                  <a:close/>
                  <a:moveTo>
                    <a:pt x="776889" y="619706"/>
                  </a:moveTo>
                  <a:cubicBezTo>
                    <a:pt x="746495" y="618411"/>
                    <a:pt x="711595" y="581377"/>
                    <a:pt x="711252" y="581006"/>
                  </a:cubicBezTo>
                  <a:cubicBezTo>
                    <a:pt x="707663" y="577161"/>
                    <a:pt x="701636" y="576953"/>
                    <a:pt x="697789" y="580542"/>
                  </a:cubicBezTo>
                  <a:cubicBezTo>
                    <a:pt x="695592" y="582594"/>
                    <a:pt x="694492" y="585562"/>
                    <a:pt x="694821" y="588550"/>
                  </a:cubicBezTo>
                  <a:cubicBezTo>
                    <a:pt x="696039" y="599755"/>
                    <a:pt x="693650" y="611056"/>
                    <a:pt x="688002" y="620811"/>
                  </a:cubicBezTo>
                  <a:cubicBezTo>
                    <a:pt x="684955" y="624595"/>
                    <a:pt x="680466" y="626934"/>
                    <a:pt x="675619" y="627259"/>
                  </a:cubicBezTo>
                  <a:cubicBezTo>
                    <a:pt x="650854" y="629945"/>
                    <a:pt x="626013" y="611181"/>
                    <a:pt x="605639" y="574358"/>
                  </a:cubicBezTo>
                  <a:cubicBezTo>
                    <a:pt x="603088" y="569757"/>
                    <a:pt x="597291" y="568095"/>
                    <a:pt x="592690" y="570646"/>
                  </a:cubicBezTo>
                  <a:cubicBezTo>
                    <a:pt x="590026" y="572122"/>
                    <a:pt x="588230" y="574783"/>
                    <a:pt x="587856" y="577806"/>
                  </a:cubicBezTo>
                  <a:cubicBezTo>
                    <a:pt x="586360" y="589883"/>
                    <a:pt x="582284" y="596160"/>
                    <a:pt x="578959" y="597999"/>
                  </a:cubicBezTo>
                  <a:cubicBezTo>
                    <a:pt x="578216" y="598399"/>
                    <a:pt x="575978" y="599637"/>
                    <a:pt x="571225" y="597408"/>
                  </a:cubicBezTo>
                  <a:cubicBezTo>
                    <a:pt x="557890" y="591160"/>
                    <a:pt x="538011" y="558651"/>
                    <a:pt x="528648" y="539620"/>
                  </a:cubicBezTo>
                  <a:cubicBezTo>
                    <a:pt x="526345" y="534945"/>
                    <a:pt x="520714" y="532989"/>
                    <a:pt x="516009" y="535229"/>
                  </a:cubicBezTo>
                  <a:cubicBezTo>
                    <a:pt x="516009" y="535229"/>
                    <a:pt x="514885" y="535743"/>
                    <a:pt x="513151" y="536467"/>
                  </a:cubicBezTo>
                  <a:cubicBezTo>
                    <a:pt x="516009" y="524723"/>
                    <a:pt x="518942" y="513398"/>
                    <a:pt x="522152" y="502225"/>
                  </a:cubicBezTo>
                  <a:cubicBezTo>
                    <a:pt x="523977" y="495831"/>
                    <a:pt x="520274" y="489168"/>
                    <a:pt x="513881" y="487343"/>
                  </a:cubicBezTo>
                  <a:cubicBezTo>
                    <a:pt x="512785" y="487029"/>
                    <a:pt x="511652" y="486874"/>
                    <a:pt x="510513" y="486880"/>
                  </a:cubicBezTo>
                  <a:lnTo>
                    <a:pt x="510513" y="486880"/>
                  </a:lnTo>
                  <a:cubicBezTo>
                    <a:pt x="507751" y="487968"/>
                    <a:pt x="505644" y="490265"/>
                    <a:pt x="504798" y="493109"/>
                  </a:cubicBezTo>
                  <a:cubicBezTo>
                    <a:pt x="500283" y="508673"/>
                    <a:pt x="496473" y="524418"/>
                    <a:pt x="492339" y="541172"/>
                  </a:cubicBezTo>
                  <a:lnTo>
                    <a:pt x="490339" y="549335"/>
                  </a:lnTo>
                  <a:lnTo>
                    <a:pt x="489805" y="551478"/>
                  </a:lnTo>
                  <a:cubicBezTo>
                    <a:pt x="481110" y="589052"/>
                    <a:pt x="470366" y="626121"/>
                    <a:pt x="457620" y="662521"/>
                  </a:cubicBezTo>
                  <a:cubicBezTo>
                    <a:pt x="427893" y="747141"/>
                    <a:pt x="377963" y="782155"/>
                    <a:pt x="356846" y="793661"/>
                  </a:cubicBezTo>
                  <a:lnTo>
                    <a:pt x="110558" y="573776"/>
                  </a:lnTo>
                  <a:cubicBezTo>
                    <a:pt x="127915" y="559196"/>
                    <a:pt x="142782" y="541884"/>
                    <a:pt x="154573" y="522522"/>
                  </a:cubicBezTo>
                  <a:cubicBezTo>
                    <a:pt x="182702" y="478325"/>
                    <a:pt x="203179" y="429700"/>
                    <a:pt x="215142" y="378695"/>
                  </a:cubicBezTo>
                  <a:cubicBezTo>
                    <a:pt x="216064" y="375114"/>
                    <a:pt x="214849" y="371321"/>
                    <a:pt x="212018" y="368941"/>
                  </a:cubicBezTo>
                  <a:lnTo>
                    <a:pt x="200474" y="359340"/>
                  </a:lnTo>
                  <a:cubicBezTo>
                    <a:pt x="197832" y="357177"/>
                    <a:pt x="195447" y="354716"/>
                    <a:pt x="193368" y="352006"/>
                  </a:cubicBezTo>
                  <a:lnTo>
                    <a:pt x="192482" y="350872"/>
                  </a:lnTo>
                  <a:cubicBezTo>
                    <a:pt x="189973" y="347529"/>
                    <a:pt x="187789" y="343953"/>
                    <a:pt x="185958" y="340195"/>
                  </a:cubicBezTo>
                  <a:cubicBezTo>
                    <a:pt x="184161" y="336081"/>
                    <a:pt x="179737" y="333779"/>
                    <a:pt x="175337" y="334670"/>
                  </a:cubicBezTo>
                  <a:cubicBezTo>
                    <a:pt x="165612" y="336652"/>
                    <a:pt x="135066" y="339976"/>
                    <a:pt x="122645" y="329689"/>
                  </a:cubicBezTo>
                  <a:cubicBezTo>
                    <a:pt x="119683" y="327250"/>
                    <a:pt x="119673" y="325364"/>
                    <a:pt x="119664" y="324650"/>
                  </a:cubicBezTo>
                  <a:cubicBezTo>
                    <a:pt x="120842" y="318890"/>
                    <a:pt x="124270" y="313840"/>
                    <a:pt x="129189" y="310620"/>
                  </a:cubicBezTo>
                  <a:cubicBezTo>
                    <a:pt x="133219" y="307238"/>
                    <a:pt x="133744" y="301230"/>
                    <a:pt x="130362" y="297201"/>
                  </a:cubicBezTo>
                  <a:cubicBezTo>
                    <a:pt x="128550" y="295041"/>
                    <a:pt x="125874" y="293796"/>
                    <a:pt x="123055" y="293799"/>
                  </a:cubicBezTo>
                  <a:lnTo>
                    <a:pt x="123007" y="293799"/>
                  </a:lnTo>
                  <a:cubicBezTo>
                    <a:pt x="85441" y="293741"/>
                    <a:pt x="70096" y="276015"/>
                    <a:pt x="67105" y="266490"/>
                  </a:cubicBezTo>
                  <a:cubicBezTo>
                    <a:pt x="63922" y="255162"/>
                    <a:pt x="69081" y="243150"/>
                    <a:pt x="79487" y="237658"/>
                  </a:cubicBezTo>
                  <a:cubicBezTo>
                    <a:pt x="84106" y="235140"/>
                    <a:pt x="85807" y="229353"/>
                    <a:pt x="83289" y="224736"/>
                  </a:cubicBezTo>
                  <a:cubicBezTo>
                    <a:pt x="81980" y="222336"/>
                    <a:pt x="79705" y="220614"/>
                    <a:pt x="77039" y="220008"/>
                  </a:cubicBezTo>
                  <a:cubicBezTo>
                    <a:pt x="66429" y="217580"/>
                    <a:pt x="36634" y="207502"/>
                    <a:pt x="26262" y="190157"/>
                  </a:cubicBezTo>
                  <a:cubicBezTo>
                    <a:pt x="15784" y="173012"/>
                    <a:pt x="17689" y="143170"/>
                    <a:pt x="25976" y="119358"/>
                  </a:cubicBezTo>
                  <a:cubicBezTo>
                    <a:pt x="26004" y="119313"/>
                    <a:pt x="26062" y="119300"/>
                    <a:pt x="26107" y="119327"/>
                  </a:cubicBezTo>
                  <a:cubicBezTo>
                    <a:pt x="26120" y="119335"/>
                    <a:pt x="26130" y="119345"/>
                    <a:pt x="26138" y="119358"/>
                  </a:cubicBezTo>
                  <a:cubicBezTo>
                    <a:pt x="43216" y="139675"/>
                    <a:pt x="69600" y="150533"/>
                    <a:pt x="89546" y="157258"/>
                  </a:cubicBezTo>
                  <a:cubicBezTo>
                    <a:pt x="111805" y="164739"/>
                    <a:pt x="134792" y="169847"/>
                    <a:pt x="158126" y="172498"/>
                  </a:cubicBezTo>
                  <a:cubicBezTo>
                    <a:pt x="179824" y="175355"/>
                    <a:pt x="192921" y="177136"/>
                    <a:pt x="207256" y="191167"/>
                  </a:cubicBezTo>
                  <a:cubicBezTo>
                    <a:pt x="223341" y="208999"/>
                    <a:pt x="232319" y="232114"/>
                    <a:pt x="232487" y="256127"/>
                  </a:cubicBezTo>
                  <a:cubicBezTo>
                    <a:pt x="232531" y="257227"/>
                    <a:pt x="232760" y="258313"/>
                    <a:pt x="233164" y="259337"/>
                  </a:cubicBezTo>
                  <a:cubicBezTo>
                    <a:pt x="221810" y="287979"/>
                    <a:pt x="213895" y="311991"/>
                    <a:pt x="207827" y="332680"/>
                  </a:cubicBezTo>
                  <a:cubicBezTo>
                    <a:pt x="206673" y="337812"/>
                    <a:pt x="209898" y="342909"/>
                    <a:pt x="215030" y="344063"/>
                  </a:cubicBezTo>
                  <a:cubicBezTo>
                    <a:pt x="219733" y="345120"/>
                    <a:pt x="224484" y="342499"/>
                    <a:pt x="226096" y="337957"/>
                  </a:cubicBezTo>
                  <a:cubicBezTo>
                    <a:pt x="234566" y="309114"/>
                    <a:pt x="244618" y="280760"/>
                    <a:pt x="256205" y="253022"/>
                  </a:cubicBezTo>
                  <a:cubicBezTo>
                    <a:pt x="295020" y="160468"/>
                    <a:pt x="359181" y="80756"/>
                    <a:pt x="441304" y="23060"/>
                  </a:cubicBezTo>
                  <a:lnTo>
                    <a:pt x="709909" y="218275"/>
                  </a:lnTo>
                  <a:cubicBezTo>
                    <a:pt x="673257" y="247993"/>
                    <a:pt x="595952" y="315306"/>
                    <a:pt x="551956" y="387106"/>
                  </a:cubicBezTo>
                  <a:cubicBezTo>
                    <a:pt x="542513" y="402439"/>
                    <a:pt x="534032" y="418345"/>
                    <a:pt x="526562" y="434731"/>
                  </a:cubicBezTo>
                  <a:cubicBezTo>
                    <a:pt x="523505" y="441255"/>
                    <a:pt x="520762" y="447646"/>
                    <a:pt x="518257" y="453952"/>
                  </a:cubicBezTo>
                  <a:cubicBezTo>
                    <a:pt x="517151" y="456529"/>
                    <a:pt x="518343" y="459514"/>
                    <a:pt x="520920" y="460619"/>
                  </a:cubicBezTo>
                  <a:cubicBezTo>
                    <a:pt x="522198" y="461168"/>
                    <a:pt x="523646" y="461168"/>
                    <a:pt x="524924" y="460619"/>
                  </a:cubicBezTo>
                  <a:lnTo>
                    <a:pt x="537668" y="455419"/>
                  </a:lnTo>
                  <a:lnTo>
                    <a:pt x="539450" y="454409"/>
                  </a:lnTo>
                  <a:cubicBezTo>
                    <a:pt x="565339" y="434959"/>
                    <a:pt x="614059" y="405079"/>
                    <a:pt x="655255" y="417833"/>
                  </a:cubicBezTo>
                  <a:cubicBezTo>
                    <a:pt x="679858" y="425453"/>
                    <a:pt x="690497" y="439036"/>
                    <a:pt x="708166" y="461562"/>
                  </a:cubicBezTo>
                  <a:cubicBezTo>
                    <a:pt x="726099" y="485356"/>
                    <a:pt x="746315" y="507340"/>
                    <a:pt x="768526" y="527199"/>
                  </a:cubicBezTo>
                  <a:cubicBezTo>
                    <a:pt x="791872" y="547983"/>
                    <a:pt x="818827" y="569786"/>
                    <a:pt x="849908" y="574529"/>
                  </a:cubicBezTo>
                  <a:cubicBezTo>
                    <a:pt x="849960" y="574538"/>
                    <a:pt x="849995" y="574586"/>
                    <a:pt x="849987" y="574638"/>
                  </a:cubicBezTo>
                  <a:cubicBezTo>
                    <a:pt x="849985" y="574650"/>
                    <a:pt x="849980" y="574661"/>
                    <a:pt x="849974" y="574672"/>
                  </a:cubicBezTo>
                  <a:cubicBezTo>
                    <a:pt x="831753" y="599475"/>
                    <a:pt x="802664" y="621059"/>
                    <a:pt x="776879" y="619706"/>
                  </a:cubicBezTo>
                  <a:close/>
                </a:path>
              </a:pathLst>
            </a:custGeom>
            <a:grpFill/>
            <a:ln w="9525" cap="flat">
              <a:solidFill>
                <a:schemeClr val="accent3">
                  <a:lumMod val="50000"/>
                </a:schemeClr>
              </a:solidFill>
              <a:prstDash val="solid"/>
              <a:miter/>
            </a:ln>
          </p:spPr>
          <p:txBody>
            <a:bodyPr/>
            <a:lstStyle/>
            <a:p>
              <a:endParaRPr lang="en-US"/>
            </a:p>
          </p:txBody>
        </p:sp>
      </p:grpSp>
      <p:grpSp>
        <p:nvGrpSpPr>
          <p:cNvPr id="43" name="Graphic 19" descr="Flying Money outline">
            <a:extLst>
              <a:ext uri="{FF2B5EF4-FFF2-40B4-BE49-F238E27FC236}">
                <a16:creationId xmlns:a16="http://schemas.microsoft.com/office/drawing/2014/main" id="{A04541E1-7C6C-7BA5-9981-30A6ED1EB6CA}"/>
              </a:ext>
            </a:extLst>
          </p:cNvPr>
          <p:cNvGrpSpPr/>
          <p:nvPr/>
        </p:nvGrpSpPr>
        <p:grpSpPr>
          <a:xfrm>
            <a:off x="5806258" y="4201192"/>
            <a:ext cx="876352" cy="816263"/>
            <a:chOff x="4742277" y="4551845"/>
            <a:chExt cx="876352" cy="816263"/>
          </a:xfrm>
          <a:solidFill>
            <a:srgbClr val="000000"/>
          </a:solidFill>
        </p:grpSpPr>
        <p:sp>
          <p:nvSpPr>
            <p:cNvPr id="44" name="Freeform 43">
              <a:extLst>
                <a:ext uri="{FF2B5EF4-FFF2-40B4-BE49-F238E27FC236}">
                  <a16:creationId xmlns:a16="http://schemas.microsoft.com/office/drawing/2014/main" id="{FFD67045-8077-DDBE-152F-B7EC35AB8DD4}"/>
                </a:ext>
              </a:extLst>
            </p:cNvPr>
            <p:cNvSpPr/>
            <p:nvPr/>
          </p:nvSpPr>
          <p:spPr>
            <a:xfrm>
              <a:off x="5045295" y="4863370"/>
              <a:ext cx="148372" cy="144607"/>
            </a:xfrm>
            <a:custGeom>
              <a:avLst/>
              <a:gdLst>
                <a:gd name="csX0" fmla="*/ 116302 w 148372"/>
                <a:gd name="csY0" fmla="*/ 23374 h 144607"/>
                <a:gd name="csX1" fmla="*/ 57761 w 148372"/>
                <a:gd name="csY1" fmla="*/ 28 h 144607"/>
                <a:gd name="csX2" fmla="*/ 13136 w 148372"/>
                <a:gd name="csY2" fmla="*/ 19078 h 144607"/>
                <a:gd name="csX3" fmla="*/ 32043 w 148372"/>
                <a:gd name="csY3" fmla="*/ 121205 h 144607"/>
                <a:gd name="csX4" fmla="*/ 90584 w 148372"/>
                <a:gd name="csY4" fmla="*/ 144580 h 144607"/>
                <a:gd name="csX5" fmla="*/ 135209 w 148372"/>
                <a:gd name="csY5" fmla="*/ 125530 h 144607"/>
                <a:gd name="csX6" fmla="*/ 116302 w 148372"/>
                <a:gd name="csY6" fmla="*/ 23374 h 144607"/>
                <a:gd name="csX7" fmla="*/ 120778 w 148372"/>
                <a:gd name="csY7" fmla="*/ 113061 h 144607"/>
                <a:gd name="csX8" fmla="*/ 90584 w 148372"/>
                <a:gd name="csY8" fmla="*/ 125530 h 144607"/>
                <a:gd name="csX9" fmla="*/ 44559 w 148372"/>
                <a:gd name="csY9" fmla="*/ 106870 h 144607"/>
                <a:gd name="csX10" fmla="*/ 27567 w 148372"/>
                <a:gd name="csY10" fmla="*/ 31546 h 144607"/>
                <a:gd name="csX11" fmla="*/ 57761 w 148372"/>
                <a:gd name="csY11" fmla="*/ 19078 h 144607"/>
                <a:gd name="csX12" fmla="*/ 103786 w 148372"/>
                <a:gd name="csY12" fmla="*/ 37728 h 144607"/>
                <a:gd name="csX13" fmla="*/ 120816 w 148372"/>
                <a:gd name="csY13" fmla="*/ 113061 h 1446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8372" h="144607">
                  <a:moveTo>
                    <a:pt x="116302" y="23374"/>
                  </a:moveTo>
                  <a:cubicBezTo>
                    <a:pt x="100207" y="8843"/>
                    <a:pt x="79438" y="560"/>
                    <a:pt x="57761" y="28"/>
                  </a:cubicBezTo>
                  <a:cubicBezTo>
                    <a:pt x="40806" y="-502"/>
                    <a:pt x="24481" y="6467"/>
                    <a:pt x="13136" y="19078"/>
                  </a:cubicBezTo>
                  <a:cubicBezTo>
                    <a:pt x="-10124" y="46082"/>
                    <a:pt x="-1685" y="91811"/>
                    <a:pt x="32043" y="121205"/>
                  </a:cubicBezTo>
                  <a:cubicBezTo>
                    <a:pt x="48133" y="135747"/>
                    <a:pt x="68903" y="144041"/>
                    <a:pt x="90584" y="144580"/>
                  </a:cubicBezTo>
                  <a:cubicBezTo>
                    <a:pt x="107539" y="145110"/>
                    <a:pt x="123864" y="138141"/>
                    <a:pt x="135209" y="125530"/>
                  </a:cubicBezTo>
                  <a:cubicBezTo>
                    <a:pt x="158507" y="98498"/>
                    <a:pt x="150068" y="52768"/>
                    <a:pt x="116302" y="23374"/>
                  </a:cubicBezTo>
                  <a:close/>
                  <a:moveTo>
                    <a:pt x="120778" y="113061"/>
                  </a:moveTo>
                  <a:cubicBezTo>
                    <a:pt x="113034" y="121451"/>
                    <a:pt x="101992" y="126011"/>
                    <a:pt x="90584" y="125530"/>
                  </a:cubicBezTo>
                  <a:cubicBezTo>
                    <a:pt x="73516" y="124959"/>
                    <a:pt x="57206" y="118347"/>
                    <a:pt x="44559" y="106870"/>
                  </a:cubicBezTo>
                  <a:cubicBezTo>
                    <a:pt x="19204" y="84782"/>
                    <a:pt x="11422" y="50282"/>
                    <a:pt x="27567" y="31546"/>
                  </a:cubicBezTo>
                  <a:cubicBezTo>
                    <a:pt x="35311" y="23157"/>
                    <a:pt x="46353" y="18597"/>
                    <a:pt x="57761" y="19078"/>
                  </a:cubicBezTo>
                  <a:cubicBezTo>
                    <a:pt x="74827" y="19649"/>
                    <a:pt x="91137" y="26258"/>
                    <a:pt x="103786" y="37728"/>
                  </a:cubicBezTo>
                  <a:cubicBezTo>
                    <a:pt x="129179" y="59826"/>
                    <a:pt x="136961" y="94326"/>
                    <a:pt x="120816" y="113061"/>
                  </a:cubicBezTo>
                  <a:close/>
                </a:path>
              </a:pathLst>
            </a:custGeom>
            <a:grpFill/>
            <a:ln w="9525" cap="flat">
              <a:solidFill>
                <a:schemeClr val="accent3">
                  <a:lumMod val="50000"/>
                </a:schemeClr>
              </a:solidFill>
              <a:prstDash val="solid"/>
              <a:miter/>
            </a:ln>
          </p:spPr>
          <p:txBody>
            <a:bodyPr/>
            <a:lstStyle/>
            <a:p>
              <a:endParaRPr lang="en-US"/>
            </a:p>
          </p:txBody>
        </p:sp>
        <p:sp>
          <p:nvSpPr>
            <p:cNvPr id="45" name="Freeform 44">
              <a:extLst>
                <a:ext uri="{FF2B5EF4-FFF2-40B4-BE49-F238E27FC236}">
                  <a16:creationId xmlns:a16="http://schemas.microsoft.com/office/drawing/2014/main" id="{9D006A19-44E4-FFB7-D977-F45C614B2979}"/>
                </a:ext>
              </a:extLst>
            </p:cNvPr>
            <p:cNvSpPr/>
            <p:nvPr/>
          </p:nvSpPr>
          <p:spPr>
            <a:xfrm>
              <a:off x="5184625" y="4738278"/>
              <a:ext cx="65374" cy="63415"/>
            </a:xfrm>
            <a:custGeom>
              <a:avLst/>
              <a:gdLst>
                <a:gd name="csX0" fmla="*/ 50019 w 65374"/>
                <a:gd name="csY0" fmla="*/ 7076 h 63415"/>
                <a:gd name="csX1" fmla="*/ 28617 w 65374"/>
                <a:gd name="csY1" fmla="*/ 9 h 63415"/>
                <a:gd name="csX2" fmla="*/ 4671 w 65374"/>
                <a:gd name="csY2" fmla="*/ 11744 h 63415"/>
                <a:gd name="csX3" fmla="*/ 15339 w 65374"/>
                <a:gd name="csY3" fmla="*/ 56349 h 63415"/>
                <a:gd name="csX4" fmla="*/ 36742 w 65374"/>
                <a:gd name="csY4" fmla="*/ 63407 h 63415"/>
                <a:gd name="csX5" fmla="*/ 60687 w 65374"/>
                <a:gd name="csY5" fmla="*/ 51672 h 63415"/>
                <a:gd name="csX6" fmla="*/ 50019 w 65374"/>
                <a:gd name="csY6" fmla="*/ 7076 h 63415"/>
                <a:gd name="csX7" fmla="*/ 45162 w 65374"/>
                <a:gd name="csY7" fmla="*/ 40633 h 63415"/>
                <a:gd name="csX8" fmla="*/ 36742 w 65374"/>
                <a:gd name="csY8" fmla="*/ 44357 h 63415"/>
                <a:gd name="csX9" fmla="*/ 26435 w 65374"/>
                <a:gd name="csY9" fmla="*/ 40861 h 63415"/>
                <a:gd name="csX10" fmla="*/ 20187 w 65374"/>
                <a:gd name="csY10" fmla="*/ 22764 h 63415"/>
                <a:gd name="csX11" fmla="*/ 28617 w 65374"/>
                <a:gd name="csY11" fmla="*/ 19040 h 63415"/>
                <a:gd name="csX12" fmla="*/ 38923 w 65374"/>
                <a:gd name="csY12" fmla="*/ 22545 h 63415"/>
                <a:gd name="csX13" fmla="*/ 45162 w 65374"/>
                <a:gd name="csY13" fmla="*/ 40585 h 634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5374" h="63415">
                  <a:moveTo>
                    <a:pt x="50019" y="7076"/>
                  </a:moveTo>
                  <a:cubicBezTo>
                    <a:pt x="43797" y="2545"/>
                    <a:pt x="36314" y="74"/>
                    <a:pt x="28617" y="9"/>
                  </a:cubicBezTo>
                  <a:cubicBezTo>
                    <a:pt x="19197" y="-223"/>
                    <a:pt x="10259" y="4158"/>
                    <a:pt x="4671" y="11744"/>
                  </a:cubicBezTo>
                  <a:cubicBezTo>
                    <a:pt x="-4501" y="27038"/>
                    <a:pt x="240" y="46859"/>
                    <a:pt x="15339" y="56349"/>
                  </a:cubicBezTo>
                  <a:cubicBezTo>
                    <a:pt x="21564" y="60873"/>
                    <a:pt x="29046" y="63340"/>
                    <a:pt x="36742" y="63407"/>
                  </a:cubicBezTo>
                  <a:cubicBezTo>
                    <a:pt x="46161" y="63640"/>
                    <a:pt x="55100" y="59259"/>
                    <a:pt x="60687" y="51672"/>
                  </a:cubicBezTo>
                  <a:cubicBezTo>
                    <a:pt x="69886" y="36385"/>
                    <a:pt x="65139" y="16547"/>
                    <a:pt x="50019" y="7076"/>
                  </a:cubicBezTo>
                  <a:close/>
                  <a:moveTo>
                    <a:pt x="45162" y="40633"/>
                  </a:moveTo>
                  <a:cubicBezTo>
                    <a:pt x="43092" y="43123"/>
                    <a:pt x="39976" y="44501"/>
                    <a:pt x="36742" y="44357"/>
                  </a:cubicBezTo>
                  <a:cubicBezTo>
                    <a:pt x="33027" y="44287"/>
                    <a:pt x="29426" y="43066"/>
                    <a:pt x="26435" y="40861"/>
                  </a:cubicBezTo>
                  <a:cubicBezTo>
                    <a:pt x="20021" y="37323"/>
                    <a:pt x="17322" y="29507"/>
                    <a:pt x="20187" y="22764"/>
                  </a:cubicBezTo>
                  <a:cubicBezTo>
                    <a:pt x="22261" y="20274"/>
                    <a:pt x="25379" y="18896"/>
                    <a:pt x="28617" y="19040"/>
                  </a:cubicBezTo>
                  <a:cubicBezTo>
                    <a:pt x="32331" y="19115"/>
                    <a:pt x="35932" y="20340"/>
                    <a:pt x="38923" y="22545"/>
                  </a:cubicBezTo>
                  <a:cubicBezTo>
                    <a:pt x="45666" y="27336"/>
                    <a:pt x="48581" y="35785"/>
                    <a:pt x="45162" y="40585"/>
                  </a:cubicBezTo>
                  <a:close/>
                </a:path>
              </a:pathLst>
            </a:custGeom>
            <a:grpFill/>
            <a:ln w="9525" cap="flat">
              <a:solidFill>
                <a:schemeClr val="accent3">
                  <a:lumMod val="50000"/>
                </a:schemeClr>
              </a:solidFill>
              <a:prstDash val="solid"/>
              <a:miter/>
            </a:ln>
          </p:spPr>
          <p:txBody>
            <a:bodyPr/>
            <a:lstStyle/>
            <a:p>
              <a:endParaRPr lang="en-US"/>
            </a:p>
          </p:txBody>
        </p:sp>
        <p:sp>
          <p:nvSpPr>
            <p:cNvPr id="46" name="Freeform 45">
              <a:extLst>
                <a:ext uri="{FF2B5EF4-FFF2-40B4-BE49-F238E27FC236}">
                  <a16:creationId xmlns:a16="http://schemas.microsoft.com/office/drawing/2014/main" id="{B13CD2E7-A3C6-7D6F-6F44-C011932F580A}"/>
                </a:ext>
              </a:extLst>
            </p:cNvPr>
            <p:cNvSpPr/>
            <p:nvPr/>
          </p:nvSpPr>
          <p:spPr>
            <a:xfrm>
              <a:off x="5029681" y="5085905"/>
              <a:ext cx="65021" cy="63878"/>
            </a:xfrm>
            <a:custGeom>
              <a:avLst/>
              <a:gdLst>
                <a:gd name="csX0" fmla="*/ 51287 w 65021"/>
                <a:gd name="csY0" fmla="*/ 8398 h 63878"/>
                <a:gd name="csX1" fmla="*/ 28294 w 65021"/>
                <a:gd name="csY1" fmla="*/ 7 h 63878"/>
                <a:gd name="csX2" fmla="*/ 5739 w 65021"/>
                <a:gd name="csY2" fmla="*/ 10398 h 63878"/>
                <a:gd name="csX3" fmla="*/ 13749 w 65021"/>
                <a:gd name="csY3" fmla="*/ 55480 h 63878"/>
                <a:gd name="csX4" fmla="*/ 36742 w 65021"/>
                <a:gd name="csY4" fmla="*/ 63872 h 63878"/>
                <a:gd name="csX5" fmla="*/ 59288 w 65021"/>
                <a:gd name="csY5" fmla="*/ 53480 h 63878"/>
                <a:gd name="csX6" fmla="*/ 51287 w 65021"/>
                <a:gd name="csY6" fmla="*/ 8398 h 63878"/>
                <a:gd name="csX7" fmla="*/ 44381 w 65021"/>
                <a:gd name="csY7" fmla="*/ 41621 h 63878"/>
                <a:gd name="csX8" fmla="*/ 36761 w 65021"/>
                <a:gd name="csY8" fmla="*/ 44822 h 63878"/>
                <a:gd name="csX9" fmla="*/ 25731 w 65021"/>
                <a:gd name="csY9" fmla="*/ 40650 h 63878"/>
                <a:gd name="csX10" fmla="*/ 20674 w 65021"/>
                <a:gd name="csY10" fmla="*/ 22257 h 63878"/>
                <a:gd name="csX11" fmla="*/ 28294 w 65021"/>
                <a:gd name="csY11" fmla="*/ 19057 h 63878"/>
                <a:gd name="csX12" fmla="*/ 39267 w 65021"/>
                <a:gd name="csY12" fmla="*/ 23181 h 63878"/>
                <a:gd name="csX13" fmla="*/ 44381 w 65021"/>
                <a:gd name="csY13" fmla="*/ 41621 h 638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5021" h="63878">
                  <a:moveTo>
                    <a:pt x="51287" y="8398"/>
                  </a:moveTo>
                  <a:cubicBezTo>
                    <a:pt x="44802" y="3062"/>
                    <a:pt x="36691" y="102"/>
                    <a:pt x="28294" y="7"/>
                  </a:cubicBezTo>
                  <a:cubicBezTo>
                    <a:pt x="19577" y="-181"/>
                    <a:pt x="11259" y="3651"/>
                    <a:pt x="5739" y="10398"/>
                  </a:cubicBezTo>
                  <a:cubicBezTo>
                    <a:pt x="-4357" y="25091"/>
                    <a:pt x="-790" y="45166"/>
                    <a:pt x="13749" y="55480"/>
                  </a:cubicBezTo>
                  <a:cubicBezTo>
                    <a:pt x="20236" y="60812"/>
                    <a:pt x="28346" y="63773"/>
                    <a:pt x="36742" y="63872"/>
                  </a:cubicBezTo>
                  <a:cubicBezTo>
                    <a:pt x="45456" y="64060"/>
                    <a:pt x="53772" y="60227"/>
                    <a:pt x="59288" y="53480"/>
                  </a:cubicBezTo>
                  <a:cubicBezTo>
                    <a:pt x="69374" y="38788"/>
                    <a:pt x="65813" y="18722"/>
                    <a:pt x="51287" y="8398"/>
                  </a:cubicBezTo>
                  <a:close/>
                  <a:moveTo>
                    <a:pt x="44381" y="41621"/>
                  </a:moveTo>
                  <a:cubicBezTo>
                    <a:pt x="42446" y="43771"/>
                    <a:pt x="39651" y="44945"/>
                    <a:pt x="36761" y="44822"/>
                  </a:cubicBezTo>
                  <a:cubicBezTo>
                    <a:pt x="32718" y="44723"/>
                    <a:pt x="28828" y="43252"/>
                    <a:pt x="25731" y="40650"/>
                  </a:cubicBezTo>
                  <a:cubicBezTo>
                    <a:pt x="19600" y="36706"/>
                    <a:pt x="17421" y="28781"/>
                    <a:pt x="20674" y="22257"/>
                  </a:cubicBezTo>
                  <a:cubicBezTo>
                    <a:pt x="22608" y="20106"/>
                    <a:pt x="25403" y="18932"/>
                    <a:pt x="28294" y="19057"/>
                  </a:cubicBezTo>
                  <a:cubicBezTo>
                    <a:pt x="32313" y="19147"/>
                    <a:pt x="36182" y="20602"/>
                    <a:pt x="39267" y="23181"/>
                  </a:cubicBezTo>
                  <a:cubicBezTo>
                    <a:pt x="45490" y="27075"/>
                    <a:pt x="47709" y="35078"/>
                    <a:pt x="44381" y="41621"/>
                  </a:cubicBezTo>
                  <a:close/>
                </a:path>
              </a:pathLst>
            </a:custGeom>
            <a:grpFill/>
            <a:ln w="9525" cap="flat">
              <a:solidFill>
                <a:schemeClr val="accent3">
                  <a:lumMod val="50000"/>
                </a:schemeClr>
              </a:solidFill>
              <a:prstDash val="solid"/>
              <a:miter/>
            </a:ln>
          </p:spPr>
          <p:txBody>
            <a:bodyPr/>
            <a:lstStyle/>
            <a:p>
              <a:endParaRPr lang="en-US"/>
            </a:p>
          </p:txBody>
        </p:sp>
        <p:sp>
          <p:nvSpPr>
            <p:cNvPr id="47" name="Freeform 46">
              <a:extLst>
                <a:ext uri="{FF2B5EF4-FFF2-40B4-BE49-F238E27FC236}">
                  <a16:creationId xmlns:a16="http://schemas.microsoft.com/office/drawing/2014/main" id="{6AAB0329-CAD4-3C87-078C-BEABC8562D32}"/>
                </a:ext>
              </a:extLst>
            </p:cNvPr>
            <p:cNvSpPr/>
            <p:nvPr/>
          </p:nvSpPr>
          <p:spPr>
            <a:xfrm>
              <a:off x="4924253" y="4636160"/>
              <a:ext cx="436035" cy="648576"/>
            </a:xfrm>
            <a:custGeom>
              <a:avLst/>
              <a:gdLst>
                <a:gd name="csX0" fmla="*/ 432978 w 436035"/>
                <a:gd name="csY0" fmla="*/ 180880 h 648576"/>
                <a:gd name="csX1" fmla="*/ 436035 w 436035"/>
                <a:gd name="csY1" fmla="*/ 177813 h 648576"/>
                <a:gd name="csX2" fmla="*/ 430701 w 436035"/>
                <a:gd name="csY2" fmla="*/ 98717 h 648576"/>
                <a:gd name="csX3" fmla="*/ 294846 w 436035"/>
                <a:gd name="csY3" fmla="*/ 0 h 648576"/>
                <a:gd name="csX4" fmla="*/ 211217 w 436035"/>
                <a:gd name="csY4" fmla="*/ 15850 h 648576"/>
                <a:gd name="csX5" fmla="*/ 209131 w 436035"/>
                <a:gd name="csY5" fmla="*/ 17936 h 648576"/>
                <a:gd name="csX6" fmla="*/ 100470 w 436035"/>
                <a:gd name="csY6" fmla="*/ 179680 h 648576"/>
                <a:gd name="csX7" fmla="*/ 61932 w 436035"/>
                <a:gd name="csY7" fmla="*/ 297037 h 648576"/>
                <a:gd name="csX8" fmla="*/ 1572 w 436035"/>
                <a:gd name="csY8" fmla="*/ 445332 h 648576"/>
                <a:gd name="csX9" fmla="*/ 0 w 436035"/>
                <a:gd name="csY9" fmla="*/ 448018 h 648576"/>
                <a:gd name="csX10" fmla="*/ 7620 w 436035"/>
                <a:gd name="csY10" fmla="*/ 521970 h 648576"/>
                <a:gd name="csX11" fmla="*/ 149390 w 436035"/>
                <a:gd name="csY11" fmla="*/ 648576 h 648576"/>
                <a:gd name="csX12" fmla="*/ 216008 w 436035"/>
                <a:gd name="csY12" fmla="*/ 632974 h 648576"/>
                <a:gd name="csX13" fmla="*/ 218094 w 436035"/>
                <a:gd name="csY13" fmla="*/ 629945 h 648576"/>
                <a:gd name="csX14" fmla="*/ 248574 w 436035"/>
                <a:gd name="csY14" fmla="*/ 568900 h 648576"/>
                <a:gd name="csX15" fmla="*/ 280864 w 436035"/>
                <a:gd name="csY15" fmla="*/ 455962 h 648576"/>
                <a:gd name="csX16" fmla="*/ 345453 w 436035"/>
                <a:gd name="csY16" fmla="*/ 287760 h 648576"/>
                <a:gd name="csX17" fmla="*/ 432978 w 436035"/>
                <a:gd name="csY17" fmla="*/ 180880 h 648576"/>
                <a:gd name="csX18" fmla="*/ 262357 w 436035"/>
                <a:gd name="csY18" fmla="*/ 451514 h 648576"/>
                <a:gd name="csX19" fmla="*/ 230619 w 436035"/>
                <a:gd name="csY19" fmla="*/ 562585 h 648576"/>
                <a:gd name="csX20" fmla="*/ 230619 w 436035"/>
                <a:gd name="csY20" fmla="*/ 562585 h 648576"/>
                <a:gd name="csX21" fmla="*/ 204464 w 436035"/>
                <a:gd name="csY21" fmla="*/ 616106 h 648576"/>
                <a:gd name="csX22" fmla="*/ 154705 w 436035"/>
                <a:gd name="csY22" fmla="*/ 627755 h 648576"/>
                <a:gd name="csX23" fmla="*/ 25889 w 436035"/>
                <a:gd name="csY23" fmla="*/ 512674 h 648576"/>
                <a:gd name="csX24" fmla="*/ 19631 w 436035"/>
                <a:gd name="csY24" fmla="*/ 452247 h 648576"/>
                <a:gd name="csX25" fmla="*/ 80420 w 436035"/>
                <a:gd name="csY25" fmla="*/ 301752 h 648576"/>
                <a:gd name="csX26" fmla="*/ 118100 w 436035"/>
                <a:gd name="csY26" fmla="*/ 186976 h 648576"/>
                <a:gd name="csX27" fmla="*/ 220561 w 436035"/>
                <a:gd name="csY27" fmla="*/ 33423 h 648576"/>
                <a:gd name="csX28" fmla="*/ 290293 w 436035"/>
                <a:gd name="csY28" fmla="*/ 20250 h 648576"/>
                <a:gd name="csX29" fmla="*/ 412280 w 436035"/>
                <a:gd name="csY29" fmla="*/ 108899 h 648576"/>
                <a:gd name="csX30" fmla="*/ 416452 w 436035"/>
                <a:gd name="csY30" fmla="*/ 170478 h 648576"/>
                <a:gd name="csX31" fmla="*/ 329232 w 436035"/>
                <a:gd name="csY31" fmla="*/ 277787 h 648576"/>
                <a:gd name="csX32" fmla="*/ 262357 w 436035"/>
                <a:gd name="csY32" fmla="*/ 451514 h 648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436035" h="648576">
                  <a:moveTo>
                    <a:pt x="432978" y="180880"/>
                  </a:moveTo>
                  <a:lnTo>
                    <a:pt x="436035" y="177813"/>
                  </a:lnTo>
                  <a:lnTo>
                    <a:pt x="430701" y="98717"/>
                  </a:lnTo>
                  <a:lnTo>
                    <a:pt x="294846" y="0"/>
                  </a:lnTo>
                  <a:lnTo>
                    <a:pt x="211217" y="15850"/>
                  </a:lnTo>
                  <a:lnTo>
                    <a:pt x="209131" y="17936"/>
                  </a:lnTo>
                  <a:cubicBezTo>
                    <a:pt x="162659" y="64207"/>
                    <a:pt x="125740" y="119164"/>
                    <a:pt x="100470" y="179680"/>
                  </a:cubicBezTo>
                  <a:cubicBezTo>
                    <a:pt x="84450" y="217684"/>
                    <a:pt x="71560" y="256934"/>
                    <a:pt x="61932" y="297037"/>
                  </a:cubicBezTo>
                  <a:cubicBezTo>
                    <a:pt x="50154" y="349468"/>
                    <a:pt x="29757" y="399579"/>
                    <a:pt x="1572" y="445332"/>
                  </a:cubicBezTo>
                  <a:lnTo>
                    <a:pt x="0" y="448018"/>
                  </a:lnTo>
                  <a:lnTo>
                    <a:pt x="7620" y="521970"/>
                  </a:lnTo>
                  <a:lnTo>
                    <a:pt x="149390" y="648576"/>
                  </a:lnTo>
                  <a:lnTo>
                    <a:pt x="216008" y="632974"/>
                  </a:lnTo>
                  <a:lnTo>
                    <a:pt x="218094" y="629945"/>
                  </a:lnTo>
                  <a:cubicBezTo>
                    <a:pt x="230917" y="611039"/>
                    <a:pt x="241167" y="590511"/>
                    <a:pt x="248574" y="568900"/>
                  </a:cubicBezTo>
                  <a:cubicBezTo>
                    <a:pt x="261395" y="531872"/>
                    <a:pt x="272174" y="494170"/>
                    <a:pt x="280864" y="455962"/>
                  </a:cubicBezTo>
                  <a:cubicBezTo>
                    <a:pt x="294675" y="399764"/>
                    <a:pt x="306581" y="351187"/>
                    <a:pt x="345453" y="287760"/>
                  </a:cubicBezTo>
                  <a:cubicBezTo>
                    <a:pt x="370399" y="248870"/>
                    <a:pt x="399770" y="213004"/>
                    <a:pt x="432978" y="180880"/>
                  </a:cubicBezTo>
                  <a:close/>
                  <a:moveTo>
                    <a:pt x="262357" y="451514"/>
                  </a:moveTo>
                  <a:cubicBezTo>
                    <a:pt x="253813" y="489089"/>
                    <a:pt x="243218" y="526168"/>
                    <a:pt x="230619" y="562585"/>
                  </a:cubicBezTo>
                  <a:lnTo>
                    <a:pt x="230619" y="562585"/>
                  </a:lnTo>
                  <a:cubicBezTo>
                    <a:pt x="224149" y="581438"/>
                    <a:pt x="215363" y="599416"/>
                    <a:pt x="204464" y="616106"/>
                  </a:cubicBezTo>
                  <a:lnTo>
                    <a:pt x="154705" y="627755"/>
                  </a:lnTo>
                  <a:lnTo>
                    <a:pt x="25889" y="512674"/>
                  </a:lnTo>
                  <a:lnTo>
                    <a:pt x="19631" y="452247"/>
                  </a:lnTo>
                  <a:cubicBezTo>
                    <a:pt x="47964" y="405732"/>
                    <a:pt x="68497" y="354896"/>
                    <a:pt x="80420" y="301752"/>
                  </a:cubicBezTo>
                  <a:cubicBezTo>
                    <a:pt x="89839" y="262533"/>
                    <a:pt x="102440" y="224146"/>
                    <a:pt x="118100" y="186976"/>
                  </a:cubicBezTo>
                  <a:cubicBezTo>
                    <a:pt x="142019" y="129655"/>
                    <a:pt x="176813" y="77512"/>
                    <a:pt x="220561" y="33423"/>
                  </a:cubicBezTo>
                  <a:lnTo>
                    <a:pt x="290293" y="20250"/>
                  </a:lnTo>
                  <a:lnTo>
                    <a:pt x="412280" y="108899"/>
                  </a:lnTo>
                  <a:lnTo>
                    <a:pt x="416452" y="170478"/>
                  </a:lnTo>
                  <a:cubicBezTo>
                    <a:pt x="383397" y="202819"/>
                    <a:pt x="354135" y="238820"/>
                    <a:pt x="329232" y="277787"/>
                  </a:cubicBezTo>
                  <a:cubicBezTo>
                    <a:pt x="288836" y="343757"/>
                    <a:pt x="276577" y="393649"/>
                    <a:pt x="262357" y="451514"/>
                  </a:cubicBezTo>
                  <a:close/>
                </a:path>
              </a:pathLst>
            </a:custGeom>
            <a:grpFill/>
            <a:ln w="9525" cap="flat">
              <a:solidFill>
                <a:schemeClr val="accent3">
                  <a:lumMod val="50000"/>
                </a:schemeClr>
              </a:solidFill>
              <a:prstDash val="solid"/>
              <a:miter/>
            </a:ln>
          </p:spPr>
          <p:txBody>
            <a:bodyPr/>
            <a:lstStyle/>
            <a:p>
              <a:endParaRPr lang="en-US"/>
            </a:p>
          </p:txBody>
        </p:sp>
        <p:sp>
          <p:nvSpPr>
            <p:cNvPr id="48" name="Freeform 47">
              <a:extLst>
                <a:ext uri="{FF2B5EF4-FFF2-40B4-BE49-F238E27FC236}">
                  <a16:creationId xmlns:a16="http://schemas.microsoft.com/office/drawing/2014/main" id="{E66200C4-2754-FE78-9807-0E2C68FF7F33}"/>
                </a:ext>
              </a:extLst>
            </p:cNvPr>
            <p:cNvSpPr/>
            <p:nvPr/>
          </p:nvSpPr>
          <p:spPr>
            <a:xfrm>
              <a:off x="4742277" y="4551845"/>
              <a:ext cx="876352" cy="816263"/>
            </a:xfrm>
            <a:custGeom>
              <a:avLst/>
              <a:gdLst>
                <a:gd name="csX0" fmla="*/ 875568 w 876352"/>
                <a:gd name="csY0" fmla="*/ 561832 h 816263"/>
                <a:gd name="csX1" fmla="*/ 866233 w 876352"/>
                <a:gd name="csY1" fmla="*/ 556203 h 816263"/>
                <a:gd name="csX2" fmla="*/ 781156 w 876352"/>
                <a:gd name="csY2" fmla="*/ 512883 h 816263"/>
                <a:gd name="csX3" fmla="*/ 723120 w 876352"/>
                <a:gd name="csY3" fmla="*/ 449732 h 816263"/>
                <a:gd name="csX4" fmla="*/ 660846 w 876352"/>
                <a:gd name="csY4" fmla="*/ 399545 h 816263"/>
                <a:gd name="csX5" fmla="*/ 554299 w 876352"/>
                <a:gd name="csY5" fmla="*/ 421453 h 816263"/>
                <a:gd name="csX6" fmla="*/ 568215 w 876352"/>
                <a:gd name="csY6" fmla="*/ 397021 h 816263"/>
                <a:gd name="csX7" fmla="*/ 741513 w 876352"/>
                <a:gd name="csY7" fmla="*/ 217656 h 816263"/>
                <a:gd name="csX8" fmla="*/ 441961 w 876352"/>
                <a:gd name="csY8" fmla="*/ 0 h 816263"/>
                <a:gd name="csX9" fmla="*/ 247280 w 876352"/>
                <a:gd name="csY9" fmla="*/ 226133 h 816263"/>
                <a:gd name="csX10" fmla="*/ 220610 w 876352"/>
                <a:gd name="csY10" fmla="*/ 177508 h 816263"/>
                <a:gd name="csX11" fmla="*/ 160678 w 876352"/>
                <a:gd name="csY11" fmla="*/ 153581 h 816263"/>
                <a:gd name="csX12" fmla="*/ 95623 w 876352"/>
                <a:gd name="csY12" fmla="*/ 139198 h 816263"/>
                <a:gd name="csX13" fmla="*/ 33053 w 876352"/>
                <a:gd name="csY13" fmla="*/ 95231 h 816263"/>
                <a:gd name="csX14" fmla="*/ 20373 w 876352"/>
                <a:gd name="csY14" fmla="*/ 90684 h 816263"/>
                <a:gd name="csX15" fmla="*/ 16099 w 876352"/>
                <a:gd name="csY15" fmla="*/ 94698 h 816263"/>
                <a:gd name="csX16" fmla="*/ 9945 w 876352"/>
                <a:gd name="csY16" fmla="*/ 200025 h 816263"/>
                <a:gd name="csX17" fmla="*/ 55903 w 876352"/>
                <a:gd name="csY17" fmla="*/ 233363 h 816263"/>
                <a:gd name="csX18" fmla="*/ 55916 w 876352"/>
                <a:gd name="csY18" fmla="*/ 233483 h 816263"/>
                <a:gd name="csX19" fmla="*/ 55903 w 876352"/>
                <a:gd name="csY19" fmla="*/ 233496 h 816263"/>
                <a:gd name="csX20" fmla="*/ 48836 w 876352"/>
                <a:gd name="csY20" fmla="*/ 272234 h 816263"/>
                <a:gd name="csX21" fmla="*/ 103824 w 876352"/>
                <a:gd name="csY21" fmla="*/ 311468 h 816263"/>
                <a:gd name="csX22" fmla="*/ 103905 w 876352"/>
                <a:gd name="csY22" fmla="*/ 311558 h 816263"/>
                <a:gd name="csX23" fmla="*/ 103890 w 876352"/>
                <a:gd name="csY23" fmla="*/ 311601 h 816263"/>
                <a:gd name="csX24" fmla="*/ 100566 w 876352"/>
                <a:gd name="csY24" fmla="*/ 324802 h 816263"/>
                <a:gd name="csX25" fmla="*/ 110463 w 876352"/>
                <a:gd name="csY25" fmla="*/ 344434 h 816263"/>
                <a:gd name="csX26" fmla="*/ 171966 w 876352"/>
                <a:gd name="csY26" fmla="*/ 354578 h 816263"/>
                <a:gd name="csX27" fmla="*/ 193092 w 876352"/>
                <a:gd name="csY27" fmla="*/ 377590 h 816263"/>
                <a:gd name="csX28" fmla="*/ 195311 w 876352"/>
                <a:gd name="csY28" fmla="*/ 379143 h 816263"/>
                <a:gd name="csX29" fmla="*/ 138161 w 876352"/>
                <a:gd name="csY29" fmla="*/ 512759 h 816263"/>
                <a:gd name="csX30" fmla="*/ 80430 w 876352"/>
                <a:gd name="csY30" fmla="*/ 572519 h 816263"/>
                <a:gd name="csX31" fmla="*/ 353550 w 876352"/>
                <a:gd name="csY31" fmla="*/ 816264 h 816263"/>
                <a:gd name="csX32" fmla="*/ 475594 w 876352"/>
                <a:gd name="csY32" fmla="*/ 668807 h 816263"/>
                <a:gd name="csX33" fmla="*/ 508103 w 876352"/>
                <a:gd name="csY33" fmla="*/ 556860 h 816263"/>
                <a:gd name="csX34" fmla="*/ 513056 w 876352"/>
                <a:gd name="csY34" fmla="*/ 556755 h 816263"/>
                <a:gd name="csX35" fmla="*/ 515618 w 876352"/>
                <a:gd name="csY35" fmla="*/ 555879 h 816263"/>
                <a:gd name="csX36" fmla="*/ 563148 w 876352"/>
                <a:gd name="csY36" fmla="*/ 614667 h 816263"/>
                <a:gd name="csX37" fmla="*/ 588180 w 876352"/>
                <a:gd name="csY37" fmla="*/ 614667 h 816263"/>
                <a:gd name="csX38" fmla="*/ 600295 w 876352"/>
                <a:gd name="csY38" fmla="*/ 601942 h 816263"/>
                <a:gd name="csX39" fmla="*/ 600393 w 876352"/>
                <a:gd name="csY39" fmla="*/ 601897 h 816263"/>
                <a:gd name="csX40" fmla="*/ 600438 w 876352"/>
                <a:gd name="csY40" fmla="*/ 601942 h 816263"/>
                <a:gd name="csX41" fmla="*/ 671142 w 876352"/>
                <a:gd name="csY41" fmla="*/ 646557 h 816263"/>
                <a:gd name="csX42" fmla="*/ 677715 w 876352"/>
                <a:gd name="csY42" fmla="*/ 646205 h 816263"/>
                <a:gd name="csX43" fmla="*/ 702899 w 876352"/>
                <a:gd name="csY43" fmla="*/ 632727 h 816263"/>
                <a:gd name="csX44" fmla="*/ 712967 w 876352"/>
                <a:gd name="csY44" fmla="*/ 608705 h 816263"/>
                <a:gd name="csX45" fmla="*/ 713100 w 876352"/>
                <a:gd name="csY45" fmla="*/ 608648 h 816263"/>
                <a:gd name="csX46" fmla="*/ 776051 w 876352"/>
                <a:gd name="csY46" fmla="*/ 638737 h 816263"/>
                <a:gd name="csX47" fmla="*/ 875015 w 876352"/>
                <a:gd name="csY47" fmla="*/ 570709 h 816263"/>
                <a:gd name="csX48" fmla="*/ 875568 w 876352"/>
                <a:gd name="csY48" fmla="*/ 561832 h 816263"/>
                <a:gd name="csX49" fmla="*/ 776889 w 876352"/>
                <a:gd name="csY49" fmla="*/ 619706 h 816263"/>
                <a:gd name="csX50" fmla="*/ 711252 w 876352"/>
                <a:gd name="csY50" fmla="*/ 581006 h 816263"/>
                <a:gd name="csX51" fmla="*/ 697789 w 876352"/>
                <a:gd name="csY51" fmla="*/ 580542 h 816263"/>
                <a:gd name="csX52" fmla="*/ 694821 w 876352"/>
                <a:gd name="csY52" fmla="*/ 588550 h 816263"/>
                <a:gd name="csX53" fmla="*/ 688002 w 876352"/>
                <a:gd name="csY53" fmla="*/ 620811 h 816263"/>
                <a:gd name="csX54" fmla="*/ 675619 w 876352"/>
                <a:gd name="csY54" fmla="*/ 627259 h 816263"/>
                <a:gd name="csX55" fmla="*/ 605639 w 876352"/>
                <a:gd name="csY55" fmla="*/ 574358 h 816263"/>
                <a:gd name="csX56" fmla="*/ 592690 w 876352"/>
                <a:gd name="csY56" fmla="*/ 570646 h 816263"/>
                <a:gd name="csX57" fmla="*/ 587856 w 876352"/>
                <a:gd name="csY57" fmla="*/ 577806 h 816263"/>
                <a:gd name="csX58" fmla="*/ 578959 w 876352"/>
                <a:gd name="csY58" fmla="*/ 597999 h 816263"/>
                <a:gd name="csX59" fmla="*/ 571225 w 876352"/>
                <a:gd name="csY59" fmla="*/ 597408 h 816263"/>
                <a:gd name="csX60" fmla="*/ 528648 w 876352"/>
                <a:gd name="csY60" fmla="*/ 539620 h 816263"/>
                <a:gd name="csX61" fmla="*/ 516009 w 876352"/>
                <a:gd name="csY61" fmla="*/ 535229 h 816263"/>
                <a:gd name="csX62" fmla="*/ 513151 w 876352"/>
                <a:gd name="csY62" fmla="*/ 536467 h 816263"/>
                <a:gd name="csX63" fmla="*/ 522152 w 876352"/>
                <a:gd name="csY63" fmla="*/ 502225 h 816263"/>
                <a:gd name="csX64" fmla="*/ 513881 w 876352"/>
                <a:gd name="csY64" fmla="*/ 487343 h 816263"/>
                <a:gd name="csX65" fmla="*/ 510513 w 876352"/>
                <a:gd name="csY65" fmla="*/ 486880 h 816263"/>
                <a:gd name="csX66" fmla="*/ 510513 w 876352"/>
                <a:gd name="csY66" fmla="*/ 486880 h 816263"/>
                <a:gd name="csX67" fmla="*/ 504798 w 876352"/>
                <a:gd name="csY67" fmla="*/ 493109 h 816263"/>
                <a:gd name="csX68" fmla="*/ 492339 w 876352"/>
                <a:gd name="csY68" fmla="*/ 541172 h 816263"/>
                <a:gd name="csX69" fmla="*/ 490339 w 876352"/>
                <a:gd name="csY69" fmla="*/ 549335 h 816263"/>
                <a:gd name="csX70" fmla="*/ 489805 w 876352"/>
                <a:gd name="csY70" fmla="*/ 551478 h 816263"/>
                <a:gd name="csX71" fmla="*/ 457620 w 876352"/>
                <a:gd name="csY71" fmla="*/ 662521 h 816263"/>
                <a:gd name="csX72" fmla="*/ 356846 w 876352"/>
                <a:gd name="csY72" fmla="*/ 793661 h 816263"/>
                <a:gd name="csX73" fmla="*/ 110558 w 876352"/>
                <a:gd name="csY73" fmla="*/ 573776 h 816263"/>
                <a:gd name="csX74" fmla="*/ 154573 w 876352"/>
                <a:gd name="csY74" fmla="*/ 522522 h 816263"/>
                <a:gd name="csX75" fmla="*/ 215142 w 876352"/>
                <a:gd name="csY75" fmla="*/ 378695 h 816263"/>
                <a:gd name="csX76" fmla="*/ 212018 w 876352"/>
                <a:gd name="csY76" fmla="*/ 368941 h 816263"/>
                <a:gd name="csX77" fmla="*/ 200474 w 876352"/>
                <a:gd name="csY77" fmla="*/ 359340 h 816263"/>
                <a:gd name="csX78" fmla="*/ 193368 w 876352"/>
                <a:gd name="csY78" fmla="*/ 352006 h 816263"/>
                <a:gd name="csX79" fmla="*/ 192482 w 876352"/>
                <a:gd name="csY79" fmla="*/ 350872 h 816263"/>
                <a:gd name="csX80" fmla="*/ 185958 w 876352"/>
                <a:gd name="csY80" fmla="*/ 340195 h 816263"/>
                <a:gd name="csX81" fmla="*/ 175337 w 876352"/>
                <a:gd name="csY81" fmla="*/ 334670 h 816263"/>
                <a:gd name="csX82" fmla="*/ 122645 w 876352"/>
                <a:gd name="csY82" fmla="*/ 329689 h 816263"/>
                <a:gd name="csX83" fmla="*/ 119664 w 876352"/>
                <a:gd name="csY83" fmla="*/ 324650 h 816263"/>
                <a:gd name="csX84" fmla="*/ 129189 w 876352"/>
                <a:gd name="csY84" fmla="*/ 310620 h 816263"/>
                <a:gd name="csX85" fmla="*/ 130362 w 876352"/>
                <a:gd name="csY85" fmla="*/ 297201 h 816263"/>
                <a:gd name="csX86" fmla="*/ 123055 w 876352"/>
                <a:gd name="csY86" fmla="*/ 293799 h 816263"/>
                <a:gd name="csX87" fmla="*/ 123007 w 876352"/>
                <a:gd name="csY87" fmla="*/ 293799 h 816263"/>
                <a:gd name="csX88" fmla="*/ 67105 w 876352"/>
                <a:gd name="csY88" fmla="*/ 266490 h 816263"/>
                <a:gd name="csX89" fmla="*/ 79487 w 876352"/>
                <a:gd name="csY89" fmla="*/ 237658 h 816263"/>
                <a:gd name="csX90" fmla="*/ 83289 w 876352"/>
                <a:gd name="csY90" fmla="*/ 224736 h 816263"/>
                <a:gd name="csX91" fmla="*/ 77039 w 876352"/>
                <a:gd name="csY91" fmla="*/ 220008 h 816263"/>
                <a:gd name="csX92" fmla="*/ 26262 w 876352"/>
                <a:gd name="csY92" fmla="*/ 190157 h 816263"/>
                <a:gd name="csX93" fmla="*/ 25976 w 876352"/>
                <a:gd name="csY93" fmla="*/ 119358 h 816263"/>
                <a:gd name="csX94" fmla="*/ 26107 w 876352"/>
                <a:gd name="csY94" fmla="*/ 119327 h 816263"/>
                <a:gd name="csX95" fmla="*/ 26138 w 876352"/>
                <a:gd name="csY95" fmla="*/ 119358 h 816263"/>
                <a:gd name="csX96" fmla="*/ 89546 w 876352"/>
                <a:gd name="csY96" fmla="*/ 157258 h 816263"/>
                <a:gd name="csX97" fmla="*/ 158126 w 876352"/>
                <a:gd name="csY97" fmla="*/ 172498 h 816263"/>
                <a:gd name="csX98" fmla="*/ 207256 w 876352"/>
                <a:gd name="csY98" fmla="*/ 191167 h 816263"/>
                <a:gd name="csX99" fmla="*/ 232487 w 876352"/>
                <a:gd name="csY99" fmla="*/ 256127 h 816263"/>
                <a:gd name="csX100" fmla="*/ 233164 w 876352"/>
                <a:gd name="csY100" fmla="*/ 259337 h 816263"/>
                <a:gd name="csX101" fmla="*/ 207827 w 876352"/>
                <a:gd name="csY101" fmla="*/ 332680 h 816263"/>
                <a:gd name="csX102" fmla="*/ 215030 w 876352"/>
                <a:gd name="csY102" fmla="*/ 344063 h 816263"/>
                <a:gd name="csX103" fmla="*/ 226096 w 876352"/>
                <a:gd name="csY103" fmla="*/ 337957 h 816263"/>
                <a:gd name="csX104" fmla="*/ 256205 w 876352"/>
                <a:gd name="csY104" fmla="*/ 253022 h 816263"/>
                <a:gd name="csX105" fmla="*/ 441304 w 876352"/>
                <a:gd name="csY105" fmla="*/ 23060 h 816263"/>
                <a:gd name="csX106" fmla="*/ 709909 w 876352"/>
                <a:gd name="csY106" fmla="*/ 218275 h 816263"/>
                <a:gd name="csX107" fmla="*/ 551956 w 876352"/>
                <a:gd name="csY107" fmla="*/ 387106 h 816263"/>
                <a:gd name="csX108" fmla="*/ 526562 w 876352"/>
                <a:gd name="csY108" fmla="*/ 434731 h 816263"/>
                <a:gd name="csX109" fmla="*/ 518257 w 876352"/>
                <a:gd name="csY109" fmla="*/ 453952 h 816263"/>
                <a:gd name="csX110" fmla="*/ 520920 w 876352"/>
                <a:gd name="csY110" fmla="*/ 460619 h 816263"/>
                <a:gd name="csX111" fmla="*/ 524924 w 876352"/>
                <a:gd name="csY111" fmla="*/ 460619 h 816263"/>
                <a:gd name="csX112" fmla="*/ 537668 w 876352"/>
                <a:gd name="csY112" fmla="*/ 455419 h 816263"/>
                <a:gd name="csX113" fmla="*/ 539450 w 876352"/>
                <a:gd name="csY113" fmla="*/ 454409 h 816263"/>
                <a:gd name="csX114" fmla="*/ 655255 w 876352"/>
                <a:gd name="csY114" fmla="*/ 417833 h 816263"/>
                <a:gd name="csX115" fmla="*/ 708166 w 876352"/>
                <a:gd name="csY115" fmla="*/ 461562 h 816263"/>
                <a:gd name="csX116" fmla="*/ 768526 w 876352"/>
                <a:gd name="csY116" fmla="*/ 527199 h 816263"/>
                <a:gd name="csX117" fmla="*/ 849908 w 876352"/>
                <a:gd name="csY117" fmla="*/ 574529 h 816263"/>
                <a:gd name="csX118" fmla="*/ 849987 w 876352"/>
                <a:gd name="csY118" fmla="*/ 574638 h 816263"/>
                <a:gd name="csX119" fmla="*/ 849974 w 876352"/>
                <a:gd name="csY119" fmla="*/ 574672 h 816263"/>
                <a:gd name="csX120" fmla="*/ 776879 w 876352"/>
                <a:gd name="csY120" fmla="*/ 619706 h 8162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Lst>
              <a:rect l="l" t="t" r="r" b="b"/>
              <a:pathLst>
                <a:path w="876352" h="816263">
                  <a:moveTo>
                    <a:pt x="875568" y="561832"/>
                  </a:moveTo>
                  <a:cubicBezTo>
                    <a:pt x="873944" y="558185"/>
                    <a:pt x="870218" y="555937"/>
                    <a:pt x="866233" y="556203"/>
                  </a:cubicBezTo>
                  <a:cubicBezTo>
                    <a:pt x="834963" y="558260"/>
                    <a:pt x="807055" y="535943"/>
                    <a:pt x="781156" y="512883"/>
                  </a:cubicBezTo>
                  <a:cubicBezTo>
                    <a:pt x="759800" y="493773"/>
                    <a:pt x="740362" y="472623"/>
                    <a:pt x="723120" y="449732"/>
                  </a:cubicBezTo>
                  <a:cubicBezTo>
                    <a:pt x="704556" y="426025"/>
                    <a:pt x="691135" y="408899"/>
                    <a:pt x="660846" y="399545"/>
                  </a:cubicBezTo>
                  <a:cubicBezTo>
                    <a:pt x="624013" y="388115"/>
                    <a:pt x="584141" y="403793"/>
                    <a:pt x="554299" y="421453"/>
                  </a:cubicBezTo>
                  <a:cubicBezTo>
                    <a:pt x="558462" y="413556"/>
                    <a:pt x="563053" y="405451"/>
                    <a:pt x="568215" y="397021"/>
                  </a:cubicBezTo>
                  <a:cubicBezTo>
                    <a:pt x="624803" y="304629"/>
                    <a:pt x="741513" y="217656"/>
                    <a:pt x="741513" y="217656"/>
                  </a:cubicBezTo>
                  <a:lnTo>
                    <a:pt x="441961" y="0"/>
                  </a:lnTo>
                  <a:cubicBezTo>
                    <a:pt x="357010" y="55475"/>
                    <a:pt x="289510" y="133879"/>
                    <a:pt x="247280" y="226133"/>
                  </a:cubicBezTo>
                  <a:cubicBezTo>
                    <a:pt x="242785" y="207876"/>
                    <a:pt x="233589" y="191112"/>
                    <a:pt x="220610" y="177508"/>
                  </a:cubicBezTo>
                  <a:cubicBezTo>
                    <a:pt x="201741" y="159048"/>
                    <a:pt x="183615" y="156639"/>
                    <a:pt x="160678" y="153581"/>
                  </a:cubicBezTo>
                  <a:cubicBezTo>
                    <a:pt x="138548" y="151084"/>
                    <a:pt x="116743" y="146263"/>
                    <a:pt x="95623" y="139198"/>
                  </a:cubicBezTo>
                  <a:cubicBezTo>
                    <a:pt x="74277" y="132007"/>
                    <a:pt x="44569" y="119624"/>
                    <a:pt x="33053" y="95231"/>
                  </a:cubicBezTo>
                  <a:cubicBezTo>
                    <a:pt x="30807" y="90474"/>
                    <a:pt x="25131" y="88438"/>
                    <a:pt x="20373" y="90684"/>
                  </a:cubicBezTo>
                  <a:cubicBezTo>
                    <a:pt x="18562" y="91538"/>
                    <a:pt x="17066" y="92943"/>
                    <a:pt x="16099" y="94698"/>
                  </a:cubicBezTo>
                  <a:cubicBezTo>
                    <a:pt x="-342" y="124511"/>
                    <a:pt x="-7123" y="172079"/>
                    <a:pt x="9945" y="200025"/>
                  </a:cubicBezTo>
                  <a:cubicBezTo>
                    <a:pt x="21332" y="215739"/>
                    <a:pt x="37430" y="227417"/>
                    <a:pt x="55903" y="233363"/>
                  </a:cubicBezTo>
                  <a:cubicBezTo>
                    <a:pt x="55940" y="233392"/>
                    <a:pt x="55946" y="233446"/>
                    <a:pt x="55916" y="233483"/>
                  </a:cubicBezTo>
                  <a:cubicBezTo>
                    <a:pt x="55912" y="233488"/>
                    <a:pt x="55908" y="233492"/>
                    <a:pt x="55903" y="233496"/>
                  </a:cubicBezTo>
                  <a:cubicBezTo>
                    <a:pt x="47078" y="244351"/>
                    <a:pt x="44412" y="258962"/>
                    <a:pt x="48836" y="272234"/>
                  </a:cubicBezTo>
                  <a:cubicBezTo>
                    <a:pt x="54199" y="289379"/>
                    <a:pt x="72934" y="306524"/>
                    <a:pt x="103824" y="311468"/>
                  </a:cubicBezTo>
                  <a:cubicBezTo>
                    <a:pt x="103871" y="311470"/>
                    <a:pt x="103908" y="311510"/>
                    <a:pt x="103905" y="311558"/>
                  </a:cubicBezTo>
                  <a:cubicBezTo>
                    <a:pt x="103904" y="311573"/>
                    <a:pt x="103899" y="311588"/>
                    <a:pt x="103890" y="311601"/>
                  </a:cubicBezTo>
                  <a:cubicBezTo>
                    <a:pt x="101740" y="315671"/>
                    <a:pt x="100600" y="320199"/>
                    <a:pt x="100566" y="324802"/>
                  </a:cubicBezTo>
                  <a:cubicBezTo>
                    <a:pt x="100670" y="332521"/>
                    <a:pt x="104320" y="339761"/>
                    <a:pt x="110463" y="344434"/>
                  </a:cubicBezTo>
                  <a:cubicBezTo>
                    <a:pt x="127608" y="358654"/>
                    <a:pt x="157926" y="356521"/>
                    <a:pt x="171966" y="354578"/>
                  </a:cubicBezTo>
                  <a:cubicBezTo>
                    <a:pt x="177146" y="363769"/>
                    <a:pt x="184376" y="371644"/>
                    <a:pt x="193092" y="377590"/>
                  </a:cubicBezTo>
                  <a:lnTo>
                    <a:pt x="195311" y="379143"/>
                  </a:lnTo>
                  <a:cubicBezTo>
                    <a:pt x="183839" y="426554"/>
                    <a:pt x="164523" y="471716"/>
                    <a:pt x="138161" y="512759"/>
                  </a:cubicBezTo>
                  <a:cubicBezTo>
                    <a:pt x="123541" y="536678"/>
                    <a:pt x="103829" y="557081"/>
                    <a:pt x="80430" y="572519"/>
                  </a:cubicBezTo>
                  <a:lnTo>
                    <a:pt x="353550" y="816264"/>
                  </a:lnTo>
                  <a:cubicBezTo>
                    <a:pt x="353550" y="816264"/>
                    <a:pt x="434151" y="786917"/>
                    <a:pt x="475594" y="668807"/>
                  </a:cubicBezTo>
                  <a:cubicBezTo>
                    <a:pt x="488452" y="632109"/>
                    <a:pt x="499304" y="594737"/>
                    <a:pt x="508103" y="556860"/>
                  </a:cubicBezTo>
                  <a:cubicBezTo>
                    <a:pt x="509734" y="557273"/>
                    <a:pt x="511444" y="557236"/>
                    <a:pt x="513056" y="556755"/>
                  </a:cubicBezTo>
                  <a:lnTo>
                    <a:pt x="515618" y="555879"/>
                  </a:lnTo>
                  <a:cubicBezTo>
                    <a:pt x="524162" y="571843"/>
                    <a:pt x="544098" y="605752"/>
                    <a:pt x="563148" y="614667"/>
                  </a:cubicBezTo>
                  <a:cubicBezTo>
                    <a:pt x="570965" y="618862"/>
                    <a:pt x="580362" y="618862"/>
                    <a:pt x="588180" y="614667"/>
                  </a:cubicBezTo>
                  <a:cubicBezTo>
                    <a:pt x="593349" y="611667"/>
                    <a:pt x="597552" y="607252"/>
                    <a:pt x="600295" y="601942"/>
                  </a:cubicBezTo>
                  <a:cubicBezTo>
                    <a:pt x="600310" y="601903"/>
                    <a:pt x="600353" y="601882"/>
                    <a:pt x="600393" y="601897"/>
                  </a:cubicBezTo>
                  <a:cubicBezTo>
                    <a:pt x="600414" y="601905"/>
                    <a:pt x="600431" y="601921"/>
                    <a:pt x="600438" y="601942"/>
                  </a:cubicBezTo>
                  <a:cubicBezTo>
                    <a:pt x="626546" y="639042"/>
                    <a:pt x="653569" y="646557"/>
                    <a:pt x="671142" y="646557"/>
                  </a:cubicBezTo>
                  <a:cubicBezTo>
                    <a:pt x="673338" y="646559"/>
                    <a:pt x="675531" y="646442"/>
                    <a:pt x="677715" y="646205"/>
                  </a:cubicBezTo>
                  <a:cubicBezTo>
                    <a:pt x="687591" y="645316"/>
                    <a:pt x="696682" y="640451"/>
                    <a:pt x="702899" y="632727"/>
                  </a:cubicBezTo>
                  <a:cubicBezTo>
                    <a:pt x="708212" y="625688"/>
                    <a:pt x="711674" y="617429"/>
                    <a:pt x="712967" y="608705"/>
                  </a:cubicBezTo>
                  <a:cubicBezTo>
                    <a:pt x="712967" y="608619"/>
                    <a:pt x="713043" y="608590"/>
                    <a:pt x="713100" y="608648"/>
                  </a:cubicBezTo>
                  <a:cubicBezTo>
                    <a:pt x="728264" y="621316"/>
                    <a:pt x="752305" y="637718"/>
                    <a:pt x="776051" y="638737"/>
                  </a:cubicBezTo>
                  <a:cubicBezTo>
                    <a:pt x="815103" y="640642"/>
                    <a:pt x="856061" y="605228"/>
                    <a:pt x="875015" y="570709"/>
                  </a:cubicBezTo>
                  <a:cubicBezTo>
                    <a:pt x="876577" y="568000"/>
                    <a:pt x="876782" y="564714"/>
                    <a:pt x="875568" y="561832"/>
                  </a:cubicBezTo>
                  <a:close/>
                  <a:moveTo>
                    <a:pt x="776889" y="619706"/>
                  </a:moveTo>
                  <a:cubicBezTo>
                    <a:pt x="746495" y="618411"/>
                    <a:pt x="711595" y="581377"/>
                    <a:pt x="711252" y="581006"/>
                  </a:cubicBezTo>
                  <a:cubicBezTo>
                    <a:pt x="707663" y="577161"/>
                    <a:pt x="701636" y="576953"/>
                    <a:pt x="697789" y="580542"/>
                  </a:cubicBezTo>
                  <a:cubicBezTo>
                    <a:pt x="695592" y="582594"/>
                    <a:pt x="694492" y="585562"/>
                    <a:pt x="694821" y="588550"/>
                  </a:cubicBezTo>
                  <a:cubicBezTo>
                    <a:pt x="696039" y="599755"/>
                    <a:pt x="693650" y="611056"/>
                    <a:pt x="688002" y="620811"/>
                  </a:cubicBezTo>
                  <a:cubicBezTo>
                    <a:pt x="684955" y="624595"/>
                    <a:pt x="680466" y="626934"/>
                    <a:pt x="675619" y="627259"/>
                  </a:cubicBezTo>
                  <a:cubicBezTo>
                    <a:pt x="650854" y="629945"/>
                    <a:pt x="626013" y="611181"/>
                    <a:pt x="605639" y="574358"/>
                  </a:cubicBezTo>
                  <a:cubicBezTo>
                    <a:pt x="603088" y="569757"/>
                    <a:pt x="597291" y="568095"/>
                    <a:pt x="592690" y="570646"/>
                  </a:cubicBezTo>
                  <a:cubicBezTo>
                    <a:pt x="590026" y="572122"/>
                    <a:pt x="588230" y="574783"/>
                    <a:pt x="587856" y="577806"/>
                  </a:cubicBezTo>
                  <a:cubicBezTo>
                    <a:pt x="586360" y="589883"/>
                    <a:pt x="582284" y="596160"/>
                    <a:pt x="578959" y="597999"/>
                  </a:cubicBezTo>
                  <a:cubicBezTo>
                    <a:pt x="578216" y="598399"/>
                    <a:pt x="575978" y="599637"/>
                    <a:pt x="571225" y="597408"/>
                  </a:cubicBezTo>
                  <a:cubicBezTo>
                    <a:pt x="557890" y="591160"/>
                    <a:pt x="538011" y="558651"/>
                    <a:pt x="528648" y="539620"/>
                  </a:cubicBezTo>
                  <a:cubicBezTo>
                    <a:pt x="526345" y="534945"/>
                    <a:pt x="520714" y="532989"/>
                    <a:pt x="516009" y="535229"/>
                  </a:cubicBezTo>
                  <a:cubicBezTo>
                    <a:pt x="516009" y="535229"/>
                    <a:pt x="514885" y="535743"/>
                    <a:pt x="513151" y="536467"/>
                  </a:cubicBezTo>
                  <a:cubicBezTo>
                    <a:pt x="516009" y="524723"/>
                    <a:pt x="518942" y="513398"/>
                    <a:pt x="522152" y="502225"/>
                  </a:cubicBezTo>
                  <a:cubicBezTo>
                    <a:pt x="523977" y="495831"/>
                    <a:pt x="520274" y="489168"/>
                    <a:pt x="513881" y="487343"/>
                  </a:cubicBezTo>
                  <a:cubicBezTo>
                    <a:pt x="512785" y="487029"/>
                    <a:pt x="511652" y="486874"/>
                    <a:pt x="510513" y="486880"/>
                  </a:cubicBezTo>
                  <a:lnTo>
                    <a:pt x="510513" y="486880"/>
                  </a:lnTo>
                  <a:cubicBezTo>
                    <a:pt x="507751" y="487968"/>
                    <a:pt x="505644" y="490265"/>
                    <a:pt x="504798" y="493109"/>
                  </a:cubicBezTo>
                  <a:cubicBezTo>
                    <a:pt x="500283" y="508673"/>
                    <a:pt x="496473" y="524418"/>
                    <a:pt x="492339" y="541172"/>
                  </a:cubicBezTo>
                  <a:lnTo>
                    <a:pt x="490339" y="549335"/>
                  </a:lnTo>
                  <a:lnTo>
                    <a:pt x="489805" y="551478"/>
                  </a:lnTo>
                  <a:cubicBezTo>
                    <a:pt x="481110" y="589052"/>
                    <a:pt x="470366" y="626121"/>
                    <a:pt x="457620" y="662521"/>
                  </a:cubicBezTo>
                  <a:cubicBezTo>
                    <a:pt x="427893" y="747141"/>
                    <a:pt x="377963" y="782155"/>
                    <a:pt x="356846" y="793661"/>
                  </a:cubicBezTo>
                  <a:lnTo>
                    <a:pt x="110558" y="573776"/>
                  </a:lnTo>
                  <a:cubicBezTo>
                    <a:pt x="127915" y="559196"/>
                    <a:pt x="142782" y="541884"/>
                    <a:pt x="154573" y="522522"/>
                  </a:cubicBezTo>
                  <a:cubicBezTo>
                    <a:pt x="182702" y="478325"/>
                    <a:pt x="203179" y="429700"/>
                    <a:pt x="215142" y="378695"/>
                  </a:cubicBezTo>
                  <a:cubicBezTo>
                    <a:pt x="216064" y="375114"/>
                    <a:pt x="214849" y="371321"/>
                    <a:pt x="212018" y="368941"/>
                  </a:cubicBezTo>
                  <a:lnTo>
                    <a:pt x="200474" y="359340"/>
                  </a:lnTo>
                  <a:cubicBezTo>
                    <a:pt x="197832" y="357177"/>
                    <a:pt x="195447" y="354716"/>
                    <a:pt x="193368" y="352006"/>
                  </a:cubicBezTo>
                  <a:lnTo>
                    <a:pt x="192482" y="350872"/>
                  </a:lnTo>
                  <a:cubicBezTo>
                    <a:pt x="189973" y="347529"/>
                    <a:pt x="187789" y="343953"/>
                    <a:pt x="185958" y="340195"/>
                  </a:cubicBezTo>
                  <a:cubicBezTo>
                    <a:pt x="184161" y="336081"/>
                    <a:pt x="179737" y="333779"/>
                    <a:pt x="175337" y="334670"/>
                  </a:cubicBezTo>
                  <a:cubicBezTo>
                    <a:pt x="165612" y="336652"/>
                    <a:pt x="135066" y="339976"/>
                    <a:pt x="122645" y="329689"/>
                  </a:cubicBezTo>
                  <a:cubicBezTo>
                    <a:pt x="119683" y="327250"/>
                    <a:pt x="119673" y="325364"/>
                    <a:pt x="119664" y="324650"/>
                  </a:cubicBezTo>
                  <a:cubicBezTo>
                    <a:pt x="120842" y="318890"/>
                    <a:pt x="124270" y="313840"/>
                    <a:pt x="129189" y="310620"/>
                  </a:cubicBezTo>
                  <a:cubicBezTo>
                    <a:pt x="133219" y="307238"/>
                    <a:pt x="133744" y="301230"/>
                    <a:pt x="130362" y="297201"/>
                  </a:cubicBezTo>
                  <a:cubicBezTo>
                    <a:pt x="128550" y="295041"/>
                    <a:pt x="125874" y="293796"/>
                    <a:pt x="123055" y="293799"/>
                  </a:cubicBezTo>
                  <a:lnTo>
                    <a:pt x="123007" y="293799"/>
                  </a:lnTo>
                  <a:cubicBezTo>
                    <a:pt x="85441" y="293741"/>
                    <a:pt x="70096" y="276015"/>
                    <a:pt x="67105" y="266490"/>
                  </a:cubicBezTo>
                  <a:cubicBezTo>
                    <a:pt x="63922" y="255162"/>
                    <a:pt x="69081" y="243150"/>
                    <a:pt x="79487" y="237658"/>
                  </a:cubicBezTo>
                  <a:cubicBezTo>
                    <a:pt x="84106" y="235140"/>
                    <a:pt x="85807" y="229353"/>
                    <a:pt x="83289" y="224736"/>
                  </a:cubicBezTo>
                  <a:cubicBezTo>
                    <a:pt x="81980" y="222336"/>
                    <a:pt x="79705" y="220614"/>
                    <a:pt x="77039" y="220008"/>
                  </a:cubicBezTo>
                  <a:cubicBezTo>
                    <a:pt x="66429" y="217580"/>
                    <a:pt x="36634" y="207502"/>
                    <a:pt x="26262" y="190157"/>
                  </a:cubicBezTo>
                  <a:cubicBezTo>
                    <a:pt x="15784" y="173012"/>
                    <a:pt x="17689" y="143170"/>
                    <a:pt x="25976" y="119358"/>
                  </a:cubicBezTo>
                  <a:cubicBezTo>
                    <a:pt x="26004" y="119313"/>
                    <a:pt x="26062" y="119300"/>
                    <a:pt x="26107" y="119327"/>
                  </a:cubicBezTo>
                  <a:cubicBezTo>
                    <a:pt x="26120" y="119335"/>
                    <a:pt x="26130" y="119345"/>
                    <a:pt x="26138" y="119358"/>
                  </a:cubicBezTo>
                  <a:cubicBezTo>
                    <a:pt x="43216" y="139675"/>
                    <a:pt x="69600" y="150533"/>
                    <a:pt x="89546" y="157258"/>
                  </a:cubicBezTo>
                  <a:cubicBezTo>
                    <a:pt x="111805" y="164739"/>
                    <a:pt x="134792" y="169847"/>
                    <a:pt x="158126" y="172498"/>
                  </a:cubicBezTo>
                  <a:cubicBezTo>
                    <a:pt x="179824" y="175355"/>
                    <a:pt x="192921" y="177136"/>
                    <a:pt x="207256" y="191167"/>
                  </a:cubicBezTo>
                  <a:cubicBezTo>
                    <a:pt x="223341" y="208999"/>
                    <a:pt x="232319" y="232114"/>
                    <a:pt x="232487" y="256127"/>
                  </a:cubicBezTo>
                  <a:cubicBezTo>
                    <a:pt x="232531" y="257227"/>
                    <a:pt x="232760" y="258313"/>
                    <a:pt x="233164" y="259337"/>
                  </a:cubicBezTo>
                  <a:cubicBezTo>
                    <a:pt x="221810" y="287979"/>
                    <a:pt x="213895" y="311991"/>
                    <a:pt x="207827" y="332680"/>
                  </a:cubicBezTo>
                  <a:cubicBezTo>
                    <a:pt x="206673" y="337812"/>
                    <a:pt x="209898" y="342909"/>
                    <a:pt x="215030" y="344063"/>
                  </a:cubicBezTo>
                  <a:cubicBezTo>
                    <a:pt x="219733" y="345120"/>
                    <a:pt x="224484" y="342499"/>
                    <a:pt x="226096" y="337957"/>
                  </a:cubicBezTo>
                  <a:cubicBezTo>
                    <a:pt x="234566" y="309114"/>
                    <a:pt x="244618" y="280760"/>
                    <a:pt x="256205" y="253022"/>
                  </a:cubicBezTo>
                  <a:cubicBezTo>
                    <a:pt x="295020" y="160468"/>
                    <a:pt x="359181" y="80756"/>
                    <a:pt x="441304" y="23060"/>
                  </a:cubicBezTo>
                  <a:lnTo>
                    <a:pt x="709909" y="218275"/>
                  </a:lnTo>
                  <a:cubicBezTo>
                    <a:pt x="673257" y="247993"/>
                    <a:pt x="595952" y="315306"/>
                    <a:pt x="551956" y="387106"/>
                  </a:cubicBezTo>
                  <a:cubicBezTo>
                    <a:pt x="542513" y="402439"/>
                    <a:pt x="534032" y="418345"/>
                    <a:pt x="526562" y="434731"/>
                  </a:cubicBezTo>
                  <a:cubicBezTo>
                    <a:pt x="523505" y="441255"/>
                    <a:pt x="520762" y="447646"/>
                    <a:pt x="518257" y="453952"/>
                  </a:cubicBezTo>
                  <a:cubicBezTo>
                    <a:pt x="517151" y="456529"/>
                    <a:pt x="518343" y="459514"/>
                    <a:pt x="520920" y="460619"/>
                  </a:cubicBezTo>
                  <a:cubicBezTo>
                    <a:pt x="522198" y="461168"/>
                    <a:pt x="523646" y="461168"/>
                    <a:pt x="524924" y="460619"/>
                  </a:cubicBezTo>
                  <a:lnTo>
                    <a:pt x="537668" y="455419"/>
                  </a:lnTo>
                  <a:lnTo>
                    <a:pt x="539450" y="454409"/>
                  </a:lnTo>
                  <a:cubicBezTo>
                    <a:pt x="565339" y="434959"/>
                    <a:pt x="614059" y="405079"/>
                    <a:pt x="655255" y="417833"/>
                  </a:cubicBezTo>
                  <a:cubicBezTo>
                    <a:pt x="679858" y="425453"/>
                    <a:pt x="690497" y="439036"/>
                    <a:pt x="708166" y="461562"/>
                  </a:cubicBezTo>
                  <a:cubicBezTo>
                    <a:pt x="726099" y="485356"/>
                    <a:pt x="746315" y="507340"/>
                    <a:pt x="768526" y="527199"/>
                  </a:cubicBezTo>
                  <a:cubicBezTo>
                    <a:pt x="791872" y="547983"/>
                    <a:pt x="818827" y="569786"/>
                    <a:pt x="849908" y="574529"/>
                  </a:cubicBezTo>
                  <a:cubicBezTo>
                    <a:pt x="849960" y="574538"/>
                    <a:pt x="849995" y="574586"/>
                    <a:pt x="849987" y="574638"/>
                  </a:cubicBezTo>
                  <a:cubicBezTo>
                    <a:pt x="849985" y="574650"/>
                    <a:pt x="849980" y="574661"/>
                    <a:pt x="849974" y="574672"/>
                  </a:cubicBezTo>
                  <a:cubicBezTo>
                    <a:pt x="831753" y="599475"/>
                    <a:pt x="802664" y="621059"/>
                    <a:pt x="776879" y="619706"/>
                  </a:cubicBezTo>
                  <a:close/>
                </a:path>
              </a:pathLst>
            </a:custGeom>
            <a:grpFill/>
            <a:ln w="9525" cap="flat">
              <a:solidFill>
                <a:schemeClr val="accent3">
                  <a:lumMod val="50000"/>
                </a:schemeClr>
              </a:solidFill>
              <a:prstDash val="solid"/>
              <a:miter/>
            </a:ln>
          </p:spPr>
          <p:txBody>
            <a:bodyPr/>
            <a:lstStyle/>
            <a:p>
              <a:endParaRPr lang="en-US"/>
            </a:p>
          </p:txBody>
        </p:sp>
      </p:grpSp>
      <p:grpSp>
        <p:nvGrpSpPr>
          <p:cNvPr id="49" name="Graphic 19" descr="Flying Money outline">
            <a:extLst>
              <a:ext uri="{FF2B5EF4-FFF2-40B4-BE49-F238E27FC236}">
                <a16:creationId xmlns:a16="http://schemas.microsoft.com/office/drawing/2014/main" id="{BF224EB2-24BA-631F-6A39-FDD478304815}"/>
              </a:ext>
            </a:extLst>
          </p:cNvPr>
          <p:cNvGrpSpPr/>
          <p:nvPr/>
        </p:nvGrpSpPr>
        <p:grpSpPr>
          <a:xfrm>
            <a:off x="3711011" y="4387625"/>
            <a:ext cx="876352" cy="816263"/>
            <a:chOff x="4742277" y="4551845"/>
            <a:chExt cx="876352" cy="816263"/>
          </a:xfrm>
          <a:solidFill>
            <a:srgbClr val="000000"/>
          </a:solidFill>
        </p:grpSpPr>
        <p:sp>
          <p:nvSpPr>
            <p:cNvPr id="50" name="Freeform 49">
              <a:extLst>
                <a:ext uri="{FF2B5EF4-FFF2-40B4-BE49-F238E27FC236}">
                  <a16:creationId xmlns:a16="http://schemas.microsoft.com/office/drawing/2014/main" id="{C9D32006-CF85-924C-7D9D-DE41285D5C04}"/>
                </a:ext>
              </a:extLst>
            </p:cNvPr>
            <p:cNvSpPr/>
            <p:nvPr/>
          </p:nvSpPr>
          <p:spPr>
            <a:xfrm>
              <a:off x="5045295" y="4863370"/>
              <a:ext cx="148372" cy="144607"/>
            </a:xfrm>
            <a:custGeom>
              <a:avLst/>
              <a:gdLst>
                <a:gd name="csX0" fmla="*/ 116302 w 148372"/>
                <a:gd name="csY0" fmla="*/ 23374 h 144607"/>
                <a:gd name="csX1" fmla="*/ 57761 w 148372"/>
                <a:gd name="csY1" fmla="*/ 28 h 144607"/>
                <a:gd name="csX2" fmla="*/ 13136 w 148372"/>
                <a:gd name="csY2" fmla="*/ 19078 h 144607"/>
                <a:gd name="csX3" fmla="*/ 32043 w 148372"/>
                <a:gd name="csY3" fmla="*/ 121205 h 144607"/>
                <a:gd name="csX4" fmla="*/ 90584 w 148372"/>
                <a:gd name="csY4" fmla="*/ 144580 h 144607"/>
                <a:gd name="csX5" fmla="*/ 135209 w 148372"/>
                <a:gd name="csY5" fmla="*/ 125530 h 144607"/>
                <a:gd name="csX6" fmla="*/ 116302 w 148372"/>
                <a:gd name="csY6" fmla="*/ 23374 h 144607"/>
                <a:gd name="csX7" fmla="*/ 120778 w 148372"/>
                <a:gd name="csY7" fmla="*/ 113061 h 144607"/>
                <a:gd name="csX8" fmla="*/ 90584 w 148372"/>
                <a:gd name="csY8" fmla="*/ 125530 h 144607"/>
                <a:gd name="csX9" fmla="*/ 44559 w 148372"/>
                <a:gd name="csY9" fmla="*/ 106870 h 144607"/>
                <a:gd name="csX10" fmla="*/ 27567 w 148372"/>
                <a:gd name="csY10" fmla="*/ 31546 h 144607"/>
                <a:gd name="csX11" fmla="*/ 57761 w 148372"/>
                <a:gd name="csY11" fmla="*/ 19078 h 144607"/>
                <a:gd name="csX12" fmla="*/ 103786 w 148372"/>
                <a:gd name="csY12" fmla="*/ 37728 h 144607"/>
                <a:gd name="csX13" fmla="*/ 120816 w 148372"/>
                <a:gd name="csY13" fmla="*/ 113061 h 1446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8372" h="144607">
                  <a:moveTo>
                    <a:pt x="116302" y="23374"/>
                  </a:moveTo>
                  <a:cubicBezTo>
                    <a:pt x="100207" y="8843"/>
                    <a:pt x="79438" y="560"/>
                    <a:pt x="57761" y="28"/>
                  </a:cubicBezTo>
                  <a:cubicBezTo>
                    <a:pt x="40806" y="-502"/>
                    <a:pt x="24481" y="6467"/>
                    <a:pt x="13136" y="19078"/>
                  </a:cubicBezTo>
                  <a:cubicBezTo>
                    <a:pt x="-10124" y="46082"/>
                    <a:pt x="-1685" y="91811"/>
                    <a:pt x="32043" y="121205"/>
                  </a:cubicBezTo>
                  <a:cubicBezTo>
                    <a:pt x="48133" y="135747"/>
                    <a:pt x="68903" y="144041"/>
                    <a:pt x="90584" y="144580"/>
                  </a:cubicBezTo>
                  <a:cubicBezTo>
                    <a:pt x="107539" y="145110"/>
                    <a:pt x="123864" y="138141"/>
                    <a:pt x="135209" y="125530"/>
                  </a:cubicBezTo>
                  <a:cubicBezTo>
                    <a:pt x="158507" y="98498"/>
                    <a:pt x="150068" y="52768"/>
                    <a:pt x="116302" y="23374"/>
                  </a:cubicBezTo>
                  <a:close/>
                  <a:moveTo>
                    <a:pt x="120778" y="113061"/>
                  </a:moveTo>
                  <a:cubicBezTo>
                    <a:pt x="113034" y="121451"/>
                    <a:pt x="101992" y="126011"/>
                    <a:pt x="90584" y="125530"/>
                  </a:cubicBezTo>
                  <a:cubicBezTo>
                    <a:pt x="73516" y="124959"/>
                    <a:pt x="57206" y="118347"/>
                    <a:pt x="44559" y="106870"/>
                  </a:cubicBezTo>
                  <a:cubicBezTo>
                    <a:pt x="19204" y="84782"/>
                    <a:pt x="11422" y="50282"/>
                    <a:pt x="27567" y="31546"/>
                  </a:cubicBezTo>
                  <a:cubicBezTo>
                    <a:pt x="35311" y="23157"/>
                    <a:pt x="46353" y="18597"/>
                    <a:pt x="57761" y="19078"/>
                  </a:cubicBezTo>
                  <a:cubicBezTo>
                    <a:pt x="74827" y="19649"/>
                    <a:pt x="91137" y="26258"/>
                    <a:pt x="103786" y="37728"/>
                  </a:cubicBezTo>
                  <a:cubicBezTo>
                    <a:pt x="129179" y="59826"/>
                    <a:pt x="136961" y="94326"/>
                    <a:pt x="120816" y="113061"/>
                  </a:cubicBezTo>
                  <a:close/>
                </a:path>
              </a:pathLst>
            </a:custGeom>
            <a:grpFill/>
            <a:ln w="9525" cap="flat">
              <a:solidFill>
                <a:schemeClr val="accent3">
                  <a:lumMod val="50000"/>
                </a:schemeClr>
              </a:solidFill>
              <a:prstDash val="solid"/>
              <a:miter/>
            </a:ln>
          </p:spPr>
          <p:txBody>
            <a:bodyPr/>
            <a:lstStyle/>
            <a:p>
              <a:endParaRPr lang="en-US"/>
            </a:p>
          </p:txBody>
        </p:sp>
        <p:sp>
          <p:nvSpPr>
            <p:cNvPr id="51" name="Freeform 50">
              <a:extLst>
                <a:ext uri="{FF2B5EF4-FFF2-40B4-BE49-F238E27FC236}">
                  <a16:creationId xmlns:a16="http://schemas.microsoft.com/office/drawing/2014/main" id="{48EA4ECF-635D-F10D-8D06-9D6E625A8EAE}"/>
                </a:ext>
              </a:extLst>
            </p:cNvPr>
            <p:cNvSpPr/>
            <p:nvPr/>
          </p:nvSpPr>
          <p:spPr>
            <a:xfrm>
              <a:off x="5184625" y="4738278"/>
              <a:ext cx="65374" cy="63415"/>
            </a:xfrm>
            <a:custGeom>
              <a:avLst/>
              <a:gdLst>
                <a:gd name="csX0" fmla="*/ 50019 w 65374"/>
                <a:gd name="csY0" fmla="*/ 7076 h 63415"/>
                <a:gd name="csX1" fmla="*/ 28617 w 65374"/>
                <a:gd name="csY1" fmla="*/ 9 h 63415"/>
                <a:gd name="csX2" fmla="*/ 4671 w 65374"/>
                <a:gd name="csY2" fmla="*/ 11744 h 63415"/>
                <a:gd name="csX3" fmla="*/ 15339 w 65374"/>
                <a:gd name="csY3" fmla="*/ 56349 h 63415"/>
                <a:gd name="csX4" fmla="*/ 36742 w 65374"/>
                <a:gd name="csY4" fmla="*/ 63407 h 63415"/>
                <a:gd name="csX5" fmla="*/ 60687 w 65374"/>
                <a:gd name="csY5" fmla="*/ 51672 h 63415"/>
                <a:gd name="csX6" fmla="*/ 50019 w 65374"/>
                <a:gd name="csY6" fmla="*/ 7076 h 63415"/>
                <a:gd name="csX7" fmla="*/ 45162 w 65374"/>
                <a:gd name="csY7" fmla="*/ 40633 h 63415"/>
                <a:gd name="csX8" fmla="*/ 36742 w 65374"/>
                <a:gd name="csY8" fmla="*/ 44357 h 63415"/>
                <a:gd name="csX9" fmla="*/ 26435 w 65374"/>
                <a:gd name="csY9" fmla="*/ 40861 h 63415"/>
                <a:gd name="csX10" fmla="*/ 20187 w 65374"/>
                <a:gd name="csY10" fmla="*/ 22764 h 63415"/>
                <a:gd name="csX11" fmla="*/ 28617 w 65374"/>
                <a:gd name="csY11" fmla="*/ 19040 h 63415"/>
                <a:gd name="csX12" fmla="*/ 38923 w 65374"/>
                <a:gd name="csY12" fmla="*/ 22545 h 63415"/>
                <a:gd name="csX13" fmla="*/ 45162 w 65374"/>
                <a:gd name="csY13" fmla="*/ 40585 h 634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5374" h="63415">
                  <a:moveTo>
                    <a:pt x="50019" y="7076"/>
                  </a:moveTo>
                  <a:cubicBezTo>
                    <a:pt x="43797" y="2545"/>
                    <a:pt x="36314" y="74"/>
                    <a:pt x="28617" y="9"/>
                  </a:cubicBezTo>
                  <a:cubicBezTo>
                    <a:pt x="19197" y="-223"/>
                    <a:pt x="10259" y="4158"/>
                    <a:pt x="4671" y="11744"/>
                  </a:cubicBezTo>
                  <a:cubicBezTo>
                    <a:pt x="-4501" y="27038"/>
                    <a:pt x="240" y="46859"/>
                    <a:pt x="15339" y="56349"/>
                  </a:cubicBezTo>
                  <a:cubicBezTo>
                    <a:pt x="21564" y="60873"/>
                    <a:pt x="29046" y="63340"/>
                    <a:pt x="36742" y="63407"/>
                  </a:cubicBezTo>
                  <a:cubicBezTo>
                    <a:pt x="46161" y="63640"/>
                    <a:pt x="55100" y="59259"/>
                    <a:pt x="60687" y="51672"/>
                  </a:cubicBezTo>
                  <a:cubicBezTo>
                    <a:pt x="69886" y="36385"/>
                    <a:pt x="65139" y="16547"/>
                    <a:pt x="50019" y="7076"/>
                  </a:cubicBezTo>
                  <a:close/>
                  <a:moveTo>
                    <a:pt x="45162" y="40633"/>
                  </a:moveTo>
                  <a:cubicBezTo>
                    <a:pt x="43092" y="43123"/>
                    <a:pt x="39976" y="44501"/>
                    <a:pt x="36742" y="44357"/>
                  </a:cubicBezTo>
                  <a:cubicBezTo>
                    <a:pt x="33027" y="44287"/>
                    <a:pt x="29426" y="43066"/>
                    <a:pt x="26435" y="40861"/>
                  </a:cubicBezTo>
                  <a:cubicBezTo>
                    <a:pt x="20021" y="37323"/>
                    <a:pt x="17322" y="29507"/>
                    <a:pt x="20187" y="22764"/>
                  </a:cubicBezTo>
                  <a:cubicBezTo>
                    <a:pt x="22261" y="20274"/>
                    <a:pt x="25379" y="18896"/>
                    <a:pt x="28617" y="19040"/>
                  </a:cubicBezTo>
                  <a:cubicBezTo>
                    <a:pt x="32331" y="19115"/>
                    <a:pt x="35932" y="20340"/>
                    <a:pt x="38923" y="22545"/>
                  </a:cubicBezTo>
                  <a:cubicBezTo>
                    <a:pt x="45666" y="27336"/>
                    <a:pt x="48581" y="35785"/>
                    <a:pt x="45162" y="40585"/>
                  </a:cubicBezTo>
                  <a:close/>
                </a:path>
              </a:pathLst>
            </a:custGeom>
            <a:grpFill/>
            <a:ln w="9525" cap="flat">
              <a:solidFill>
                <a:schemeClr val="accent3">
                  <a:lumMod val="50000"/>
                </a:schemeClr>
              </a:solidFill>
              <a:prstDash val="solid"/>
              <a:miter/>
            </a:ln>
          </p:spPr>
          <p:txBody>
            <a:bodyPr/>
            <a:lstStyle/>
            <a:p>
              <a:endParaRPr lang="en-US"/>
            </a:p>
          </p:txBody>
        </p:sp>
        <p:sp>
          <p:nvSpPr>
            <p:cNvPr id="52" name="Freeform 51">
              <a:extLst>
                <a:ext uri="{FF2B5EF4-FFF2-40B4-BE49-F238E27FC236}">
                  <a16:creationId xmlns:a16="http://schemas.microsoft.com/office/drawing/2014/main" id="{E18EA113-4684-A1CB-1A23-03AACCB954BD}"/>
                </a:ext>
              </a:extLst>
            </p:cNvPr>
            <p:cNvSpPr/>
            <p:nvPr/>
          </p:nvSpPr>
          <p:spPr>
            <a:xfrm>
              <a:off x="5029681" y="5085905"/>
              <a:ext cx="65021" cy="63878"/>
            </a:xfrm>
            <a:custGeom>
              <a:avLst/>
              <a:gdLst>
                <a:gd name="csX0" fmla="*/ 51287 w 65021"/>
                <a:gd name="csY0" fmla="*/ 8398 h 63878"/>
                <a:gd name="csX1" fmla="*/ 28294 w 65021"/>
                <a:gd name="csY1" fmla="*/ 7 h 63878"/>
                <a:gd name="csX2" fmla="*/ 5739 w 65021"/>
                <a:gd name="csY2" fmla="*/ 10398 h 63878"/>
                <a:gd name="csX3" fmla="*/ 13749 w 65021"/>
                <a:gd name="csY3" fmla="*/ 55480 h 63878"/>
                <a:gd name="csX4" fmla="*/ 36742 w 65021"/>
                <a:gd name="csY4" fmla="*/ 63872 h 63878"/>
                <a:gd name="csX5" fmla="*/ 59288 w 65021"/>
                <a:gd name="csY5" fmla="*/ 53480 h 63878"/>
                <a:gd name="csX6" fmla="*/ 51287 w 65021"/>
                <a:gd name="csY6" fmla="*/ 8398 h 63878"/>
                <a:gd name="csX7" fmla="*/ 44381 w 65021"/>
                <a:gd name="csY7" fmla="*/ 41621 h 63878"/>
                <a:gd name="csX8" fmla="*/ 36761 w 65021"/>
                <a:gd name="csY8" fmla="*/ 44822 h 63878"/>
                <a:gd name="csX9" fmla="*/ 25731 w 65021"/>
                <a:gd name="csY9" fmla="*/ 40650 h 63878"/>
                <a:gd name="csX10" fmla="*/ 20674 w 65021"/>
                <a:gd name="csY10" fmla="*/ 22257 h 63878"/>
                <a:gd name="csX11" fmla="*/ 28294 w 65021"/>
                <a:gd name="csY11" fmla="*/ 19057 h 63878"/>
                <a:gd name="csX12" fmla="*/ 39267 w 65021"/>
                <a:gd name="csY12" fmla="*/ 23181 h 63878"/>
                <a:gd name="csX13" fmla="*/ 44381 w 65021"/>
                <a:gd name="csY13" fmla="*/ 41621 h 638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5021" h="63878">
                  <a:moveTo>
                    <a:pt x="51287" y="8398"/>
                  </a:moveTo>
                  <a:cubicBezTo>
                    <a:pt x="44802" y="3062"/>
                    <a:pt x="36691" y="102"/>
                    <a:pt x="28294" y="7"/>
                  </a:cubicBezTo>
                  <a:cubicBezTo>
                    <a:pt x="19577" y="-181"/>
                    <a:pt x="11259" y="3651"/>
                    <a:pt x="5739" y="10398"/>
                  </a:cubicBezTo>
                  <a:cubicBezTo>
                    <a:pt x="-4357" y="25091"/>
                    <a:pt x="-790" y="45166"/>
                    <a:pt x="13749" y="55480"/>
                  </a:cubicBezTo>
                  <a:cubicBezTo>
                    <a:pt x="20236" y="60812"/>
                    <a:pt x="28346" y="63773"/>
                    <a:pt x="36742" y="63872"/>
                  </a:cubicBezTo>
                  <a:cubicBezTo>
                    <a:pt x="45456" y="64060"/>
                    <a:pt x="53772" y="60227"/>
                    <a:pt x="59288" y="53480"/>
                  </a:cubicBezTo>
                  <a:cubicBezTo>
                    <a:pt x="69374" y="38788"/>
                    <a:pt x="65813" y="18722"/>
                    <a:pt x="51287" y="8398"/>
                  </a:cubicBezTo>
                  <a:close/>
                  <a:moveTo>
                    <a:pt x="44381" y="41621"/>
                  </a:moveTo>
                  <a:cubicBezTo>
                    <a:pt x="42446" y="43771"/>
                    <a:pt x="39651" y="44945"/>
                    <a:pt x="36761" y="44822"/>
                  </a:cubicBezTo>
                  <a:cubicBezTo>
                    <a:pt x="32718" y="44723"/>
                    <a:pt x="28828" y="43252"/>
                    <a:pt x="25731" y="40650"/>
                  </a:cubicBezTo>
                  <a:cubicBezTo>
                    <a:pt x="19600" y="36706"/>
                    <a:pt x="17421" y="28781"/>
                    <a:pt x="20674" y="22257"/>
                  </a:cubicBezTo>
                  <a:cubicBezTo>
                    <a:pt x="22608" y="20106"/>
                    <a:pt x="25403" y="18932"/>
                    <a:pt x="28294" y="19057"/>
                  </a:cubicBezTo>
                  <a:cubicBezTo>
                    <a:pt x="32313" y="19147"/>
                    <a:pt x="36182" y="20602"/>
                    <a:pt x="39267" y="23181"/>
                  </a:cubicBezTo>
                  <a:cubicBezTo>
                    <a:pt x="45490" y="27075"/>
                    <a:pt x="47709" y="35078"/>
                    <a:pt x="44381" y="41621"/>
                  </a:cubicBezTo>
                  <a:close/>
                </a:path>
              </a:pathLst>
            </a:custGeom>
            <a:grpFill/>
            <a:ln w="9525" cap="flat">
              <a:solidFill>
                <a:schemeClr val="accent3">
                  <a:lumMod val="50000"/>
                </a:schemeClr>
              </a:solidFill>
              <a:prstDash val="solid"/>
              <a:miter/>
            </a:ln>
          </p:spPr>
          <p:txBody>
            <a:bodyPr/>
            <a:lstStyle/>
            <a:p>
              <a:endParaRPr lang="en-US"/>
            </a:p>
          </p:txBody>
        </p:sp>
        <p:sp>
          <p:nvSpPr>
            <p:cNvPr id="53" name="Freeform 52">
              <a:extLst>
                <a:ext uri="{FF2B5EF4-FFF2-40B4-BE49-F238E27FC236}">
                  <a16:creationId xmlns:a16="http://schemas.microsoft.com/office/drawing/2014/main" id="{444614D0-3649-FFCF-5D84-97397D0C0BAC}"/>
                </a:ext>
              </a:extLst>
            </p:cNvPr>
            <p:cNvSpPr/>
            <p:nvPr/>
          </p:nvSpPr>
          <p:spPr>
            <a:xfrm>
              <a:off x="4924253" y="4636160"/>
              <a:ext cx="436035" cy="648576"/>
            </a:xfrm>
            <a:custGeom>
              <a:avLst/>
              <a:gdLst>
                <a:gd name="csX0" fmla="*/ 432978 w 436035"/>
                <a:gd name="csY0" fmla="*/ 180880 h 648576"/>
                <a:gd name="csX1" fmla="*/ 436035 w 436035"/>
                <a:gd name="csY1" fmla="*/ 177813 h 648576"/>
                <a:gd name="csX2" fmla="*/ 430701 w 436035"/>
                <a:gd name="csY2" fmla="*/ 98717 h 648576"/>
                <a:gd name="csX3" fmla="*/ 294846 w 436035"/>
                <a:gd name="csY3" fmla="*/ 0 h 648576"/>
                <a:gd name="csX4" fmla="*/ 211217 w 436035"/>
                <a:gd name="csY4" fmla="*/ 15850 h 648576"/>
                <a:gd name="csX5" fmla="*/ 209131 w 436035"/>
                <a:gd name="csY5" fmla="*/ 17936 h 648576"/>
                <a:gd name="csX6" fmla="*/ 100470 w 436035"/>
                <a:gd name="csY6" fmla="*/ 179680 h 648576"/>
                <a:gd name="csX7" fmla="*/ 61932 w 436035"/>
                <a:gd name="csY7" fmla="*/ 297037 h 648576"/>
                <a:gd name="csX8" fmla="*/ 1572 w 436035"/>
                <a:gd name="csY8" fmla="*/ 445332 h 648576"/>
                <a:gd name="csX9" fmla="*/ 0 w 436035"/>
                <a:gd name="csY9" fmla="*/ 448018 h 648576"/>
                <a:gd name="csX10" fmla="*/ 7620 w 436035"/>
                <a:gd name="csY10" fmla="*/ 521970 h 648576"/>
                <a:gd name="csX11" fmla="*/ 149390 w 436035"/>
                <a:gd name="csY11" fmla="*/ 648576 h 648576"/>
                <a:gd name="csX12" fmla="*/ 216008 w 436035"/>
                <a:gd name="csY12" fmla="*/ 632974 h 648576"/>
                <a:gd name="csX13" fmla="*/ 218094 w 436035"/>
                <a:gd name="csY13" fmla="*/ 629945 h 648576"/>
                <a:gd name="csX14" fmla="*/ 248574 w 436035"/>
                <a:gd name="csY14" fmla="*/ 568900 h 648576"/>
                <a:gd name="csX15" fmla="*/ 280864 w 436035"/>
                <a:gd name="csY15" fmla="*/ 455962 h 648576"/>
                <a:gd name="csX16" fmla="*/ 345453 w 436035"/>
                <a:gd name="csY16" fmla="*/ 287760 h 648576"/>
                <a:gd name="csX17" fmla="*/ 432978 w 436035"/>
                <a:gd name="csY17" fmla="*/ 180880 h 648576"/>
                <a:gd name="csX18" fmla="*/ 262357 w 436035"/>
                <a:gd name="csY18" fmla="*/ 451514 h 648576"/>
                <a:gd name="csX19" fmla="*/ 230619 w 436035"/>
                <a:gd name="csY19" fmla="*/ 562585 h 648576"/>
                <a:gd name="csX20" fmla="*/ 230619 w 436035"/>
                <a:gd name="csY20" fmla="*/ 562585 h 648576"/>
                <a:gd name="csX21" fmla="*/ 204464 w 436035"/>
                <a:gd name="csY21" fmla="*/ 616106 h 648576"/>
                <a:gd name="csX22" fmla="*/ 154705 w 436035"/>
                <a:gd name="csY22" fmla="*/ 627755 h 648576"/>
                <a:gd name="csX23" fmla="*/ 25889 w 436035"/>
                <a:gd name="csY23" fmla="*/ 512674 h 648576"/>
                <a:gd name="csX24" fmla="*/ 19631 w 436035"/>
                <a:gd name="csY24" fmla="*/ 452247 h 648576"/>
                <a:gd name="csX25" fmla="*/ 80420 w 436035"/>
                <a:gd name="csY25" fmla="*/ 301752 h 648576"/>
                <a:gd name="csX26" fmla="*/ 118100 w 436035"/>
                <a:gd name="csY26" fmla="*/ 186976 h 648576"/>
                <a:gd name="csX27" fmla="*/ 220561 w 436035"/>
                <a:gd name="csY27" fmla="*/ 33423 h 648576"/>
                <a:gd name="csX28" fmla="*/ 290293 w 436035"/>
                <a:gd name="csY28" fmla="*/ 20250 h 648576"/>
                <a:gd name="csX29" fmla="*/ 412280 w 436035"/>
                <a:gd name="csY29" fmla="*/ 108899 h 648576"/>
                <a:gd name="csX30" fmla="*/ 416452 w 436035"/>
                <a:gd name="csY30" fmla="*/ 170478 h 648576"/>
                <a:gd name="csX31" fmla="*/ 329232 w 436035"/>
                <a:gd name="csY31" fmla="*/ 277787 h 648576"/>
                <a:gd name="csX32" fmla="*/ 262357 w 436035"/>
                <a:gd name="csY32" fmla="*/ 451514 h 648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436035" h="648576">
                  <a:moveTo>
                    <a:pt x="432978" y="180880"/>
                  </a:moveTo>
                  <a:lnTo>
                    <a:pt x="436035" y="177813"/>
                  </a:lnTo>
                  <a:lnTo>
                    <a:pt x="430701" y="98717"/>
                  </a:lnTo>
                  <a:lnTo>
                    <a:pt x="294846" y="0"/>
                  </a:lnTo>
                  <a:lnTo>
                    <a:pt x="211217" y="15850"/>
                  </a:lnTo>
                  <a:lnTo>
                    <a:pt x="209131" y="17936"/>
                  </a:lnTo>
                  <a:cubicBezTo>
                    <a:pt x="162659" y="64207"/>
                    <a:pt x="125740" y="119164"/>
                    <a:pt x="100470" y="179680"/>
                  </a:cubicBezTo>
                  <a:cubicBezTo>
                    <a:pt x="84450" y="217684"/>
                    <a:pt x="71560" y="256934"/>
                    <a:pt x="61932" y="297037"/>
                  </a:cubicBezTo>
                  <a:cubicBezTo>
                    <a:pt x="50154" y="349468"/>
                    <a:pt x="29757" y="399579"/>
                    <a:pt x="1572" y="445332"/>
                  </a:cubicBezTo>
                  <a:lnTo>
                    <a:pt x="0" y="448018"/>
                  </a:lnTo>
                  <a:lnTo>
                    <a:pt x="7620" y="521970"/>
                  </a:lnTo>
                  <a:lnTo>
                    <a:pt x="149390" y="648576"/>
                  </a:lnTo>
                  <a:lnTo>
                    <a:pt x="216008" y="632974"/>
                  </a:lnTo>
                  <a:lnTo>
                    <a:pt x="218094" y="629945"/>
                  </a:lnTo>
                  <a:cubicBezTo>
                    <a:pt x="230917" y="611039"/>
                    <a:pt x="241167" y="590511"/>
                    <a:pt x="248574" y="568900"/>
                  </a:cubicBezTo>
                  <a:cubicBezTo>
                    <a:pt x="261395" y="531872"/>
                    <a:pt x="272174" y="494170"/>
                    <a:pt x="280864" y="455962"/>
                  </a:cubicBezTo>
                  <a:cubicBezTo>
                    <a:pt x="294675" y="399764"/>
                    <a:pt x="306581" y="351187"/>
                    <a:pt x="345453" y="287760"/>
                  </a:cubicBezTo>
                  <a:cubicBezTo>
                    <a:pt x="370399" y="248870"/>
                    <a:pt x="399770" y="213004"/>
                    <a:pt x="432978" y="180880"/>
                  </a:cubicBezTo>
                  <a:close/>
                  <a:moveTo>
                    <a:pt x="262357" y="451514"/>
                  </a:moveTo>
                  <a:cubicBezTo>
                    <a:pt x="253813" y="489089"/>
                    <a:pt x="243218" y="526168"/>
                    <a:pt x="230619" y="562585"/>
                  </a:cubicBezTo>
                  <a:lnTo>
                    <a:pt x="230619" y="562585"/>
                  </a:lnTo>
                  <a:cubicBezTo>
                    <a:pt x="224149" y="581438"/>
                    <a:pt x="215363" y="599416"/>
                    <a:pt x="204464" y="616106"/>
                  </a:cubicBezTo>
                  <a:lnTo>
                    <a:pt x="154705" y="627755"/>
                  </a:lnTo>
                  <a:lnTo>
                    <a:pt x="25889" y="512674"/>
                  </a:lnTo>
                  <a:lnTo>
                    <a:pt x="19631" y="452247"/>
                  </a:lnTo>
                  <a:cubicBezTo>
                    <a:pt x="47964" y="405732"/>
                    <a:pt x="68497" y="354896"/>
                    <a:pt x="80420" y="301752"/>
                  </a:cubicBezTo>
                  <a:cubicBezTo>
                    <a:pt x="89839" y="262533"/>
                    <a:pt x="102440" y="224146"/>
                    <a:pt x="118100" y="186976"/>
                  </a:cubicBezTo>
                  <a:cubicBezTo>
                    <a:pt x="142019" y="129655"/>
                    <a:pt x="176813" y="77512"/>
                    <a:pt x="220561" y="33423"/>
                  </a:cubicBezTo>
                  <a:lnTo>
                    <a:pt x="290293" y="20250"/>
                  </a:lnTo>
                  <a:lnTo>
                    <a:pt x="412280" y="108899"/>
                  </a:lnTo>
                  <a:lnTo>
                    <a:pt x="416452" y="170478"/>
                  </a:lnTo>
                  <a:cubicBezTo>
                    <a:pt x="383397" y="202819"/>
                    <a:pt x="354135" y="238820"/>
                    <a:pt x="329232" y="277787"/>
                  </a:cubicBezTo>
                  <a:cubicBezTo>
                    <a:pt x="288836" y="343757"/>
                    <a:pt x="276577" y="393649"/>
                    <a:pt x="262357" y="451514"/>
                  </a:cubicBezTo>
                  <a:close/>
                </a:path>
              </a:pathLst>
            </a:custGeom>
            <a:grpFill/>
            <a:ln w="9525" cap="flat">
              <a:solidFill>
                <a:schemeClr val="accent3">
                  <a:lumMod val="50000"/>
                </a:schemeClr>
              </a:solidFill>
              <a:prstDash val="solid"/>
              <a:miter/>
            </a:ln>
          </p:spPr>
          <p:txBody>
            <a:bodyPr/>
            <a:lstStyle/>
            <a:p>
              <a:endParaRPr lang="en-US"/>
            </a:p>
          </p:txBody>
        </p:sp>
        <p:sp>
          <p:nvSpPr>
            <p:cNvPr id="54" name="Freeform 53">
              <a:extLst>
                <a:ext uri="{FF2B5EF4-FFF2-40B4-BE49-F238E27FC236}">
                  <a16:creationId xmlns:a16="http://schemas.microsoft.com/office/drawing/2014/main" id="{19F1611D-22D5-76D3-6D17-A87E9B746390}"/>
                </a:ext>
              </a:extLst>
            </p:cNvPr>
            <p:cNvSpPr/>
            <p:nvPr/>
          </p:nvSpPr>
          <p:spPr>
            <a:xfrm>
              <a:off x="4742277" y="4551845"/>
              <a:ext cx="876352" cy="816263"/>
            </a:xfrm>
            <a:custGeom>
              <a:avLst/>
              <a:gdLst>
                <a:gd name="csX0" fmla="*/ 875568 w 876352"/>
                <a:gd name="csY0" fmla="*/ 561832 h 816263"/>
                <a:gd name="csX1" fmla="*/ 866233 w 876352"/>
                <a:gd name="csY1" fmla="*/ 556203 h 816263"/>
                <a:gd name="csX2" fmla="*/ 781156 w 876352"/>
                <a:gd name="csY2" fmla="*/ 512883 h 816263"/>
                <a:gd name="csX3" fmla="*/ 723120 w 876352"/>
                <a:gd name="csY3" fmla="*/ 449732 h 816263"/>
                <a:gd name="csX4" fmla="*/ 660846 w 876352"/>
                <a:gd name="csY4" fmla="*/ 399545 h 816263"/>
                <a:gd name="csX5" fmla="*/ 554299 w 876352"/>
                <a:gd name="csY5" fmla="*/ 421453 h 816263"/>
                <a:gd name="csX6" fmla="*/ 568215 w 876352"/>
                <a:gd name="csY6" fmla="*/ 397021 h 816263"/>
                <a:gd name="csX7" fmla="*/ 741513 w 876352"/>
                <a:gd name="csY7" fmla="*/ 217656 h 816263"/>
                <a:gd name="csX8" fmla="*/ 441961 w 876352"/>
                <a:gd name="csY8" fmla="*/ 0 h 816263"/>
                <a:gd name="csX9" fmla="*/ 247280 w 876352"/>
                <a:gd name="csY9" fmla="*/ 226133 h 816263"/>
                <a:gd name="csX10" fmla="*/ 220610 w 876352"/>
                <a:gd name="csY10" fmla="*/ 177508 h 816263"/>
                <a:gd name="csX11" fmla="*/ 160678 w 876352"/>
                <a:gd name="csY11" fmla="*/ 153581 h 816263"/>
                <a:gd name="csX12" fmla="*/ 95623 w 876352"/>
                <a:gd name="csY12" fmla="*/ 139198 h 816263"/>
                <a:gd name="csX13" fmla="*/ 33053 w 876352"/>
                <a:gd name="csY13" fmla="*/ 95231 h 816263"/>
                <a:gd name="csX14" fmla="*/ 20373 w 876352"/>
                <a:gd name="csY14" fmla="*/ 90684 h 816263"/>
                <a:gd name="csX15" fmla="*/ 16099 w 876352"/>
                <a:gd name="csY15" fmla="*/ 94698 h 816263"/>
                <a:gd name="csX16" fmla="*/ 9945 w 876352"/>
                <a:gd name="csY16" fmla="*/ 200025 h 816263"/>
                <a:gd name="csX17" fmla="*/ 55903 w 876352"/>
                <a:gd name="csY17" fmla="*/ 233363 h 816263"/>
                <a:gd name="csX18" fmla="*/ 55916 w 876352"/>
                <a:gd name="csY18" fmla="*/ 233483 h 816263"/>
                <a:gd name="csX19" fmla="*/ 55903 w 876352"/>
                <a:gd name="csY19" fmla="*/ 233496 h 816263"/>
                <a:gd name="csX20" fmla="*/ 48836 w 876352"/>
                <a:gd name="csY20" fmla="*/ 272234 h 816263"/>
                <a:gd name="csX21" fmla="*/ 103824 w 876352"/>
                <a:gd name="csY21" fmla="*/ 311468 h 816263"/>
                <a:gd name="csX22" fmla="*/ 103905 w 876352"/>
                <a:gd name="csY22" fmla="*/ 311558 h 816263"/>
                <a:gd name="csX23" fmla="*/ 103890 w 876352"/>
                <a:gd name="csY23" fmla="*/ 311601 h 816263"/>
                <a:gd name="csX24" fmla="*/ 100566 w 876352"/>
                <a:gd name="csY24" fmla="*/ 324802 h 816263"/>
                <a:gd name="csX25" fmla="*/ 110463 w 876352"/>
                <a:gd name="csY25" fmla="*/ 344434 h 816263"/>
                <a:gd name="csX26" fmla="*/ 171966 w 876352"/>
                <a:gd name="csY26" fmla="*/ 354578 h 816263"/>
                <a:gd name="csX27" fmla="*/ 193092 w 876352"/>
                <a:gd name="csY27" fmla="*/ 377590 h 816263"/>
                <a:gd name="csX28" fmla="*/ 195311 w 876352"/>
                <a:gd name="csY28" fmla="*/ 379143 h 816263"/>
                <a:gd name="csX29" fmla="*/ 138161 w 876352"/>
                <a:gd name="csY29" fmla="*/ 512759 h 816263"/>
                <a:gd name="csX30" fmla="*/ 80430 w 876352"/>
                <a:gd name="csY30" fmla="*/ 572519 h 816263"/>
                <a:gd name="csX31" fmla="*/ 353550 w 876352"/>
                <a:gd name="csY31" fmla="*/ 816264 h 816263"/>
                <a:gd name="csX32" fmla="*/ 475594 w 876352"/>
                <a:gd name="csY32" fmla="*/ 668807 h 816263"/>
                <a:gd name="csX33" fmla="*/ 508103 w 876352"/>
                <a:gd name="csY33" fmla="*/ 556860 h 816263"/>
                <a:gd name="csX34" fmla="*/ 513056 w 876352"/>
                <a:gd name="csY34" fmla="*/ 556755 h 816263"/>
                <a:gd name="csX35" fmla="*/ 515618 w 876352"/>
                <a:gd name="csY35" fmla="*/ 555879 h 816263"/>
                <a:gd name="csX36" fmla="*/ 563148 w 876352"/>
                <a:gd name="csY36" fmla="*/ 614667 h 816263"/>
                <a:gd name="csX37" fmla="*/ 588180 w 876352"/>
                <a:gd name="csY37" fmla="*/ 614667 h 816263"/>
                <a:gd name="csX38" fmla="*/ 600295 w 876352"/>
                <a:gd name="csY38" fmla="*/ 601942 h 816263"/>
                <a:gd name="csX39" fmla="*/ 600393 w 876352"/>
                <a:gd name="csY39" fmla="*/ 601897 h 816263"/>
                <a:gd name="csX40" fmla="*/ 600438 w 876352"/>
                <a:gd name="csY40" fmla="*/ 601942 h 816263"/>
                <a:gd name="csX41" fmla="*/ 671142 w 876352"/>
                <a:gd name="csY41" fmla="*/ 646557 h 816263"/>
                <a:gd name="csX42" fmla="*/ 677715 w 876352"/>
                <a:gd name="csY42" fmla="*/ 646205 h 816263"/>
                <a:gd name="csX43" fmla="*/ 702899 w 876352"/>
                <a:gd name="csY43" fmla="*/ 632727 h 816263"/>
                <a:gd name="csX44" fmla="*/ 712967 w 876352"/>
                <a:gd name="csY44" fmla="*/ 608705 h 816263"/>
                <a:gd name="csX45" fmla="*/ 713100 w 876352"/>
                <a:gd name="csY45" fmla="*/ 608648 h 816263"/>
                <a:gd name="csX46" fmla="*/ 776051 w 876352"/>
                <a:gd name="csY46" fmla="*/ 638737 h 816263"/>
                <a:gd name="csX47" fmla="*/ 875015 w 876352"/>
                <a:gd name="csY47" fmla="*/ 570709 h 816263"/>
                <a:gd name="csX48" fmla="*/ 875568 w 876352"/>
                <a:gd name="csY48" fmla="*/ 561832 h 816263"/>
                <a:gd name="csX49" fmla="*/ 776889 w 876352"/>
                <a:gd name="csY49" fmla="*/ 619706 h 816263"/>
                <a:gd name="csX50" fmla="*/ 711252 w 876352"/>
                <a:gd name="csY50" fmla="*/ 581006 h 816263"/>
                <a:gd name="csX51" fmla="*/ 697789 w 876352"/>
                <a:gd name="csY51" fmla="*/ 580542 h 816263"/>
                <a:gd name="csX52" fmla="*/ 694821 w 876352"/>
                <a:gd name="csY52" fmla="*/ 588550 h 816263"/>
                <a:gd name="csX53" fmla="*/ 688002 w 876352"/>
                <a:gd name="csY53" fmla="*/ 620811 h 816263"/>
                <a:gd name="csX54" fmla="*/ 675619 w 876352"/>
                <a:gd name="csY54" fmla="*/ 627259 h 816263"/>
                <a:gd name="csX55" fmla="*/ 605639 w 876352"/>
                <a:gd name="csY55" fmla="*/ 574358 h 816263"/>
                <a:gd name="csX56" fmla="*/ 592690 w 876352"/>
                <a:gd name="csY56" fmla="*/ 570646 h 816263"/>
                <a:gd name="csX57" fmla="*/ 587856 w 876352"/>
                <a:gd name="csY57" fmla="*/ 577806 h 816263"/>
                <a:gd name="csX58" fmla="*/ 578959 w 876352"/>
                <a:gd name="csY58" fmla="*/ 597999 h 816263"/>
                <a:gd name="csX59" fmla="*/ 571225 w 876352"/>
                <a:gd name="csY59" fmla="*/ 597408 h 816263"/>
                <a:gd name="csX60" fmla="*/ 528648 w 876352"/>
                <a:gd name="csY60" fmla="*/ 539620 h 816263"/>
                <a:gd name="csX61" fmla="*/ 516009 w 876352"/>
                <a:gd name="csY61" fmla="*/ 535229 h 816263"/>
                <a:gd name="csX62" fmla="*/ 513151 w 876352"/>
                <a:gd name="csY62" fmla="*/ 536467 h 816263"/>
                <a:gd name="csX63" fmla="*/ 522152 w 876352"/>
                <a:gd name="csY63" fmla="*/ 502225 h 816263"/>
                <a:gd name="csX64" fmla="*/ 513881 w 876352"/>
                <a:gd name="csY64" fmla="*/ 487343 h 816263"/>
                <a:gd name="csX65" fmla="*/ 510513 w 876352"/>
                <a:gd name="csY65" fmla="*/ 486880 h 816263"/>
                <a:gd name="csX66" fmla="*/ 510513 w 876352"/>
                <a:gd name="csY66" fmla="*/ 486880 h 816263"/>
                <a:gd name="csX67" fmla="*/ 504798 w 876352"/>
                <a:gd name="csY67" fmla="*/ 493109 h 816263"/>
                <a:gd name="csX68" fmla="*/ 492339 w 876352"/>
                <a:gd name="csY68" fmla="*/ 541172 h 816263"/>
                <a:gd name="csX69" fmla="*/ 490339 w 876352"/>
                <a:gd name="csY69" fmla="*/ 549335 h 816263"/>
                <a:gd name="csX70" fmla="*/ 489805 w 876352"/>
                <a:gd name="csY70" fmla="*/ 551478 h 816263"/>
                <a:gd name="csX71" fmla="*/ 457620 w 876352"/>
                <a:gd name="csY71" fmla="*/ 662521 h 816263"/>
                <a:gd name="csX72" fmla="*/ 356846 w 876352"/>
                <a:gd name="csY72" fmla="*/ 793661 h 816263"/>
                <a:gd name="csX73" fmla="*/ 110558 w 876352"/>
                <a:gd name="csY73" fmla="*/ 573776 h 816263"/>
                <a:gd name="csX74" fmla="*/ 154573 w 876352"/>
                <a:gd name="csY74" fmla="*/ 522522 h 816263"/>
                <a:gd name="csX75" fmla="*/ 215142 w 876352"/>
                <a:gd name="csY75" fmla="*/ 378695 h 816263"/>
                <a:gd name="csX76" fmla="*/ 212018 w 876352"/>
                <a:gd name="csY76" fmla="*/ 368941 h 816263"/>
                <a:gd name="csX77" fmla="*/ 200474 w 876352"/>
                <a:gd name="csY77" fmla="*/ 359340 h 816263"/>
                <a:gd name="csX78" fmla="*/ 193368 w 876352"/>
                <a:gd name="csY78" fmla="*/ 352006 h 816263"/>
                <a:gd name="csX79" fmla="*/ 192482 w 876352"/>
                <a:gd name="csY79" fmla="*/ 350872 h 816263"/>
                <a:gd name="csX80" fmla="*/ 185958 w 876352"/>
                <a:gd name="csY80" fmla="*/ 340195 h 816263"/>
                <a:gd name="csX81" fmla="*/ 175337 w 876352"/>
                <a:gd name="csY81" fmla="*/ 334670 h 816263"/>
                <a:gd name="csX82" fmla="*/ 122645 w 876352"/>
                <a:gd name="csY82" fmla="*/ 329689 h 816263"/>
                <a:gd name="csX83" fmla="*/ 119664 w 876352"/>
                <a:gd name="csY83" fmla="*/ 324650 h 816263"/>
                <a:gd name="csX84" fmla="*/ 129189 w 876352"/>
                <a:gd name="csY84" fmla="*/ 310620 h 816263"/>
                <a:gd name="csX85" fmla="*/ 130362 w 876352"/>
                <a:gd name="csY85" fmla="*/ 297201 h 816263"/>
                <a:gd name="csX86" fmla="*/ 123055 w 876352"/>
                <a:gd name="csY86" fmla="*/ 293799 h 816263"/>
                <a:gd name="csX87" fmla="*/ 123007 w 876352"/>
                <a:gd name="csY87" fmla="*/ 293799 h 816263"/>
                <a:gd name="csX88" fmla="*/ 67105 w 876352"/>
                <a:gd name="csY88" fmla="*/ 266490 h 816263"/>
                <a:gd name="csX89" fmla="*/ 79487 w 876352"/>
                <a:gd name="csY89" fmla="*/ 237658 h 816263"/>
                <a:gd name="csX90" fmla="*/ 83289 w 876352"/>
                <a:gd name="csY90" fmla="*/ 224736 h 816263"/>
                <a:gd name="csX91" fmla="*/ 77039 w 876352"/>
                <a:gd name="csY91" fmla="*/ 220008 h 816263"/>
                <a:gd name="csX92" fmla="*/ 26262 w 876352"/>
                <a:gd name="csY92" fmla="*/ 190157 h 816263"/>
                <a:gd name="csX93" fmla="*/ 25976 w 876352"/>
                <a:gd name="csY93" fmla="*/ 119358 h 816263"/>
                <a:gd name="csX94" fmla="*/ 26107 w 876352"/>
                <a:gd name="csY94" fmla="*/ 119327 h 816263"/>
                <a:gd name="csX95" fmla="*/ 26138 w 876352"/>
                <a:gd name="csY95" fmla="*/ 119358 h 816263"/>
                <a:gd name="csX96" fmla="*/ 89546 w 876352"/>
                <a:gd name="csY96" fmla="*/ 157258 h 816263"/>
                <a:gd name="csX97" fmla="*/ 158126 w 876352"/>
                <a:gd name="csY97" fmla="*/ 172498 h 816263"/>
                <a:gd name="csX98" fmla="*/ 207256 w 876352"/>
                <a:gd name="csY98" fmla="*/ 191167 h 816263"/>
                <a:gd name="csX99" fmla="*/ 232487 w 876352"/>
                <a:gd name="csY99" fmla="*/ 256127 h 816263"/>
                <a:gd name="csX100" fmla="*/ 233164 w 876352"/>
                <a:gd name="csY100" fmla="*/ 259337 h 816263"/>
                <a:gd name="csX101" fmla="*/ 207827 w 876352"/>
                <a:gd name="csY101" fmla="*/ 332680 h 816263"/>
                <a:gd name="csX102" fmla="*/ 215030 w 876352"/>
                <a:gd name="csY102" fmla="*/ 344063 h 816263"/>
                <a:gd name="csX103" fmla="*/ 226096 w 876352"/>
                <a:gd name="csY103" fmla="*/ 337957 h 816263"/>
                <a:gd name="csX104" fmla="*/ 256205 w 876352"/>
                <a:gd name="csY104" fmla="*/ 253022 h 816263"/>
                <a:gd name="csX105" fmla="*/ 441304 w 876352"/>
                <a:gd name="csY105" fmla="*/ 23060 h 816263"/>
                <a:gd name="csX106" fmla="*/ 709909 w 876352"/>
                <a:gd name="csY106" fmla="*/ 218275 h 816263"/>
                <a:gd name="csX107" fmla="*/ 551956 w 876352"/>
                <a:gd name="csY107" fmla="*/ 387106 h 816263"/>
                <a:gd name="csX108" fmla="*/ 526562 w 876352"/>
                <a:gd name="csY108" fmla="*/ 434731 h 816263"/>
                <a:gd name="csX109" fmla="*/ 518257 w 876352"/>
                <a:gd name="csY109" fmla="*/ 453952 h 816263"/>
                <a:gd name="csX110" fmla="*/ 520920 w 876352"/>
                <a:gd name="csY110" fmla="*/ 460619 h 816263"/>
                <a:gd name="csX111" fmla="*/ 524924 w 876352"/>
                <a:gd name="csY111" fmla="*/ 460619 h 816263"/>
                <a:gd name="csX112" fmla="*/ 537668 w 876352"/>
                <a:gd name="csY112" fmla="*/ 455419 h 816263"/>
                <a:gd name="csX113" fmla="*/ 539450 w 876352"/>
                <a:gd name="csY113" fmla="*/ 454409 h 816263"/>
                <a:gd name="csX114" fmla="*/ 655255 w 876352"/>
                <a:gd name="csY114" fmla="*/ 417833 h 816263"/>
                <a:gd name="csX115" fmla="*/ 708166 w 876352"/>
                <a:gd name="csY115" fmla="*/ 461562 h 816263"/>
                <a:gd name="csX116" fmla="*/ 768526 w 876352"/>
                <a:gd name="csY116" fmla="*/ 527199 h 816263"/>
                <a:gd name="csX117" fmla="*/ 849908 w 876352"/>
                <a:gd name="csY117" fmla="*/ 574529 h 816263"/>
                <a:gd name="csX118" fmla="*/ 849987 w 876352"/>
                <a:gd name="csY118" fmla="*/ 574638 h 816263"/>
                <a:gd name="csX119" fmla="*/ 849974 w 876352"/>
                <a:gd name="csY119" fmla="*/ 574672 h 816263"/>
                <a:gd name="csX120" fmla="*/ 776879 w 876352"/>
                <a:gd name="csY120" fmla="*/ 619706 h 8162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Lst>
              <a:rect l="l" t="t" r="r" b="b"/>
              <a:pathLst>
                <a:path w="876352" h="816263">
                  <a:moveTo>
                    <a:pt x="875568" y="561832"/>
                  </a:moveTo>
                  <a:cubicBezTo>
                    <a:pt x="873944" y="558185"/>
                    <a:pt x="870218" y="555937"/>
                    <a:pt x="866233" y="556203"/>
                  </a:cubicBezTo>
                  <a:cubicBezTo>
                    <a:pt x="834963" y="558260"/>
                    <a:pt x="807055" y="535943"/>
                    <a:pt x="781156" y="512883"/>
                  </a:cubicBezTo>
                  <a:cubicBezTo>
                    <a:pt x="759800" y="493773"/>
                    <a:pt x="740362" y="472623"/>
                    <a:pt x="723120" y="449732"/>
                  </a:cubicBezTo>
                  <a:cubicBezTo>
                    <a:pt x="704556" y="426025"/>
                    <a:pt x="691135" y="408899"/>
                    <a:pt x="660846" y="399545"/>
                  </a:cubicBezTo>
                  <a:cubicBezTo>
                    <a:pt x="624013" y="388115"/>
                    <a:pt x="584141" y="403793"/>
                    <a:pt x="554299" y="421453"/>
                  </a:cubicBezTo>
                  <a:cubicBezTo>
                    <a:pt x="558462" y="413556"/>
                    <a:pt x="563053" y="405451"/>
                    <a:pt x="568215" y="397021"/>
                  </a:cubicBezTo>
                  <a:cubicBezTo>
                    <a:pt x="624803" y="304629"/>
                    <a:pt x="741513" y="217656"/>
                    <a:pt x="741513" y="217656"/>
                  </a:cubicBezTo>
                  <a:lnTo>
                    <a:pt x="441961" y="0"/>
                  </a:lnTo>
                  <a:cubicBezTo>
                    <a:pt x="357010" y="55475"/>
                    <a:pt x="289510" y="133879"/>
                    <a:pt x="247280" y="226133"/>
                  </a:cubicBezTo>
                  <a:cubicBezTo>
                    <a:pt x="242785" y="207876"/>
                    <a:pt x="233589" y="191112"/>
                    <a:pt x="220610" y="177508"/>
                  </a:cubicBezTo>
                  <a:cubicBezTo>
                    <a:pt x="201741" y="159048"/>
                    <a:pt x="183615" y="156639"/>
                    <a:pt x="160678" y="153581"/>
                  </a:cubicBezTo>
                  <a:cubicBezTo>
                    <a:pt x="138548" y="151084"/>
                    <a:pt x="116743" y="146263"/>
                    <a:pt x="95623" y="139198"/>
                  </a:cubicBezTo>
                  <a:cubicBezTo>
                    <a:pt x="74277" y="132007"/>
                    <a:pt x="44569" y="119624"/>
                    <a:pt x="33053" y="95231"/>
                  </a:cubicBezTo>
                  <a:cubicBezTo>
                    <a:pt x="30807" y="90474"/>
                    <a:pt x="25131" y="88438"/>
                    <a:pt x="20373" y="90684"/>
                  </a:cubicBezTo>
                  <a:cubicBezTo>
                    <a:pt x="18562" y="91538"/>
                    <a:pt x="17066" y="92943"/>
                    <a:pt x="16099" y="94698"/>
                  </a:cubicBezTo>
                  <a:cubicBezTo>
                    <a:pt x="-342" y="124511"/>
                    <a:pt x="-7123" y="172079"/>
                    <a:pt x="9945" y="200025"/>
                  </a:cubicBezTo>
                  <a:cubicBezTo>
                    <a:pt x="21332" y="215739"/>
                    <a:pt x="37430" y="227417"/>
                    <a:pt x="55903" y="233363"/>
                  </a:cubicBezTo>
                  <a:cubicBezTo>
                    <a:pt x="55940" y="233392"/>
                    <a:pt x="55946" y="233446"/>
                    <a:pt x="55916" y="233483"/>
                  </a:cubicBezTo>
                  <a:cubicBezTo>
                    <a:pt x="55912" y="233488"/>
                    <a:pt x="55908" y="233492"/>
                    <a:pt x="55903" y="233496"/>
                  </a:cubicBezTo>
                  <a:cubicBezTo>
                    <a:pt x="47078" y="244351"/>
                    <a:pt x="44412" y="258962"/>
                    <a:pt x="48836" y="272234"/>
                  </a:cubicBezTo>
                  <a:cubicBezTo>
                    <a:pt x="54199" y="289379"/>
                    <a:pt x="72934" y="306524"/>
                    <a:pt x="103824" y="311468"/>
                  </a:cubicBezTo>
                  <a:cubicBezTo>
                    <a:pt x="103871" y="311470"/>
                    <a:pt x="103908" y="311510"/>
                    <a:pt x="103905" y="311558"/>
                  </a:cubicBezTo>
                  <a:cubicBezTo>
                    <a:pt x="103904" y="311573"/>
                    <a:pt x="103899" y="311588"/>
                    <a:pt x="103890" y="311601"/>
                  </a:cubicBezTo>
                  <a:cubicBezTo>
                    <a:pt x="101740" y="315671"/>
                    <a:pt x="100600" y="320199"/>
                    <a:pt x="100566" y="324802"/>
                  </a:cubicBezTo>
                  <a:cubicBezTo>
                    <a:pt x="100670" y="332521"/>
                    <a:pt x="104320" y="339761"/>
                    <a:pt x="110463" y="344434"/>
                  </a:cubicBezTo>
                  <a:cubicBezTo>
                    <a:pt x="127608" y="358654"/>
                    <a:pt x="157926" y="356521"/>
                    <a:pt x="171966" y="354578"/>
                  </a:cubicBezTo>
                  <a:cubicBezTo>
                    <a:pt x="177146" y="363769"/>
                    <a:pt x="184376" y="371644"/>
                    <a:pt x="193092" y="377590"/>
                  </a:cubicBezTo>
                  <a:lnTo>
                    <a:pt x="195311" y="379143"/>
                  </a:lnTo>
                  <a:cubicBezTo>
                    <a:pt x="183839" y="426554"/>
                    <a:pt x="164523" y="471716"/>
                    <a:pt x="138161" y="512759"/>
                  </a:cubicBezTo>
                  <a:cubicBezTo>
                    <a:pt x="123541" y="536678"/>
                    <a:pt x="103829" y="557081"/>
                    <a:pt x="80430" y="572519"/>
                  </a:cubicBezTo>
                  <a:lnTo>
                    <a:pt x="353550" y="816264"/>
                  </a:lnTo>
                  <a:cubicBezTo>
                    <a:pt x="353550" y="816264"/>
                    <a:pt x="434151" y="786917"/>
                    <a:pt x="475594" y="668807"/>
                  </a:cubicBezTo>
                  <a:cubicBezTo>
                    <a:pt x="488452" y="632109"/>
                    <a:pt x="499304" y="594737"/>
                    <a:pt x="508103" y="556860"/>
                  </a:cubicBezTo>
                  <a:cubicBezTo>
                    <a:pt x="509734" y="557273"/>
                    <a:pt x="511444" y="557236"/>
                    <a:pt x="513056" y="556755"/>
                  </a:cubicBezTo>
                  <a:lnTo>
                    <a:pt x="515618" y="555879"/>
                  </a:lnTo>
                  <a:cubicBezTo>
                    <a:pt x="524162" y="571843"/>
                    <a:pt x="544098" y="605752"/>
                    <a:pt x="563148" y="614667"/>
                  </a:cubicBezTo>
                  <a:cubicBezTo>
                    <a:pt x="570965" y="618862"/>
                    <a:pt x="580362" y="618862"/>
                    <a:pt x="588180" y="614667"/>
                  </a:cubicBezTo>
                  <a:cubicBezTo>
                    <a:pt x="593349" y="611667"/>
                    <a:pt x="597552" y="607252"/>
                    <a:pt x="600295" y="601942"/>
                  </a:cubicBezTo>
                  <a:cubicBezTo>
                    <a:pt x="600310" y="601903"/>
                    <a:pt x="600353" y="601882"/>
                    <a:pt x="600393" y="601897"/>
                  </a:cubicBezTo>
                  <a:cubicBezTo>
                    <a:pt x="600414" y="601905"/>
                    <a:pt x="600431" y="601921"/>
                    <a:pt x="600438" y="601942"/>
                  </a:cubicBezTo>
                  <a:cubicBezTo>
                    <a:pt x="626546" y="639042"/>
                    <a:pt x="653569" y="646557"/>
                    <a:pt x="671142" y="646557"/>
                  </a:cubicBezTo>
                  <a:cubicBezTo>
                    <a:pt x="673338" y="646559"/>
                    <a:pt x="675531" y="646442"/>
                    <a:pt x="677715" y="646205"/>
                  </a:cubicBezTo>
                  <a:cubicBezTo>
                    <a:pt x="687591" y="645316"/>
                    <a:pt x="696682" y="640451"/>
                    <a:pt x="702899" y="632727"/>
                  </a:cubicBezTo>
                  <a:cubicBezTo>
                    <a:pt x="708212" y="625688"/>
                    <a:pt x="711674" y="617429"/>
                    <a:pt x="712967" y="608705"/>
                  </a:cubicBezTo>
                  <a:cubicBezTo>
                    <a:pt x="712967" y="608619"/>
                    <a:pt x="713043" y="608590"/>
                    <a:pt x="713100" y="608648"/>
                  </a:cubicBezTo>
                  <a:cubicBezTo>
                    <a:pt x="728264" y="621316"/>
                    <a:pt x="752305" y="637718"/>
                    <a:pt x="776051" y="638737"/>
                  </a:cubicBezTo>
                  <a:cubicBezTo>
                    <a:pt x="815103" y="640642"/>
                    <a:pt x="856061" y="605228"/>
                    <a:pt x="875015" y="570709"/>
                  </a:cubicBezTo>
                  <a:cubicBezTo>
                    <a:pt x="876577" y="568000"/>
                    <a:pt x="876782" y="564714"/>
                    <a:pt x="875568" y="561832"/>
                  </a:cubicBezTo>
                  <a:close/>
                  <a:moveTo>
                    <a:pt x="776889" y="619706"/>
                  </a:moveTo>
                  <a:cubicBezTo>
                    <a:pt x="746495" y="618411"/>
                    <a:pt x="711595" y="581377"/>
                    <a:pt x="711252" y="581006"/>
                  </a:cubicBezTo>
                  <a:cubicBezTo>
                    <a:pt x="707663" y="577161"/>
                    <a:pt x="701636" y="576953"/>
                    <a:pt x="697789" y="580542"/>
                  </a:cubicBezTo>
                  <a:cubicBezTo>
                    <a:pt x="695592" y="582594"/>
                    <a:pt x="694492" y="585562"/>
                    <a:pt x="694821" y="588550"/>
                  </a:cubicBezTo>
                  <a:cubicBezTo>
                    <a:pt x="696039" y="599755"/>
                    <a:pt x="693650" y="611056"/>
                    <a:pt x="688002" y="620811"/>
                  </a:cubicBezTo>
                  <a:cubicBezTo>
                    <a:pt x="684955" y="624595"/>
                    <a:pt x="680466" y="626934"/>
                    <a:pt x="675619" y="627259"/>
                  </a:cubicBezTo>
                  <a:cubicBezTo>
                    <a:pt x="650854" y="629945"/>
                    <a:pt x="626013" y="611181"/>
                    <a:pt x="605639" y="574358"/>
                  </a:cubicBezTo>
                  <a:cubicBezTo>
                    <a:pt x="603088" y="569757"/>
                    <a:pt x="597291" y="568095"/>
                    <a:pt x="592690" y="570646"/>
                  </a:cubicBezTo>
                  <a:cubicBezTo>
                    <a:pt x="590026" y="572122"/>
                    <a:pt x="588230" y="574783"/>
                    <a:pt x="587856" y="577806"/>
                  </a:cubicBezTo>
                  <a:cubicBezTo>
                    <a:pt x="586360" y="589883"/>
                    <a:pt x="582284" y="596160"/>
                    <a:pt x="578959" y="597999"/>
                  </a:cubicBezTo>
                  <a:cubicBezTo>
                    <a:pt x="578216" y="598399"/>
                    <a:pt x="575978" y="599637"/>
                    <a:pt x="571225" y="597408"/>
                  </a:cubicBezTo>
                  <a:cubicBezTo>
                    <a:pt x="557890" y="591160"/>
                    <a:pt x="538011" y="558651"/>
                    <a:pt x="528648" y="539620"/>
                  </a:cubicBezTo>
                  <a:cubicBezTo>
                    <a:pt x="526345" y="534945"/>
                    <a:pt x="520714" y="532989"/>
                    <a:pt x="516009" y="535229"/>
                  </a:cubicBezTo>
                  <a:cubicBezTo>
                    <a:pt x="516009" y="535229"/>
                    <a:pt x="514885" y="535743"/>
                    <a:pt x="513151" y="536467"/>
                  </a:cubicBezTo>
                  <a:cubicBezTo>
                    <a:pt x="516009" y="524723"/>
                    <a:pt x="518942" y="513398"/>
                    <a:pt x="522152" y="502225"/>
                  </a:cubicBezTo>
                  <a:cubicBezTo>
                    <a:pt x="523977" y="495831"/>
                    <a:pt x="520274" y="489168"/>
                    <a:pt x="513881" y="487343"/>
                  </a:cubicBezTo>
                  <a:cubicBezTo>
                    <a:pt x="512785" y="487029"/>
                    <a:pt x="511652" y="486874"/>
                    <a:pt x="510513" y="486880"/>
                  </a:cubicBezTo>
                  <a:lnTo>
                    <a:pt x="510513" y="486880"/>
                  </a:lnTo>
                  <a:cubicBezTo>
                    <a:pt x="507751" y="487968"/>
                    <a:pt x="505644" y="490265"/>
                    <a:pt x="504798" y="493109"/>
                  </a:cubicBezTo>
                  <a:cubicBezTo>
                    <a:pt x="500283" y="508673"/>
                    <a:pt x="496473" y="524418"/>
                    <a:pt x="492339" y="541172"/>
                  </a:cubicBezTo>
                  <a:lnTo>
                    <a:pt x="490339" y="549335"/>
                  </a:lnTo>
                  <a:lnTo>
                    <a:pt x="489805" y="551478"/>
                  </a:lnTo>
                  <a:cubicBezTo>
                    <a:pt x="481110" y="589052"/>
                    <a:pt x="470366" y="626121"/>
                    <a:pt x="457620" y="662521"/>
                  </a:cubicBezTo>
                  <a:cubicBezTo>
                    <a:pt x="427893" y="747141"/>
                    <a:pt x="377963" y="782155"/>
                    <a:pt x="356846" y="793661"/>
                  </a:cubicBezTo>
                  <a:lnTo>
                    <a:pt x="110558" y="573776"/>
                  </a:lnTo>
                  <a:cubicBezTo>
                    <a:pt x="127915" y="559196"/>
                    <a:pt x="142782" y="541884"/>
                    <a:pt x="154573" y="522522"/>
                  </a:cubicBezTo>
                  <a:cubicBezTo>
                    <a:pt x="182702" y="478325"/>
                    <a:pt x="203179" y="429700"/>
                    <a:pt x="215142" y="378695"/>
                  </a:cubicBezTo>
                  <a:cubicBezTo>
                    <a:pt x="216064" y="375114"/>
                    <a:pt x="214849" y="371321"/>
                    <a:pt x="212018" y="368941"/>
                  </a:cubicBezTo>
                  <a:lnTo>
                    <a:pt x="200474" y="359340"/>
                  </a:lnTo>
                  <a:cubicBezTo>
                    <a:pt x="197832" y="357177"/>
                    <a:pt x="195447" y="354716"/>
                    <a:pt x="193368" y="352006"/>
                  </a:cubicBezTo>
                  <a:lnTo>
                    <a:pt x="192482" y="350872"/>
                  </a:lnTo>
                  <a:cubicBezTo>
                    <a:pt x="189973" y="347529"/>
                    <a:pt x="187789" y="343953"/>
                    <a:pt x="185958" y="340195"/>
                  </a:cubicBezTo>
                  <a:cubicBezTo>
                    <a:pt x="184161" y="336081"/>
                    <a:pt x="179737" y="333779"/>
                    <a:pt x="175337" y="334670"/>
                  </a:cubicBezTo>
                  <a:cubicBezTo>
                    <a:pt x="165612" y="336652"/>
                    <a:pt x="135066" y="339976"/>
                    <a:pt x="122645" y="329689"/>
                  </a:cubicBezTo>
                  <a:cubicBezTo>
                    <a:pt x="119683" y="327250"/>
                    <a:pt x="119673" y="325364"/>
                    <a:pt x="119664" y="324650"/>
                  </a:cubicBezTo>
                  <a:cubicBezTo>
                    <a:pt x="120842" y="318890"/>
                    <a:pt x="124270" y="313840"/>
                    <a:pt x="129189" y="310620"/>
                  </a:cubicBezTo>
                  <a:cubicBezTo>
                    <a:pt x="133219" y="307238"/>
                    <a:pt x="133744" y="301230"/>
                    <a:pt x="130362" y="297201"/>
                  </a:cubicBezTo>
                  <a:cubicBezTo>
                    <a:pt x="128550" y="295041"/>
                    <a:pt x="125874" y="293796"/>
                    <a:pt x="123055" y="293799"/>
                  </a:cubicBezTo>
                  <a:lnTo>
                    <a:pt x="123007" y="293799"/>
                  </a:lnTo>
                  <a:cubicBezTo>
                    <a:pt x="85441" y="293741"/>
                    <a:pt x="70096" y="276015"/>
                    <a:pt x="67105" y="266490"/>
                  </a:cubicBezTo>
                  <a:cubicBezTo>
                    <a:pt x="63922" y="255162"/>
                    <a:pt x="69081" y="243150"/>
                    <a:pt x="79487" y="237658"/>
                  </a:cubicBezTo>
                  <a:cubicBezTo>
                    <a:pt x="84106" y="235140"/>
                    <a:pt x="85807" y="229353"/>
                    <a:pt x="83289" y="224736"/>
                  </a:cubicBezTo>
                  <a:cubicBezTo>
                    <a:pt x="81980" y="222336"/>
                    <a:pt x="79705" y="220614"/>
                    <a:pt x="77039" y="220008"/>
                  </a:cubicBezTo>
                  <a:cubicBezTo>
                    <a:pt x="66429" y="217580"/>
                    <a:pt x="36634" y="207502"/>
                    <a:pt x="26262" y="190157"/>
                  </a:cubicBezTo>
                  <a:cubicBezTo>
                    <a:pt x="15784" y="173012"/>
                    <a:pt x="17689" y="143170"/>
                    <a:pt x="25976" y="119358"/>
                  </a:cubicBezTo>
                  <a:cubicBezTo>
                    <a:pt x="26004" y="119313"/>
                    <a:pt x="26062" y="119300"/>
                    <a:pt x="26107" y="119327"/>
                  </a:cubicBezTo>
                  <a:cubicBezTo>
                    <a:pt x="26120" y="119335"/>
                    <a:pt x="26130" y="119345"/>
                    <a:pt x="26138" y="119358"/>
                  </a:cubicBezTo>
                  <a:cubicBezTo>
                    <a:pt x="43216" y="139675"/>
                    <a:pt x="69600" y="150533"/>
                    <a:pt x="89546" y="157258"/>
                  </a:cubicBezTo>
                  <a:cubicBezTo>
                    <a:pt x="111805" y="164739"/>
                    <a:pt x="134792" y="169847"/>
                    <a:pt x="158126" y="172498"/>
                  </a:cubicBezTo>
                  <a:cubicBezTo>
                    <a:pt x="179824" y="175355"/>
                    <a:pt x="192921" y="177136"/>
                    <a:pt x="207256" y="191167"/>
                  </a:cubicBezTo>
                  <a:cubicBezTo>
                    <a:pt x="223341" y="208999"/>
                    <a:pt x="232319" y="232114"/>
                    <a:pt x="232487" y="256127"/>
                  </a:cubicBezTo>
                  <a:cubicBezTo>
                    <a:pt x="232531" y="257227"/>
                    <a:pt x="232760" y="258313"/>
                    <a:pt x="233164" y="259337"/>
                  </a:cubicBezTo>
                  <a:cubicBezTo>
                    <a:pt x="221810" y="287979"/>
                    <a:pt x="213895" y="311991"/>
                    <a:pt x="207827" y="332680"/>
                  </a:cubicBezTo>
                  <a:cubicBezTo>
                    <a:pt x="206673" y="337812"/>
                    <a:pt x="209898" y="342909"/>
                    <a:pt x="215030" y="344063"/>
                  </a:cubicBezTo>
                  <a:cubicBezTo>
                    <a:pt x="219733" y="345120"/>
                    <a:pt x="224484" y="342499"/>
                    <a:pt x="226096" y="337957"/>
                  </a:cubicBezTo>
                  <a:cubicBezTo>
                    <a:pt x="234566" y="309114"/>
                    <a:pt x="244618" y="280760"/>
                    <a:pt x="256205" y="253022"/>
                  </a:cubicBezTo>
                  <a:cubicBezTo>
                    <a:pt x="295020" y="160468"/>
                    <a:pt x="359181" y="80756"/>
                    <a:pt x="441304" y="23060"/>
                  </a:cubicBezTo>
                  <a:lnTo>
                    <a:pt x="709909" y="218275"/>
                  </a:lnTo>
                  <a:cubicBezTo>
                    <a:pt x="673257" y="247993"/>
                    <a:pt x="595952" y="315306"/>
                    <a:pt x="551956" y="387106"/>
                  </a:cubicBezTo>
                  <a:cubicBezTo>
                    <a:pt x="542513" y="402439"/>
                    <a:pt x="534032" y="418345"/>
                    <a:pt x="526562" y="434731"/>
                  </a:cubicBezTo>
                  <a:cubicBezTo>
                    <a:pt x="523505" y="441255"/>
                    <a:pt x="520762" y="447646"/>
                    <a:pt x="518257" y="453952"/>
                  </a:cubicBezTo>
                  <a:cubicBezTo>
                    <a:pt x="517151" y="456529"/>
                    <a:pt x="518343" y="459514"/>
                    <a:pt x="520920" y="460619"/>
                  </a:cubicBezTo>
                  <a:cubicBezTo>
                    <a:pt x="522198" y="461168"/>
                    <a:pt x="523646" y="461168"/>
                    <a:pt x="524924" y="460619"/>
                  </a:cubicBezTo>
                  <a:lnTo>
                    <a:pt x="537668" y="455419"/>
                  </a:lnTo>
                  <a:lnTo>
                    <a:pt x="539450" y="454409"/>
                  </a:lnTo>
                  <a:cubicBezTo>
                    <a:pt x="565339" y="434959"/>
                    <a:pt x="614059" y="405079"/>
                    <a:pt x="655255" y="417833"/>
                  </a:cubicBezTo>
                  <a:cubicBezTo>
                    <a:pt x="679858" y="425453"/>
                    <a:pt x="690497" y="439036"/>
                    <a:pt x="708166" y="461562"/>
                  </a:cubicBezTo>
                  <a:cubicBezTo>
                    <a:pt x="726099" y="485356"/>
                    <a:pt x="746315" y="507340"/>
                    <a:pt x="768526" y="527199"/>
                  </a:cubicBezTo>
                  <a:cubicBezTo>
                    <a:pt x="791872" y="547983"/>
                    <a:pt x="818827" y="569786"/>
                    <a:pt x="849908" y="574529"/>
                  </a:cubicBezTo>
                  <a:cubicBezTo>
                    <a:pt x="849960" y="574538"/>
                    <a:pt x="849995" y="574586"/>
                    <a:pt x="849987" y="574638"/>
                  </a:cubicBezTo>
                  <a:cubicBezTo>
                    <a:pt x="849985" y="574650"/>
                    <a:pt x="849980" y="574661"/>
                    <a:pt x="849974" y="574672"/>
                  </a:cubicBezTo>
                  <a:cubicBezTo>
                    <a:pt x="831753" y="599475"/>
                    <a:pt x="802664" y="621059"/>
                    <a:pt x="776879" y="619706"/>
                  </a:cubicBezTo>
                  <a:close/>
                </a:path>
              </a:pathLst>
            </a:custGeom>
            <a:grpFill/>
            <a:ln w="9525" cap="flat">
              <a:solidFill>
                <a:schemeClr val="accent3">
                  <a:lumMod val="50000"/>
                </a:schemeClr>
              </a:solidFill>
              <a:prstDash val="solid"/>
              <a:miter/>
            </a:ln>
          </p:spPr>
          <p:txBody>
            <a:bodyPr/>
            <a:lstStyle/>
            <a:p>
              <a:endParaRPr 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BDD5D-BAD5-3E3F-9B4B-F15EC6E02E2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E99AAFF-3DD8-A9AF-52B4-EBEF8579606B}"/>
              </a:ext>
            </a:extLst>
          </p:cNvPr>
          <p:cNvSpPr/>
          <p:nvPr/>
        </p:nvSpPr>
        <p:spPr>
          <a:xfrm>
            <a:off x="305" y="0"/>
            <a:ext cx="12191695" cy="6858000"/>
          </a:xfrm>
          <a:prstGeom prst="rect">
            <a:avLst/>
          </a:prstGeom>
          <a:solidFill>
            <a:srgbClr val="11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15A8CFC-D92A-D061-9ED2-A09F381E2B12}"/>
              </a:ext>
            </a:extLst>
          </p:cNvPr>
          <p:cNvSpPr txBox="1"/>
          <p:nvPr/>
        </p:nvSpPr>
        <p:spPr>
          <a:xfrm>
            <a:off x="545982" y="250335"/>
            <a:ext cx="9032358" cy="707886"/>
          </a:xfrm>
          <a:prstGeom prst="rect">
            <a:avLst/>
          </a:prstGeom>
          <a:noFill/>
        </p:spPr>
        <p:txBody>
          <a:bodyPr wrap="square" anchor="t">
            <a:spAutoFit/>
          </a:bodyPr>
          <a:lstStyle/>
          <a:p>
            <a:pPr algn="l"/>
            <a:r>
              <a:rPr lang="en-US" sz="4000" b="1" dirty="0">
                <a:solidFill>
                  <a:srgbClr val="8BC7DD"/>
                </a:solidFill>
                <a:latin typeface="Aptos"/>
              </a:rPr>
              <a:t>OVERVIEW</a:t>
            </a:r>
            <a:endParaRPr sz="4000" b="1" dirty="0">
              <a:solidFill>
                <a:srgbClr val="8BC7DD"/>
              </a:solidFill>
              <a:latin typeface="Aptos"/>
            </a:endParaRPr>
          </a:p>
        </p:txBody>
      </p:sp>
      <p:sp>
        <p:nvSpPr>
          <p:cNvPr id="7" name="TextBox 6">
            <a:extLst>
              <a:ext uri="{FF2B5EF4-FFF2-40B4-BE49-F238E27FC236}">
                <a16:creationId xmlns:a16="http://schemas.microsoft.com/office/drawing/2014/main" id="{B39771D7-911E-7016-EDE6-F2D459632FBD}"/>
              </a:ext>
            </a:extLst>
          </p:cNvPr>
          <p:cNvSpPr txBox="1"/>
          <p:nvPr/>
        </p:nvSpPr>
        <p:spPr>
          <a:xfrm>
            <a:off x="960120" y="2167128"/>
            <a:ext cx="2606039" cy="320040"/>
          </a:xfrm>
          <a:prstGeom prst="rect">
            <a:avLst/>
          </a:prstGeom>
          <a:noFill/>
        </p:spPr>
        <p:txBody>
          <a:bodyPr wrap="square" anchor="t">
            <a:spAutoFit/>
          </a:bodyPr>
          <a:lstStyle/>
          <a:p>
            <a:pPr algn="l"/>
            <a:r>
              <a:rPr sz="1500" b="1">
                <a:solidFill>
                  <a:srgbClr val="111D34"/>
                </a:solidFill>
                <a:latin typeface="Aptos"/>
              </a:rPr>
              <a:t>INPUT FEATURES</a:t>
            </a:r>
          </a:p>
        </p:txBody>
      </p:sp>
      <p:sp>
        <p:nvSpPr>
          <p:cNvPr id="26" name="TextBox 25">
            <a:extLst>
              <a:ext uri="{FF2B5EF4-FFF2-40B4-BE49-F238E27FC236}">
                <a16:creationId xmlns:a16="http://schemas.microsoft.com/office/drawing/2014/main" id="{0A4E97DE-B2CE-07DF-C5D3-DD314E4C0AFA}"/>
              </a:ext>
            </a:extLst>
          </p:cNvPr>
          <p:cNvSpPr txBox="1"/>
          <p:nvPr/>
        </p:nvSpPr>
        <p:spPr>
          <a:xfrm>
            <a:off x="640080" y="6510528"/>
            <a:ext cx="3200400" cy="182880"/>
          </a:xfrm>
          <a:prstGeom prst="rect">
            <a:avLst/>
          </a:prstGeom>
          <a:noFill/>
        </p:spPr>
        <p:txBody>
          <a:bodyPr wrap="square" anchor="t">
            <a:spAutoFit/>
          </a:bodyPr>
          <a:lstStyle/>
          <a:p>
            <a:pPr algn="l"/>
            <a:r>
              <a:rPr sz="800" b="0">
                <a:solidFill>
                  <a:srgbClr val="5C697A"/>
                </a:solidFill>
                <a:latin typeface="Aptos"/>
              </a:rPr>
              <a:t>Automobile Price Analysis</a:t>
            </a:r>
          </a:p>
        </p:txBody>
      </p:sp>
      <p:sp>
        <p:nvSpPr>
          <p:cNvPr id="27" name="TextBox 26">
            <a:extLst>
              <a:ext uri="{FF2B5EF4-FFF2-40B4-BE49-F238E27FC236}">
                <a16:creationId xmlns:a16="http://schemas.microsoft.com/office/drawing/2014/main" id="{A5D83BB1-ED29-2317-C1FF-C46E5DC89799}"/>
              </a:ext>
            </a:extLst>
          </p:cNvPr>
          <p:cNvSpPr txBox="1"/>
          <p:nvPr/>
        </p:nvSpPr>
        <p:spPr>
          <a:xfrm>
            <a:off x="11109960" y="6473952"/>
            <a:ext cx="411480" cy="228600"/>
          </a:xfrm>
          <a:prstGeom prst="rect">
            <a:avLst/>
          </a:prstGeom>
          <a:noFill/>
        </p:spPr>
        <p:txBody>
          <a:bodyPr wrap="square" anchor="t">
            <a:spAutoFit/>
          </a:bodyPr>
          <a:lstStyle/>
          <a:p>
            <a:pPr algn="r"/>
            <a:r>
              <a:rPr sz="800" b="0">
                <a:solidFill>
                  <a:srgbClr val="5C697A"/>
                </a:solidFill>
                <a:latin typeface="Aptos"/>
              </a:rPr>
              <a:t>5</a:t>
            </a:r>
          </a:p>
        </p:txBody>
      </p:sp>
      <p:sp>
        <p:nvSpPr>
          <p:cNvPr id="30" name="TextBox 29">
            <a:extLst>
              <a:ext uri="{FF2B5EF4-FFF2-40B4-BE49-F238E27FC236}">
                <a16:creationId xmlns:a16="http://schemas.microsoft.com/office/drawing/2014/main" id="{1421F314-1996-4E07-F2CA-9555CA866601}"/>
              </a:ext>
            </a:extLst>
          </p:cNvPr>
          <p:cNvSpPr txBox="1"/>
          <p:nvPr/>
        </p:nvSpPr>
        <p:spPr>
          <a:xfrm>
            <a:off x="640080" y="1114341"/>
            <a:ext cx="6583680" cy="646331"/>
          </a:xfrm>
          <a:prstGeom prst="rect">
            <a:avLst/>
          </a:prstGeom>
          <a:noFill/>
        </p:spPr>
        <p:txBody>
          <a:bodyPr wrap="square" anchor="t">
            <a:spAutoFit/>
          </a:bodyPr>
          <a:lstStyle/>
          <a:p>
            <a:pPr algn="l"/>
            <a:r>
              <a:rPr lang="en-US" sz="3600" b="0" dirty="0">
                <a:solidFill>
                  <a:srgbClr val="FFFFFF"/>
                </a:solidFill>
                <a:latin typeface="Aptos"/>
              </a:rPr>
              <a:t>OUR ANALYTICAL PROCESS</a:t>
            </a:r>
            <a:endParaRPr sz="3600" b="0" dirty="0">
              <a:solidFill>
                <a:srgbClr val="FFFFFF"/>
              </a:solidFill>
              <a:latin typeface="Aptos"/>
            </a:endParaRPr>
          </a:p>
        </p:txBody>
      </p:sp>
      <p:sp>
        <p:nvSpPr>
          <p:cNvPr id="31" name="TextBox 30">
            <a:extLst>
              <a:ext uri="{FF2B5EF4-FFF2-40B4-BE49-F238E27FC236}">
                <a16:creationId xmlns:a16="http://schemas.microsoft.com/office/drawing/2014/main" id="{D3C34D3C-16C2-A4D9-FBCA-381BAC4E8CCA}"/>
              </a:ext>
            </a:extLst>
          </p:cNvPr>
          <p:cNvSpPr txBox="1"/>
          <p:nvPr/>
        </p:nvSpPr>
        <p:spPr>
          <a:xfrm>
            <a:off x="640080" y="1805135"/>
            <a:ext cx="6583680" cy="646331"/>
          </a:xfrm>
          <a:prstGeom prst="rect">
            <a:avLst/>
          </a:prstGeom>
          <a:noFill/>
        </p:spPr>
        <p:txBody>
          <a:bodyPr wrap="square" anchor="t">
            <a:spAutoFit/>
          </a:bodyPr>
          <a:lstStyle/>
          <a:p>
            <a:pPr algn="l"/>
            <a:r>
              <a:rPr lang="en-US" sz="3600" b="0" dirty="0">
                <a:solidFill>
                  <a:srgbClr val="FFFFFF"/>
                </a:solidFill>
                <a:latin typeface="Aptos"/>
              </a:rPr>
              <a:t>EDA</a:t>
            </a:r>
            <a:endParaRPr sz="3600" b="0" dirty="0">
              <a:solidFill>
                <a:srgbClr val="FFFFFF"/>
              </a:solidFill>
              <a:latin typeface="Aptos"/>
            </a:endParaRPr>
          </a:p>
        </p:txBody>
      </p:sp>
      <p:sp>
        <p:nvSpPr>
          <p:cNvPr id="32" name="TextBox 31">
            <a:extLst>
              <a:ext uri="{FF2B5EF4-FFF2-40B4-BE49-F238E27FC236}">
                <a16:creationId xmlns:a16="http://schemas.microsoft.com/office/drawing/2014/main" id="{9C7440C7-C234-0F2D-FDC3-1B0FB6B781F8}"/>
              </a:ext>
            </a:extLst>
          </p:cNvPr>
          <p:cNvSpPr txBox="1"/>
          <p:nvPr/>
        </p:nvSpPr>
        <p:spPr>
          <a:xfrm>
            <a:off x="640080" y="2540392"/>
            <a:ext cx="6583680" cy="646331"/>
          </a:xfrm>
          <a:prstGeom prst="rect">
            <a:avLst/>
          </a:prstGeom>
          <a:noFill/>
        </p:spPr>
        <p:txBody>
          <a:bodyPr wrap="square" anchor="t">
            <a:spAutoFit/>
          </a:bodyPr>
          <a:lstStyle/>
          <a:p>
            <a:pPr algn="l"/>
            <a:r>
              <a:rPr lang="en-US" sz="3600" b="0" dirty="0">
                <a:solidFill>
                  <a:srgbClr val="FFFFFF"/>
                </a:solidFill>
                <a:latin typeface="Aptos"/>
              </a:rPr>
              <a:t>K- MEANS CLUSTERING</a:t>
            </a:r>
          </a:p>
        </p:txBody>
      </p:sp>
      <p:sp>
        <p:nvSpPr>
          <p:cNvPr id="33" name="TextBox 32">
            <a:extLst>
              <a:ext uri="{FF2B5EF4-FFF2-40B4-BE49-F238E27FC236}">
                <a16:creationId xmlns:a16="http://schemas.microsoft.com/office/drawing/2014/main" id="{7F06577E-F6F8-7823-F733-3F86B6AAC935}"/>
              </a:ext>
            </a:extLst>
          </p:cNvPr>
          <p:cNvSpPr txBox="1"/>
          <p:nvPr/>
        </p:nvSpPr>
        <p:spPr>
          <a:xfrm>
            <a:off x="545982" y="3250913"/>
            <a:ext cx="7359711" cy="646331"/>
          </a:xfrm>
          <a:prstGeom prst="rect">
            <a:avLst/>
          </a:prstGeom>
          <a:noFill/>
        </p:spPr>
        <p:txBody>
          <a:bodyPr wrap="square" anchor="t">
            <a:spAutoFit/>
          </a:bodyPr>
          <a:lstStyle/>
          <a:p>
            <a:pPr algn="l"/>
            <a:r>
              <a:rPr lang="en-US" sz="3600" b="0" dirty="0">
                <a:solidFill>
                  <a:srgbClr val="FFFFFF"/>
                </a:solidFill>
                <a:latin typeface="Aptos"/>
              </a:rPr>
              <a:t>PREDICTING AUTOMOBILE PRICE</a:t>
            </a:r>
            <a:endParaRPr sz="3600" b="0" dirty="0">
              <a:solidFill>
                <a:srgbClr val="FFFFFF"/>
              </a:solidFill>
              <a:latin typeface="Aptos"/>
            </a:endParaRPr>
          </a:p>
        </p:txBody>
      </p:sp>
      <p:sp>
        <p:nvSpPr>
          <p:cNvPr id="34" name="TextBox 33">
            <a:extLst>
              <a:ext uri="{FF2B5EF4-FFF2-40B4-BE49-F238E27FC236}">
                <a16:creationId xmlns:a16="http://schemas.microsoft.com/office/drawing/2014/main" id="{31D56C27-586F-9E48-30D6-2D560759D7B3}"/>
              </a:ext>
            </a:extLst>
          </p:cNvPr>
          <p:cNvSpPr txBox="1"/>
          <p:nvPr/>
        </p:nvSpPr>
        <p:spPr>
          <a:xfrm>
            <a:off x="545982" y="3966443"/>
            <a:ext cx="6583680" cy="646331"/>
          </a:xfrm>
          <a:prstGeom prst="rect">
            <a:avLst/>
          </a:prstGeom>
          <a:noFill/>
        </p:spPr>
        <p:txBody>
          <a:bodyPr wrap="square" anchor="t">
            <a:spAutoFit/>
          </a:bodyPr>
          <a:lstStyle/>
          <a:p>
            <a:pPr algn="l"/>
            <a:r>
              <a:rPr lang="en-US" sz="3600" b="0" dirty="0">
                <a:solidFill>
                  <a:srgbClr val="FFFFFF"/>
                </a:solidFill>
                <a:latin typeface="Aptos"/>
              </a:rPr>
              <a:t>WHY THIS PROJECT MATTERS</a:t>
            </a:r>
            <a:endParaRPr sz="3600" b="0" dirty="0">
              <a:solidFill>
                <a:srgbClr val="FFFFFF"/>
              </a:solidFill>
              <a:latin typeface="Aptos"/>
            </a:endParaRPr>
          </a:p>
        </p:txBody>
      </p:sp>
    </p:spTree>
    <p:extLst>
      <p:ext uri="{BB962C8B-B14F-4D97-AF65-F5344CB8AC3E}">
        <p14:creationId xmlns:p14="http://schemas.microsoft.com/office/powerpoint/2010/main" val="1150018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321826"/>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85487"/>
            <a:ext cx="8812264" cy="707886"/>
          </a:xfrm>
          <a:prstGeom prst="rect">
            <a:avLst/>
          </a:prstGeom>
          <a:noFill/>
        </p:spPr>
        <p:txBody>
          <a:bodyPr wrap="square" anchor="t">
            <a:spAutoFit/>
          </a:bodyPr>
          <a:lstStyle/>
          <a:p>
            <a:pPr algn="l"/>
            <a:r>
              <a:rPr sz="4000" b="1" dirty="0">
                <a:solidFill>
                  <a:srgbClr val="275BAB"/>
                </a:solidFill>
                <a:latin typeface="Aptos"/>
              </a:rPr>
              <a:t>OUR ANALYTICAL PROCESS</a:t>
            </a:r>
          </a:p>
        </p:txBody>
      </p:sp>
      <p:sp>
        <p:nvSpPr>
          <p:cNvPr id="4" name="TextBox 3"/>
          <p:cNvSpPr txBox="1"/>
          <p:nvPr/>
        </p:nvSpPr>
        <p:spPr>
          <a:xfrm>
            <a:off x="640080" y="658368"/>
            <a:ext cx="10972800" cy="566928"/>
          </a:xfrm>
          <a:prstGeom prst="rect">
            <a:avLst/>
          </a:prstGeom>
          <a:noFill/>
        </p:spPr>
        <p:txBody>
          <a:bodyPr wrap="square" anchor="t">
            <a:spAutoFit/>
          </a:bodyPr>
          <a:lstStyle/>
          <a:p>
            <a:pPr algn="l"/>
            <a:r>
              <a:rPr sz="2800" b="1">
                <a:solidFill>
                  <a:srgbClr val="111D34"/>
                </a:solidFill>
                <a:latin typeface="Aptos"/>
              </a:rPr>
              <a:t>From raw data to decision-ready insights</a:t>
            </a:r>
          </a:p>
        </p:txBody>
      </p:sp>
      <p:sp>
        <p:nvSpPr>
          <p:cNvPr id="5" name="Rectangle 4"/>
          <p:cNvSpPr/>
          <p:nvPr/>
        </p:nvSpPr>
        <p:spPr>
          <a:xfrm>
            <a:off x="640080" y="1298448"/>
            <a:ext cx="914400" cy="45720"/>
          </a:xfrm>
          <a:prstGeom prst="rect">
            <a:avLst/>
          </a:prstGeom>
          <a:solidFill>
            <a:srgbClr val="2C9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965960"/>
            <a:ext cx="1719072" cy="2148840"/>
          </a:xfrm>
          <a:prstGeom prst="roundRect">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8952" y="2130552"/>
            <a:ext cx="457200" cy="256032"/>
          </a:xfrm>
          <a:prstGeom prst="rect">
            <a:avLst/>
          </a:prstGeom>
          <a:noFill/>
        </p:spPr>
        <p:txBody>
          <a:bodyPr wrap="square" anchor="t">
            <a:spAutoFit/>
          </a:bodyPr>
          <a:lstStyle/>
          <a:p>
            <a:pPr algn="l"/>
            <a:r>
              <a:rPr sz="1000" b="1">
                <a:solidFill>
                  <a:srgbClr val="2C999D"/>
                </a:solidFill>
                <a:latin typeface="Aptos"/>
              </a:rPr>
              <a:t>01</a:t>
            </a:r>
          </a:p>
        </p:txBody>
      </p:sp>
      <p:sp>
        <p:nvSpPr>
          <p:cNvPr id="8" name="TextBox 7"/>
          <p:cNvSpPr txBox="1"/>
          <p:nvPr/>
        </p:nvSpPr>
        <p:spPr>
          <a:xfrm>
            <a:off x="758952" y="2542032"/>
            <a:ext cx="1399031" cy="320040"/>
          </a:xfrm>
          <a:prstGeom prst="rect">
            <a:avLst/>
          </a:prstGeom>
          <a:noFill/>
        </p:spPr>
        <p:txBody>
          <a:bodyPr wrap="square" anchor="t">
            <a:spAutoFit/>
          </a:bodyPr>
          <a:lstStyle/>
          <a:p>
            <a:pPr algn="l"/>
            <a:r>
              <a:rPr sz="1500" b="1">
                <a:solidFill>
                  <a:srgbClr val="111D34"/>
                </a:solidFill>
                <a:latin typeface="Aptos"/>
              </a:rPr>
              <a:t>UCI Data</a:t>
            </a:r>
          </a:p>
        </p:txBody>
      </p:sp>
      <p:sp>
        <p:nvSpPr>
          <p:cNvPr id="9" name="TextBox 8"/>
          <p:cNvSpPr txBox="1"/>
          <p:nvPr/>
        </p:nvSpPr>
        <p:spPr>
          <a:xfrm>
            <a:off x="758952" y="3044952"/>
            <a:ext cx="1511808" cy="830997"/>
          </a:xfrm>
          <a:prstGeom prst="rect">
            <a:avLst/>
          </a:prstGeom>
          <a:noFill/>
        </p:spPr>
        <p:txBody>
          <a:bodyPr wrap="square" anchor="t">
            <a:spAutoFit/>
          </a:bodyPr>
          <a:lstStyle/>
          <a:p>
            <a:pPr algn="l"/>
            <a:r>
              <a:rPr sz="1600" b="0" dirty="0">
                <a:solidFill>
                  <a:srgbClr val="5C697A"/>
                </a:solidFill>
                <a:latin typeface="Aptos"/>
              </a:rPr>
              <a:t>Vehicle specifications
+ price</a:t>
            </a:r>
          </a:p>
        </p:txBody>
      </p:sp>
      <p:sp>
        <p:nvSpPr>
          <p:cNvPr id="10" name="TextBox 9"/>
          <p:cNvSpPr txBox="1"/>
          <p:nvPr/>
        </p:nvSpPr>
        <p:spPr>
          <a:xfrm>
            <a:off x="2295144" y="2834639"/>
            <a:ext cx="347472" cy="365760"/>
          </a:xfrm>
          <a:prstGeom prst="rect">
            <a:avLst/>
          </a:prstGeom>
          <a:noFill/>
        </p:spPr>
        <p:txBody>
          <a:bodyPr wrap="square" anchor="t">
            <a:spAutoFit/>
          </a:bodyPr>
          <a:lstStyle/>
          <a:p>
            <a:pPr algn="ctr"/>
            <a:r>
              <a:rPr sz="1800" b="1">
                <a:solidFill>
                  <a:srgbClr val="275BAB"/>
                </a:solidFill>
                <a:latin typeface="Aptos"/>
              </a:rPr>
              <a:t>→</a:t>
            </a:r>
          </a:p>
        </p:txBody>
      </p:sp>
      <p:sp>
        <p:nvSpPr>
          <p:cNvPr id="11" name="Rounded Rectangle 10"/>
          <p:cNvSpPr/>
          <p:nvPr/>
        </p:nvSpPr>
        <p:spPr>
          <a:xfrm>
            <a:off x="2566416" y="1941987"/>
            <a:ext cx="1719072" cy="2148840"/>
          </a:xfrm>
          <a:prstGeom prst="roundRect">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60904" y="2130552"/>
            <a:ext cx="457200" cy="256032"/>
          </a:xfrm>
          <a:prstGeom prst="rect">
            <a:avLst/>
          </a:prstGeom>
          <a:noFill/>
        </p:spPr>
        <p:txBody>
          <a:bodyPr wrap="square" anchor="t">
            <a:spAutoFit/>
          </a:bodyPr>
          <a:lstStyle/>
          <a:p>
            <a:pPr algn="l"/>
            <a:r>
              <a:rPr sz="1000" b="1">
                <a:solidFill>
                  <a:srgbClr val="2C999D"/>
                </a:solidFill>
                <a:latin typeface="Aptos"/>
              </a:rPr>
              <a:t>02</a:t>
            </a:r>
          </a:p>
        </p:txBody>
      </p:sp>
      <p:sp>
        <p:nvSpPr>
          <p:cNvPr id="13" name="TextBox 12"/>
          <p:cNvSpPr txBox="1"/>
          <p:nvPr/>
        </p:nvSpPr>
        <p:spPr>
          <a:xfrm>
            <a:off x="2660904" y="2542032"/>
            <a:ext cx="1399031" cy="320040"/>
          </a:xfrm>
          <a:prstGeom prst="rect">
            <a:avLst/>
          </a:prstGeom>
          <a:noFill/>
        </p:spPr>
        <p:txBody>
          <a:bodyPr wrap="square" anchor="t">
            <a:spAutoFit/>
          </a:bodyPr>
          <a:lstStyle/>
          <a:p>
            <a:pPr algn="l"/>
            <a:r>
              <a:rPr sz="1500" b="1">
                <a:solidFill>
                  <a:srgbClr val="111D34"/>
                </a:solidFill>
                <a:latin typeface="Aptos"/>
              </a:rPr>
              <a:t>Clean</a:t>
            </a:r>
          </a:p>
        </p:txBody>
      </p:sp>
      <p:sp>
        <p:nvSpPr>
          <p:cNvPr id="14" name="TextBox 13"/>
          <p:cNvSpPr txBox="1"/>
          <p:nvPr/>
        </p:nvSpPr>
        <p:spPr>
          <a:xfrm>
            <a:off x="2607953" y="3023155"/>
            <a:ext cx="1517904" cy="830997"/>
          </a:xfrm>
          <a:prstGeom prst="rect">
            <a:avLst/>
          </a:prstGeom>
          <a:noFill/>
        </p:spPr>
        <p:txBody>
          <a:bodyPr wrap="square" anchor="t">
            <a:spAutoFit/>
          </a:bodyPr>
          <a:lstStyle/>
          <a:p>
            <a:pPr algn="l"/>
            <a:r>
              <a:rPr sz="1600" b="0" dirty="0">
                <a:solidFill>
                  <a:srgbClr val="5C697A"/>
                </a:solidFill>
                <a:latin typeface="Aptos"/>
              </a:rPr>
              <a:t>Missing values
+ preprocessing</a:t>
            </a:r>
          </a:p>
        </p:txBody>
      </p:sp>
      <p:sp>
        <p:nvSpPr>
          <p:cNvPr id="15" name="TextBox 14"/>
          <p:cNvSpPr txBox="1"/>
          <p:nvPr/>
        </p:nvSpPr>
        <p:spPr>
          <a:xfrm>
            <a:off x="4197096" y="2834639"/>
            <a:ext cx="347472" cy="365760"/>
          </a:xfrm>
          <a:prstGeom prst="rect">
            <a:avLst/>
          </a:prstGeom>
          <a:noFill/>
        </p:spPr>
        <p:txBody>
          <a:bodyPr wrap="square" anchor="t">
            <a:spAutoFit/>
          </a:bodyPr>
          <a:lstStyle/>
          <a:p>
            <a:pPr algn="ctr"/>
            <a:r>
              <a:rPr sz="1800" b="1">
                <a:solidFill>
                  <a:srgbClr val="275BAB"/>
                </a:solidFill>
                <a:latin typeface="Aptos"/>
              </a:rPr>
              <a:t>→</a:t>
            </a:r>
          </a:p>
        </p:txBody>
      </p:sp>
      <p:sp>
        <p:nvSpPr>
          <p:cNvPr id="16" name="Rounded Rectangle 15"/>
          <p:cNvSpPr/>
          <p:nvPr/>
        </p:nvSpPr>
        <p:spPr>
          <a:xfrm>
            <a:off x="4440936" y="1979357"/>
            <a:ext cx="1719072" cy="2148840"/>
          </a:xfrm>
          <a:prstGeom prst="roundRect">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62856" y="2130552"/>
            <a:ext cx="457200" cy="256032"/>
          </a:xfrm>
          <a:prstGeom prst="rect">
            <a:avLst/>
          </a:prstGeom>
          <a:noFill/>
        </p:spPr>
        <p:txBody>
          <a:bodyPr wrap="square" anchor="t">
            <a:spAutoFit/>
          </a:bodyPr>
          <a:lstStyle/>
          <a:p>
            <a:pPr algn="l"/>
            <a:r>
              <a:rPr sz="1000" b="1">
                <a:solidFill>
                  <a:srgbClr val="2C999D"/>
                </a:solidFill>
                <a:latin typeface="Aptos"/>
              </a:rPr>
              <a:t>03</a:t>
            </a:r>
          </a:p>
        </p:txBody>
      </p:sp>
      <p:sp>
        <p:nvSpPr>
          <p:cNvPr id="18" name="TextBox 17"/>
          <p:cNvSpPr txBox="1"/>
          <p:nvPr/>
        </p:nvSpPr>
        <p:spPr>
          <a:xfrm>
            <a:off x="4562856" y="2542032"/>
            <a:ext cx="1399031" cy="320040"/>
          </a:xfrm>
          <a:prstGeom prst="rect">
            <a:avLst/>
          </a:prstGeom>
          <a:noFill/>
        </p:spPr>
        <p:txBody>
          <a:bodyPr wrap="square" anchor="t">
            <a:spAutoFit/>
          </a:bodyPr>
          <a:lstStyle/>
          <a:p>
            <a:pPr algn="l"/>
            <a:r>
              <a:rPr sz="1500" b="1">
                <a:solidFill>
                  <a:srgbClr val="111D34"/>
                </a:solidFill>
                <a:latin typeface="Aptos"/>
              </a:rPr>
              <a:t>Explore</a:t>
            </a:r>
          </a:p>
        </p:txBody>
      </p:sp>
      <p:sp>
        <p:nvSpPr>
          <p:cNvPr id="19" name="TextBox 18"/>
          <p:cNvSpPr txBox="1"/>
          <p:nvPr/>
        </p:nvSpPr>
        <p:spPr>
          <a:xfrm>
            <a:off x="4562856" y="3044952"/>
            <a:ext cx="1399031" cy="584775"/>
          </a:xfrm>
          <a:prstGeom prst="rect">
            <a:avLst/>
          </a:prstGeom>
          <a:noFill/>
        </p:spPr>
        <p:txBody>
          <a:bodyPr wrap="square" anchor="t">
            <a:spAutoFit/>
          </a:bodyPr>
          <a:lstStyle/>
          <a:p>
            <a:pPr algn="l"/>
            <a:r>
              <a:rPr sz="1600" b="0" dirty="0">
                <a:solidFill>
                  <a:srgbClr val="5C697A"/>
                </a:solidFill>
                <a:latin typeface="Aptos"/>
              </a:rPr>
              <a:t>Patterns +
relationships</a:t>
            </a:r>
          </a:p>
        </p:txBody>
      </p:sp>
      <p:sp>
        <p:nvSpPr>
          <p:cNvPr id="20" name="TextBox 19"/>
          <p:cNvSpPr txBox="1"/>
          <p:nvPr/>
        </p:nvSpPr>
        <p:spPr>
          <a:xfrm>
            <a:off x="6099048" y="2834639"/>
            <a:ext cx="347472" cy="365760"/>
          </a:xfrm>
          <a:prstGeom prst="rect">
            <a:avLst/>
          </a:prstGeom>
          <a:noFill/>
        </p:spPr>
        <p:txBody>
          <a:bodyPr wrap="square" anchor="t">
            <a:spAutoFit/>
          </a:bodyPr>
          <a:lstStyle/>
          <a:p>
            <a:pPr algn="ctr"/>
            <a:r>
              <a:rPr sz="1800" b="1">
                <a:solidFill>
                  <a:srgbClr val="275BAB"/>
                </a:solidFill>
                <a:latin typeface="Aptos"/>
              </a:rPr>
              <a:t>→</a:t>
            </a:r>
          </a:p>
        </p:txBody>
      </p:sp>
      <p:sp>
        <p:nvSpPr>
          <p:cNvPr id="21" name="Rounded Rectangle 20"/>
          <p:cNvSpPr/>
          <p:nvPr/>
        </p:nvSpPr>
        <p:spPr>
          <a:xfrm>
            <a:off x="6342888" y="1965960"/>
            <a:ext cx="1719072" cy="2148840"/>
          </a:xfrm>
          <a:prstGeom prst="roundRect">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64808" y="2130552"/>
            <a:ext cx="457200" cy="256032"/>
          </a:xfrm>
          <a:prstGeom prst="rect">
            <a:avLst/>
          </a:prstGeom>
          <a:noFill/>
        </p:spPr>
        <p:txBody>
          <a:bodyPr wrap="square" anchor="t">
            <a:spAutoFit/>
          </a:bodyPr>
          <a:lstStyle/>
          <a:p>
            <a:pPr algn="l"/>
            <a:r>
              <a:rPr sz="1000" b="1">
                <a:solidFill>
                  <a:srgbClr val="2C999D"/>
                </a:solidFill>
                <a:latin typeface="Aptos"/>
              </a:rPr>
              <a:t>04</a:t>
            </a:r>
          </a:p>
        </p:txBody>
      </p:sp>
      <p:sp>
        <p:nvSpPr>
          <p:cNvPr id="23" name="TextBox 22"/>
          <p:cNvSpPr txBox="1"/>
          <p:nvPr/>
        </p:nvSpPr>
        <p:spPr>
          <a:xfrm>
            <a:off x="6464808" y="2542032"/>
            <a:ext cx="1399031" cy="320040"/>
          </a:xfrm>
          <a:prstGeom prst="rect">
            <a:avLst/>
          </a:prstGeom>
          <a:noFill/>
        </p:spPr>
        <p:txBody>
          <a:bodyPr wrap="square" anchor="t">
            <a:spAutoFit/>
          </a:bodyPr>
          <a:lstStyle/>
          <a:p>
            <a:pPr algn="l"/>
            <a:r>
              <a:rPr sz="1500" b="1">
                <a:solidFill>
                  <a:srgbClr val="111D34"/>
                </a:solidFill>
                <a:latin typeface="Aptos"/>
              </a:rPr>
              <a:t>Cluster</a:t>
            </a:r>
          </a:p>
        </p:txBody>
      </p:sp>
      <p:sp>
        <p:nvSpPr>
          <p:cNvPr id="24" name="TextBox 23"/>
          <p:cNvSpPr txBox="1"/>
          <p:nvPr/>
        </p:nvSpPr>
        <p:spPr>
          <a:xfrm>
            <a:off x="6391656" y="3006222"/>
            <a:ext cx="1517904" cy="584775"/>
          </a:xfrm>
          <a:prstGeom prst="rect">
            <a:avLst/>
          </a:prstGeom>
          <a:noFill/>
        </p:spPr>
        <p:txBody>
          <a:bodyPr wrap="square" anchor="t">
            <a:spAutoFit/>
          </a:bodyPr>
          <a:lstStyle/>
          <a:p>
            <a:pPr algn="l"/>
            <a:r>
              <a:rPr sz="1600" b="0" dirty="0">
                <a:solidFill>
                  <a:srgbClr val="5C697A"/>
                </a:solidFill>
                <a:latin typeface="Aptos"/>
              </a:rPr>
              <a:t>Natural vehicle
segments</a:t>
            </a:r>
          </a:p>
        </p:txBody>
      </p:sp>
      <p:sp>
        <p:nvSpPr>
          <p:cNvPr id="25" name="TextBox 24"/>
          <p:cNvSpPr txBox="1"/>
          <p:nvPr/>
        </p:nvSpPr>
        <p:spPr>
          <a:xfrm>
            <a:off x="8001000" y="2834639"/>
            <a:ext cx="347472" cy="365760"/>
          </a:xfrm>
          <a:prstGeom prst="rect">
            <a:avLst/>
          </a:prstGeom>
          <a:noFill/>
        </p:spPr>
        <p:txBody>
          <a:bodyPr wrap="square" anchor="t">
            <a:spAutoFit/>
          </a:bodyPr>
          <a:lstStyle/>
          <a:p>
            <a:pPr algn="ctr"/>
            <a:r>
              <a:rPr sz="1800" b="1">
                <a:solidFill>
                  <a:srgbClr val="275BAB"/>
                </a:solidFill>
                <a:latin typeface="Aptos"/>
              </a:rPr>
              <a:t>→</a:t>
            </a:r>
          </a:p>
        </p:txBody>
      </p:sp>
      <p:sp>
        <p:nvSpPr>
          <p:cNvPr id="26" name="Rounded Rectangle 25"/>
          <p:cNvSpPr/>
          <p:nvPr/>
        </p:nvSpPr>
        <p:spPr>
          <a:xfrm>
            <a:off x="8244840" y="1970426"/>
            <a:ext cx="1719072" cy="2148840"/>
          </a:xfrm>
          <a:prstGeom prst="roundRect">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66760" y="2130552"/>
            <a:ext cx="457200" cy="256032"/>
          </a:xfrm>
          <a:prstGeom prst="rect">
            <a:avLst/>
          </a:prstGeom>
          <a:noFill/>
        </p:spPr>
        <p:txBody>
          <a:bodyPr wrap="square" anchor="t">
            <a:spAutoFit/>
          </a:bodyPr>
          <a:lstStyle/>
          <a:p>
            <a:pPr algn="l"/>
            <a:r>
              <a:rPr sz="1000" b="1">
                <a:solidFill>
                  <a:srgbClr val="2C999D"/>
                </a:solidFill>
                <a:latin typeface="Aptos"/>
              </a:rPr>
              <a:t>05</a:t>
            </a:r>
          </a:p>
        </p:txBody>
      </p:sp>
      <p:sp>
        <p:nvSpPr>
          <p:cNvPr id="28" name="TextBox 27"/>
          <p:cNvSpPr txBox="1"/>
          <p:nvPr/>
        </p:nvSpPr>
        <p:spPr>
          <a:xfrm>
            <a:off x="8366760" y="2542032"/>
            <a:ext cx="1399031" cy="320040"/>
          </a:xfrm>
          <a:prstGeom prst="rect">
            <a:avLst/>
          </a:prstGeom>
          <a:noFill/>
        </p:spPr>
        <p:txBody>
          <a:bodyPr wrap="square" anchor="t">
            <a:spAutoFit/>
          </a:bodyPr>
          <a:lstStyle/>
          <a:p>
            <a:pPr algn="l"/>
            <a:r>
              <a:rPr sz="1500" b="1">
                <a:solidFill>
                  <a:srgbClr val="111D34"/>
                </a:solidFill>
                <a:latin typeface="Aptos"/>
              </a:rPr>
              <a:t>Predict</a:t>
            </a:r>
          </a:p>
        </p:txBody>
      </p:sp>
      <p:sp>
        <p:nvSpPr>
          <p:cNvPr id="29" name="TextBox 28"/>
          <p:cNvSpPr txBox="1"/>
          <p:nvPr/>
        </p:nvSpPr>
        <p:spPr>
          <a:xfrm>
            <a:off x="8307113" y="2919829"/>
            <a:ext cx="1399031" cy="830997"/>
          </a:xfrm>
          <a:prstGeom prst="rect">
            <a:avLst/>
          </a:prstGeom>
          <a:noFill/>
        </p:spPr>
        <p:txBody>
          <a:bodyPr wrap="square" anchor="t">
            <a:spAutoFit/>
          </a:bodyPr>
          <a:lstStyle/>
          <a:p>
            <a:pPr algn="l"/>
            <a:r>
              <a:rPr sz="1600" b="0" dirty="0">
                <a:solidFill>
                  <a:srgbClr val="5C697A"/>
                </a:solidFill>
                <a:latin typeface="Aptos"/>
              </a:rPr>
              <a:t>Regression +
model evaluation</a:t>
            </a:r>
          </a:p>
        </p:txBody>
      </p:sp>
      <p:sp>
        <p:nvSpPr>
          <p:cNvPr id="30" name="TextBox 29"/>
          <p:cNvSpPr txBox="1"/>
          <p:nvPr/>
        </p:nvSpPr>
        <p:spPr>
          <a:xfrm>
            <a:off x="9902952" y="2834639"/>
            <a:ext cx="347472" cy="365760"/>
          </a:xfrm>
          <a:prstGeom prst="rect">
            <a:avLst/>
          </a:prstGeom>
          <a:noFill/>
        </p:spPr>
        <p:txBody>
          <a:bodyPr wrap="square" anchor="t">
            <a:spAutoFit/>
          </a:bodyPr>
          <a:lstStyle/>
          <a:p>
            <a:pPr algn="ctr"/>
            <a:r>
              <a:rPr sz="1800" b="1">
                <a:solidFill>
                  <a:srgbClr val="275BAB"/>
                </a:solidFill>
                <a:latin typeface="Aptos"/>
              </a:rPr>
              <a:t>→</a:t>
            </a:r>
          </a:p>
        </p:txBody>
      </p:sp>
      <p:sp>
        <p:nvSpPr>
          <p:cNvPr id="31" name="Rounded Rectangle 30"/>
          <p:cNvSpPr/>
          <p:nvPr/>
        </p:nvSpPr>
        <p:spPr>
          <a:xfrm>
            <a:off x="10162032" y="1965960"/>
            <a:ext cx="1719072" cy="2148840"/>
          </a:xfrm>
          <a:prstGeom prst="roundRect">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268712" y="2130552"/>
            <a:ext cx="457200" cy="256032"/>
          </a:xfrm>
          <a:prstGeom prst="rect">
            <a:avLst/>
          </a:prstGeom>
          <a:noFill/>
        </p:spPr>
        <p:txBody>
          <a:bodyPr wrap="square" anchor="t">
            <a:spAutoFit/>
          </a:bodyPr>
          <a:lstStyle/>
          <a:p>
            <a:pPr algn="l"/>
            <a:r>
              <a:rPr sz="1000" b="1">
                <a:solidFill>
                  <a:srgbClr val="2C999D"/>
                </a:solidFill>
                <a:latin typeface="Aptos"/>
              </a:rPr>
              <a:t>06</a:t>
            </a:r>
          </a:p>
        </p:txBody>
      </p:sp>
      <p:sp>
        <p:nvSpPr>
          <p:cNvPr id="33" name="TextBox 32"/>
          <p:cNvSpPr txBox="1"/>
          <p:nvPr/>
        </p:nvSpPr>
        <p:spPr>
          <a:xfrm>
            <a:off x="10268712" y="2542032"/>
            <a:ext cx="1399031" cy="320040"/>
          </a:xfrm>
          <a:prstGeom prst="rect">
            <a:avLst/>
          </a:prstGeom>
          <a:noFill/>
        </p:spPr>
        <p:txBody>
          <a:bodyPr wrap="square" anchor="t">
            <a:spAutoFit/>
          </a:bodyPr>
          <a:lstStyle/>
          <a:p>
            <a:pPr algn="l"/>
            <a:r>
              <a:rPr sz="1400" b="1" dirty="0">
                <a:solidFill>
                  <a:srgbClr val="111D34"/>
                </a:solidFill>
                <a:latin typeface="Aptos"/>
              </a:rPr>
              <a:t>Communicate</a:t>
            </a:r>
          </a:p>
        </p:txBody>
      </p:sp>
      <p:sp>
        <p:nvSpPr>
          <p:cNvPr id="34" name="TextBox 33"/>
          <p:cNvSpPr txBox="1"/>
          <p:nvPr/>
        </p:nvSpPr>
        <p:spPr>
          <a:xfrm>
            <a:off x="10268712" y="3044952"/>
            <a:ext cx="1399031" cy="830997"/>
          </a:xfrm>
          <a:prstGeom prst="rect">
            <a:avLst/>
          </a:prstGeom>
          <a:noFill/>
        </p:spPr>
        <p:txBody>
          <a:bodyPr wrap="square" anchor="t">
            <a:spAutoFit/>
          </a:bodyPr>
          <a:lstStyle/>
          <a:p>
            <a:pPr algn="l"/>
            <a:r>
              <a:rPr sz="1600" b="0" dirty="0">
                <a:solidFill>
                  <a:srgbClr val="5C697A"/>
                </a:solidFill>
                <a:latin typeface="Aptos"/>
              </a:rPr>
              <a:t>Interactive
Tableau dashboard</a:t>
            </a:r>
          </a:p>
        </p:txBody>
      </p:sp>
      <p:sp>
        <p:nvSpPr>
          <p:cNvPr id="35" name="TextBox 34"/>
          <p:cNvSpPr txBox="1"/>
          <p:nvPr/>
        </p:nvSpPr>
        <p:spPr>
          <a:xfrm>
            <a:off x="685800" y="4800600"/>
            <a:ext cx="868680" cy="400110"/>
          </a:xfrm>
          <a:prstGeom prst="rect">
            <a:avLst/>
          </a:prstGeom>
          <a:noFill/>
        </p:spPr>
        <p:txBody>
          <a:bodyPr wrap="square" anchor="t">
            <a:spAutoFit/>
          </a:bodyPr>
          <a:lstStyle/>
          <a:p>
            <a:pPr algn="l"/>
            <a:r>
              <a:rPr sz="2000" b="1" dirty="0">
                <a:solidFill>
                  <a:srgbClr val="275BAB"/>
                </a:solidFill>
                <a:latin typeface="Aptos"/>
              </a:rPr>
              <a:t>Goal</a:t>
            </a:r>
          </a:p>
        </p:txBody>
      </p:sp>
      <p:sp>
        <p:nvSpPr>
          <p:cNvPr id="36" name="TextBox 35"/>
          <p:cNvSpPr txBox="1"/>
          <p:nvPr/>
        </p:nvSpPr>
        <p:spPr>
          <a:xfrm>
            <a:off x="1514856" y="4820007"/>
            <a:ext cx="7772400" cy="365760"/>
          </a:xfrm>
          <a:prstGeom prst="rect">
            <a:avLst/>
          </a:prstGeom>
          <a:noFill/>
        </p:spPr>
        <p:txBody>
          <a:bodyPr wrap="square" anchor="t">
            <a:spAutoFit/>
          </a:bodyPr>
          <a:lstStyle/>
          <a:p>
            <a:pPr algn="l"/>
            <a:r>
              <a:rPr sz="1600" b="1" dirty="0">
                <a:solidFill>
                  <a:srgbClr val="111D34"/>
                </a:solidFill>
                <a:latin typeface="Aptos"/>
              </a:rPr>
              <a:t>Understand pricing patterns  →  segment vehicles  →  predict price</a:t>
            </a:r>
          </a:p>
        </p:txBody>
      </p:sp>
      <p:sp>
        <p:nvSpPr>
          <p:cNvPr id="37" name="TextBox 36"/>
          <p:cNvSpPr txBox="1"/>
          <p:nvPr/>
        </p:nvSpPr>
        <p:spPr>
          <a:xfrm>
            <a:off x="673466" y="5582631"/>
            <a:ext cx="10698480" cy="400110"/>
          </a:xfrm>
          <a:prstGeom prst="rect">
            <a:avLst/>
          </a:prstGeom>
          <a:noFill/>
        </p:spPr>
        <p:txBody>
          <a:bodyPr wrap="square" anchor="t">
            <a:spAutoFit/>
          </a:bodyPr>
          <a:lstStyle/>
          <a:p>
            <a:pPr algn="l"/>
            <a:r>
              <a:rPr sz="2000" b="0" dirty="0">
                <a:solidFill>
                  <a:srgbClr val="5C697A"/>
                </a:solidFill>
                <a:latin typeface="Aptos"/>
              </a:rPr>
              <a:t>Dataset includes engine size, horsepower, fuel efficiency, body style, manufacturer and price.</a:t>
            </a:r>
          </a:p>
        </p:txBody>
      </p:sp>
      <p:sp>
        <p:nvSpPr>
          <p:cNvPr id="38" name="TextBox 37"/>
          <p:cNvSpPr txBox="1"/>
          <p:nvPr/>
        </p:nvSpPr>
        <p:spPr>
          <a:xfrm>
            <a:off x="640080" y="6510528"/>
            <a:ext cx="3200400" cy="182880"/>
          </a:xfrm>
          <a:prstGeom prst="rect">
            <a:avLst/>
          </a:prstGeom>
          <a:noFill/>
        </p:spPr>
        <p:txBody>
          <a:bodyPr wrap="square" anchor="t">
            <a:spAutoFit/>
          </a:bodyPr>
          <a:lstStyle/>
          <a:p>
            <a:pPr algn="l"/>
            <a:r>
              <a:rPr sz="800" b="0" dirty="0">
                <a:solidFill>
                  <a:srgbClr val="5C697A"/>
                </a:solidFill>
                <a:latin typeface="Aptos"/>
              </a:rPr>
              <a:t>Automobile Price Analysis</a:t>
            </a:r>
          </a:p>
        </p:txBody>
      </p:sp>
      <p:sp>
        <p:nvSpPr>
          <p:cNvPr id="39" name="TextBox 38"/>
          <p:cNvSpPr txBox="1"/>
          <p:nvPr/>
        </p:nvSpPr>
        <p:spPr>
          <a:xfrm>
            <a:off x="11109960" y="6473952"/>
            <a:ext cx="411480" cy="228600"/>
          </a:xfrm>
          <a:prstGeom prst="rect">
            <a:avLst/>
          </a:prstGeom>
          <a:noFill/>
        </p:spPr>
        <p:txBody>
          <a:bodyPr wrap="square" anchor="t">
            <a:spAutoFit/>
          </a:bodyPr>
          <a:lstStyle/>
          <a:p>
            <a:pPr algn="r"/>
            <a:r>
              <a:rPr sz="800" b="0">
                <a:solidFill>
                  <a:srgbClr val="5C697A"/>
                </a:solidFill>
                <a:latin typeface="Aptos"/>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92757"/>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9120" y="121545"/>
            <a:ext cx="8216841" cy="707886"/>
          </a:xfrm>
          <a:prstGeom prst="rect">
            <a:avLst/>
          </a:prstGeom>
          <a:noFill/>
        </p:spPr>
        <p:txBody>
          <a:bodyPr wrap="square" anchor="t">
            <a:spAutoFit/>
          </a:bodyPr>
          <a:lstStyle/>
          <a:p>
            <a:pPr algn="l"/>
            <a:r>
              <a:rPr sz="4000" b="1" dirty="0">
                <a:solidFill>
                  <a:srgbClr val="275BAB"/>
                </a:solidFill>
                <a:latin typeface="Aptos"/>
              </a:rPr>
              <a:t>EXPLORATORY DATA ANALYSIS</a:t>
            </a:r>
          </a:p>
        </p:txBody>
      </p:sp>
      <p:sp>
        <p:nvSpPr>
          <p:cNvPr id="4" name="TextBox 3"/>
          <p:cNvSpPr txBox="1"/>
          <p:nvPr/>
        </p:nvSpPr>
        <p:spPr>
          <a:xfrm>
            <a:off x="640080" y="658368"/>
            <a:ext cx="10972800" cy="566928"/>
          </a:xfrm>
          <a:prstGeom prst="rect">
            <a:avLst/>
          </a:prstGeom>
          <a:noFill/>
        </p:spPr>
        <p:txBody>
          <a:bodyPr wrap="square" anchor="t">
            <a:spAutoFit/>
          </a:bodyPr>
          <a:lstStyle/>
          <a:p>
            <a:pPr algn="l"/>
            <a:r>
              <a:rPr sz="2800" b="1">
                <a:solidFill>
                  <a:srgbClr val="111D34"/>
                </a:solidFill>
                <a:latin typeface="Aptos"/>
              </a:rPr>
              <a:t>What appears to drive automobile price?</a:t>
            </a:r>
          </a:p>
        </p:txBody>
      </p:sp>
      <p:sp>
        <p:nvSpPr>
          <p:cNvPr id="5" name="Rectangle 4"/>
          <p:cNvSpPr/>
          <p:nvPr/>
        </p:nvSpPr>
        <p:spPr>
          <a:xfrm>
            <a:off x="640080" y="1298448"/>
            <a:ext cx="914400" cy="45720"/>
          </a:xfrm>
          <a:prstGeom prst="rect">
            <a:avLst/>
          </a:prstGeom>
          <a:solidFill>
            <a:srgbClr val="2C9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1" name="Group 30">
            <a:extLst>
              <a:ext uri="{FF2B5EF4-FFF2-40B4-BE49-F238E27FC236}">
                <a16:creationId xmlns:a16="http://schemas.microsoft.com/office/drawing/2014/main" id="{A6196F6B-5CC1-3BEB-294B-A084E06AE116}"/>
              </a:ext>
            </a:extLst>
          </p:cNvPr>
          <p:cNvGrpSpPr/>
          <p:nvPr/>
        </p:nvGrpSpPr>
        <p:grpSpPr>
          <a:xfrm>
            <a:off x="8497048" y="1564357"/>
            <a:ext cx="3445578" cy="5093942"/>
            <a:chOff x="8471047" y="1165310"/>
            <a:chExt cx="3445578" cy="5093942"/>
          </a:xfrm>
        </p:grpSpPr>
        <p:grpSp>
          <p:nvGrpSpPr>
            <p:cNvPr id="28" name="Group 27">
              <a:extLst>
                <a:ext uri="{FF2B5EF4-FFF2-40B4-BE49-F238E27FC236}">
                  <a16:creationId xmlns:a16="http://schemas.microsoft.com/office/drawing/2014/main" id="{155279F1-06AF-455F-9D25-704803A47A01}"/>
                </a:ext>
              </a:extLst>
            </p:cNvPr>
            <p:cNvGrpSpPr/>
            <p:nvPr/>
          </p:nvGrpSpPr>
          <p:grpSpPr>
            <a:xfrm>
              <a:off x="8471047" y="1165310"/>
              <a:ext cx="3429000" cy="2057400"/>
              <a:chOff x="685800" y="1828800"/>
              <a:chExt cx="3429000" cy="2057400"/>
            </a:xfrm>
          </p:grpSpPr>
          <p:sp>
            <p:nvSpPr>
              <p:cNvPr id="6" name="Rounded Rectangle 5"/>
              <p:cNvSpPr/>
              <p:nvPr/>
            </p:nvSpPr>
            <p:spPr>
              <a:xfrm>
                <a:off x="685800" y="1828800"/>
                <a:ext cx="3429000" cy="2057400"/>
              </a:xfrm>
              <a:prstGeom prst="roundRect">
                <a:avLst/>
              </a:prstGeom>
              <a:solidFill>
                <a:srgbClr val="E8F0FC"/>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029968"/>
                <a:ext cx="3017520" cy="320040"/>
              </a:xfrm>
              <a:prstGeom prst="rect">
                <a:avLst/>
              </a:prstGeom>
              <a:noFill/>
            </p:spPr>
            <p:txBody>
              <a:bodyPr wrap="square" anchor="t">
                <a:spAutoFit/>
              </a:bodyPr>
              <a:lstStyle/>
              <a:p>
                <a:pPr algn="l"/>
                <a:r>
                  <a:rPr sz="1500" b="1">
                    <a:solidFill>
                      <a:srgbClr val="111D34"/>
                    </a:solidFill>
                    <a:latin typeface="Aptos"/>
                  </a:rPr>
                  <a:t>Engine &amp; power</a:t>
                </a:r>
              </a:p>
            </p:txBody>
          </p:sp>
          <p:sp>
            <p:nvSpPr>
              <p:cNvPr id="9" name="TextBox 8"/>
              <p:cNvSpPr txBox="1"/>
              <p:nvPr/>
            </p:nvSpPr>
            <p:spPr>
              <a:xfrm>
                <a:off x="914400" y="2450592"/>
                <a:ext cx="3017520" cy="1307592"/>
              </a:xfrm>
              <a:prstGeom prst="rect">
                <a:avLst/>
              </a:prstGeom>
              <a:noFill/>
            </p:spPr>
            <p:txBody>
              <a:bodyPr wrap="square" anchor="t">
                <a:spAutoFit/>
              </a:bodyPr>
              <a:lstStyle/>
              <a:p>
                <a:pPr algn="l"/>
                <a:r>
                  <a:rPr sz="1100" b="0" dirty="0">
                    <a:solidFill>
                      <a:srgbClr val="5C697A"/>
                    </a:solidFill>
                    <a:latin typeface="Aptos"/>
                  </a:rPr>
                  <a:t>Engine size and horsepower were key variables to investigate because performance-related specifications showed meaningful relationships with price.</a:t>
                </a:r>
              </a:p>
            </p:txBody>
          </p:sp>
          <p:sp>
            <p:nvSpPr>
              <p:cNvPr id="7" name="Rectangle 6"/>
              <p:cNvSpPr/>
              <p:nvPr/>
            </p:nvSpPr>
            <p:spPr>
              <a:xfrm>
                <a:off x="685800" y="1828800"/>
                <a:ext cx="73152" cy="2057400"/>
              </a:xfrm>
              <a:prstGeom prst="rect">
                <a:avLst/>
              </a:prstGeom>
              <a:solidFill>
                <a:srgbClr val="27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29" name="Group 28">
              <a:extLst>
                <a:ext uri="{FF2B5EF4-FFF2-40B4-BE49-F238E27FC236}">
                  <a16:creationId xmlns:a16="http://schemas.microsoft.com/office/drawing/2014/main" id="{08CE0EE7-EEF5-81A7-E9FF-1CC7FD40BFC4}"/>
                </a:ext>
              </a:extLst>
            </p:cNvPr>
            <p:cNvGrpSpPr/>
            <p:nvPr/>
          </p:nvGrpSpPr>
          <p:grpSpPr>
            <a:xfrm>
              <a:off x="8471047" y="2600918"/>
              <a:ext cx="3429000" cy="2057400"/>
              <a:chOff x="4389120" y="1828800"/>
              <a:chExt cx="3429000" cy="2057400"/>
            </a:xfrm>
          </p:grpSpPr>
          <p:sp>
            <p:nvSpPr>
              <p:cNvPr id="10" name="Rounded Rectangle 9"/>
              <p:cNvSpPr/>
              <p:nvPr/>
            </p:nvSpPr>
            <p:spPr>
              <a:xfrm>
                <a:off x="4389120" y="1828800"/>
                <a:ext cx="3429000" cy="2057400"/>
              </a:xfrm>
              <a:prstGeom prst="roundRect">
                <a:avLst/>
              </a:prstGeom>
              <a:solidFill>
                <a:srgbClr val="E5F6F5"/>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828800"/>
                <a:ext cx="73152" cy="2057400"/>
              </a:xfrm>
              <a:prstGeom prst="rect">
                <a:avLst/>
              </a:prstGeom>
              <a:solidFill>
                <a:srgbClr val="2C9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17720" y="2029968"/>
                <a:ext cx="3017520" cy="320040"/>
              </a:xfrm>
              <a:prstGeom prst="rect">
                <a:avLst/>
              </a:prstGeom>
              <a:noFill/>
            </p:spPr>
            <p:txBody>
              <a:bodyPr wrap="square" anchor="t">
                <a:spAutoFit/>
              </a:bodyPr>
              <a:lstStyle/>
              <a:p>
                <a:pPr algn="l"/>
                <a:r>
                  <a:rPr sz="1500" b="1">
                    <a:solidFill>
                      <a:srgbClr val="111D34"/>
                    </a:solidFill>
                    <a:latin typeface="Aptos"/>
                  </a:rPr>
                  <a:t>Fuel efficiency</a:t>
                </a:r>
              </a:p>
            </p:txBody>
          </p:sp>
          <p:sp>
            <p:nvSpPr>
              <p:cNvPr id="13" name="TextBox 12"/>
              <p:cNvSpPr txBox="1"/>
              <p:nvPr/>
            </p:nvSpPr>
            <p:spPr>
              <a:xfrm>
                <a:off x="4617720" y="2450592"/>
                <a:ext cx="3017520" cy="1307592"/>
              </a:xfrm>
              <a:prstGeom prst="rect">
                <a:avLst/>
              </a:prstGeom>
              <a:noFill/>
            </p:spPr>
            <p:txBody>
              <a:bodyPr wrap="square" anchor="t">
                <a:spAutoFit/>
              </a:bodyPr>
              <a:lstStyle/>
              <a:p>
                <a:pPr algn="l"/>
                <a:r>
                  <a:rPr sz="1100" b="0">
                    <a:solidFill>
                      <a:srgbClr val="5C697A"/>
                    </a:solidFill>
                    <a:latin typeface="Aptos"/>
                  </a:rPr>
                  <a:t>City and highway MPG offered a different view of the market and helped us compare efficiency against performance and price.</a:t>
                </a:r>
              </a:p>
            </p:txBody>
          </p:sp>
        </p:grpSp>
        <p:grpSp>
          <p:nvGrpSpPr>
            <p:cNvPr id="30" name="Group 29">
              <a:extLst>
                <a:ext uri="{FF2B5EF4-FFF2-40B4-BE49-F238E27FC236}">
                  <a16:creationId xmlns:a16="http://schemas.microsoft.com/office/drawing/2014/main" id="{7DA2AF6A-2EB3-444A-0244-166E383FE581}"/>
                </a:ext>
              </a:extLst>
            </p:cNvPr>
            <p:cNvGrpSpPr/>
            <p:nvPr/>
          </p:nvGrpSpPr>
          <p:grpSpPr>
            <a:xfrm>
              <a:off x="8487625" y="4201852"/>
              <a:ext cx="3429000" cy="2057400"/>
              <a:chOff x="8092440" y="1828800"/>
              <a:chExt cx="3429000" cy="2057400"/>
            </a:xfrm>
          </p:grpSpPr>
          <p:sp>
            <p:nvSpPr>
              <p:cNvPr id="14" name="Rounded Rectangle 13"/>
              <p:cNvSpPr/>
              <p:nvPr/>
            </p:nvSpPr>
            <p:spPr>
              <a:xfrm>
                <a:off x="8092440" y="1828800"/>
                <a:ext cx="3429000" cy="2057400"/>
              </a:xfrm>
              <a:prstGeom prst="roundRect">
                <a:avLst/>
              </a:prstGeom>
              <a:solidFill>
                <a:srgbClr val="FCF4E1"/>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92440" y="1828800"/>
                <a:ext cx="73152" cy="2057400"/>
              </a:xfrm>
              <a:prstGeom prst="rect">
                <a:avLst/>
              </a:prstGeom>
              <a:solidFill>
                <a:srgbClr val="E2A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2029968"/>
                <a:ext cx="3017520" cy="320040"/>
              </a:xfrm>
              <a:prstGeom prst="rect">
                <a:avLst/>
              </a:prstGeom>
              <a:noFill/>
            </p:spPr>
            <p:txBody>
              <a:bodyPr wrap="square" anchor="t">
                <a:spAutoFit/>
              </a:bodyPr>
              <a:lstStyle/>
              <a:p>
                <a:pPr algn="l"/>
                <a:r>
                  <a:rPr sz="1500" b="1">
                    <a:solidFill>
                      <a:srgbClr val="111D34"/>
                    </a:solidFill>
                    <a:latin typeface="Aptos"/>
                  </a:rPr>
                  <a:t>Vehicle profile</a:t>
                </a:r>
              </a:p>
            </p:txBody>
          </p:sp>
          <p:sp>
            <p:nvSpPr>
              <p:cNvPr id="17" name="TextBox 16"/>
              <p:cNvSpPr txBox="1"/>
              <p:nvPr/>
            </p:nvSpPr>
            <p:spPr>
              <a:xfrm>
                <a:off x="8321040" y="2450592"/>
                <a:ext cx="3017520" cy="1307592"/>
              </a:xfrm>
              <a:prstGeom prst="rect">
                <a:avLst/>
              </a:prstGeom>
              <a:noFill/>
            </p:spPr>
            <p:txBody>
              <a:bodyPr wrap="square" anchor="t">
                <a:spAutoFit/>
              </a:bodyPr>
              <a:lstStyle/>
              <a:p>
                <a:pPr algn="l"/>
                <a:r>
                  <a:rPr sz="1100" b="0" dirty="0">
                    <a:solidFill>
                      <a:srgbClr val="5C697A"/>
                    </a:solidFill>
                    <a:latin typeface="Aptos"/>
                  </a:rPr>
                  <a:t>Body style, manufacturer and physical dimensions provided additional context for how vehicles are positioned and priced.</a:t>
                </a:r>
              </a:p>
            </p:txBody>
          </p:sp>
        </p:grpSp>
      </p:grpSp>
      <p:sp>
        <p:nvSpPr>
          <p:cNvPr id="19" name="TextBox 18"/>
          <p:cNvSpPr txBox="1"/>
          <p:nvPr/>
        </p:nvSpPr>
        <p:spPr>
          <a:xfrm>
            <a:off x="914400" y="4590288"/>
            <a:ext cx="6537960" cy="256032"/>
          </a:xfrm>
          <a:prstGeom prst="rect">
            <a:avLst/>
          </a:prstGeom>
          <a:noFill/>
        </p:spPr>
        <p:txBody>
          <a:bodyPr wrap="square" anchor="t">
            <a:spAutoFit/>
          </a:bodyPr>
          <a:lstStyle/>
          <a:p>
            <a:pPr algn="ctr"/>
            <a:r>
              <a:rPr sz="1200" b="1">
                <a:solidFill>
                  <a:srgbClr val="5C697A"/>
                </a:solidFill>
                <a:latin typeface="Aptos"/>
              </a:rPr>
              <a:t>DROP YOUR BEST EDA CHART HERE</a:t>
            </a:r>
          </a:p>
        </p:txBody>
      </p:sp>
      <p:sp>
        <p:nvSpPr>
          <p:cNvPr id="21" name="TextBox 20"/>
          <p:cNvSpPr txBox="1"/>
          <p:nvPr/>
        </p:nvSpPr>
        <p:spPr>
          <a:xfrm>
            <a:off x="640080" y="1694712"/>
            <a:ext cx="2771775" cy="461665"/>
          </a:xfrm>
          <a:prstGeom prst="rect">
            <a:avLst/>
          </a:prstGeom>
          <a:noFill/>
        </p:spPr>
        <p:txBody>
          <a:bodyPr wrap="square" anchor="t">
            <a:spAutoFit/>
          </a:bodyPr>
          <a:lstStyle/>
          <a:p>
            <a:pPr algn="l"/>
            <a:r>
              <a:rPr sz="2400" b="1" dirty="0">
                <a:solidFill>
                  <a:srgbClr val="275BAB"/>
                </a:solidFill>
                <a:latin typeface="Aptos"/>
              </a:rPr>
              <a:t>EDA question</a:t>
            </a:r>
          </a:p>
        </p:txBody>
      </p:sp>
      <p:sp>
        <p:nvSpPr>
          <p:cNvPr id="22" name="TextBox 21"/>
          <p:cNvSpPr txBox="1"/>
          <p:nvPr/>
        </p:nvSpPr>
        <p:spPr>
          <a:xfrm>
            <a:off x="2997517" y="1699762"/>
            <a:ext cx="4902313" cy="615553"/>
          </a:xfrm>
          <a:prstGeom prst="rect">
            <a:avLst/>
          </a:prstGeom>
          <a:noFill/>
        </p:spPr>
        <p:txBody>
          <a:bodyPr wrap="square" anchor="t">
            <a:spAutoFit/>
          </a:bodyPr>
          <a:lstStyle/>
          <a:p>
            <a:pPr algn="l"/>
            <a:r>
              <a:rPr sz="1700" b="1" dirty="0">
                <a:solidFill>
                  <a:srgbClr val="111D34"/>
                </a:solidFill>
                <a:latin typeface="Aptos"/>
              </a:rPr>
              <a:t>Which features are useful enough to carry forward into modeling?</a:t>
            </a:r>
          </a:p>
        </p:txBody>
      </p:sp>
      <p:sp>
        <p:nvSpPr>
          <p:cNvPr id="23" name="TextBox 22"/>
          <p:cNvSpPr txBox="1"/>
          <p:nvPr/>
        </p:nvSpPr>
        <p:spPr>
          <a:xfrm>
            <a:off x="640080" y="6510528"/>
            <a:ext cx="3200400" cy="182880"/>
          </a:xfrm>
          <a:prstGeom prst="rect">
            <a:avLst/>
          </a:prstGeom>
          <a:noFill/>
        </p:spPr>
        <p:txBody>
          <a:bodyPr wrap="square" anchor="t">
            <a:spAutoFit/>
          </a:bodyPr>
          <a:lstStyle/>
          <a:p>
            <a:pPr algn="l"/>
            <a:r>
              <a:rPr sz="800" b="0">
                <a:solidFill>
                  <a:srgbClr val="5C697A"/>
                </a:solidFill>
                <a:latin typeface="Aptos"/>
              </a:rPr>
              <a:t>Automobile Price Analysis</a:t>
            </a:r>
          </a:p>
        </p:txBody>
      </p:sp>
      <p:sp>
        <p:nvSpPr>
          <p:cNvPr id="24" name="TextBox 23"/>
          <p:cNvSpPr txBox="1"/>
          <p:nvPr/>
        </p:nvSpPr>
        <p:spPr>
          <a:xfrm>
            <a:off x="11109960" y="6473952"/>
            <a:ext cx="411480" cy="228600"/>
          </a:xfrm>
          <a:prstGeom prst="rect">
            <a:avLst/>
          </a:prstGeom>
          <a:noFill/>
        </p:spPr>
        <p:txBody>
          <a:bodyPr wrap="square" anchor="t">
            <a:spAutoFit/>
          </a:bodyPr>
          <a:lstStyle/>
          <a:p>
            <a:pPr algn="r"/>
            <a:r>
              <a:rPr sz="800" b="0">
                <a:solidFill>
                  <a:srgbClr val="5C697A"/>
                </a:solidFill>
                <a:latin typeface="Aptos"/>
              </a:rPr>
              <a:t>3</a:t>
            </a:r>
          </a:p>
        </p:txBody>
      </p:sp>
      <p:pic>
        <p:nvPicPr>
          <p:cNvPr id="26" name="Picture 25">
            <a:extLst>
              <a:ext uri="{FF2B5EF4-FFF2-40B4-BE49-F238E27FC236}">
                <a16:creationId xmlns:a16="http://schemas.microsoft.com/office/drawing/2014/main" id="{D7D402D4-924D-D77D-6501-8C1042DA2AB4}"/>
              </a:ext>
            </a:extLst>
          </p:cNvPr>
          <p:cNvPicPr>
            <a:picLocks noChangeAspect="1"/>
          </p:cNvPicPr>
          <p:nvPr/>
        </p:nvPicPr>
        <p:blipFill>
          <a:blip r:embed="rId3"/>
          <a:stretch>
            <a:fillRect/>
          </a:stretch>
        </p:blipFill>
        <p:spPr>
          <a:xfrm>
            <a:off x="419678" y="2522276"/>
            <a:ext cx="7673707" cy="413602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587D0-D85E-0F4D-E076-D67F9E527B5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13C5847-E9E6-9AC4-8B60-2A5B9A7B1F48}"/>
              </a:ext>
            </a:extLst>
          </p:cNvPr>
          <p:cNvSpPr/>
          <p:nvPr/>
        </p:nvSpPr>
        <p:spPr>
          <a:xfrm>
            <a:off x="305" y="321826"/>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612EB6BC-6DC6-7BFF-629D-A9EB7BD91C7C}"/>
              </a:ext>
            </a:extLst>
          </p:cNvPr>
          <p:cNvSpPr txBox="1"/>
          <p:nvPr/>
        </p:nvSpPr>
        <p:spPr>
          <a:xfrm>
            <a:off x="640080" y="85487"/>
            <a:ext cx="8812264" cy="707886"/>
          </a:xfrm>
          <a:prstGeom prst="rect">
            <a:avLst/>
          </a:prstGeom>
          <a:noFill/>
        </p:spPr>
        <p:txBody>
          <a:bodyPr wrap="square" anchor="t">
            <a:spAutoFit/>
          </a:bodyPr>
          <a:lstStyle/>
          <a:p>
            <a:pPr algn="l"/>
            <a:r>
              <a:rPr lang="en-US" sz="4000" b="1" dirty="0">
                <a:solidFill>
                  <a:srgbClr val="275BAB"/>
                </a:solidFill>
                <a:latin typeface="Aptos"/>
              </a:rPr>
              <a:t>PRICE DISTRIBUTION</a:t>
            </a:r>
            <a:endParaRPr sz="4000" b="1" dirty="0">
              <a:solidFill>
                <a:srgbClr val="275BAB"/>
              </a:solidFill>
              <a:latin typeface="Aptos"/>
            </a:endParaRPr>
          </a:p>
        </p:txBody>
      </p:sp>
      <p:sp>
        <p:nvSpPr>
          <p:cNvPr id="4" name="TextBox 3">
            <a:extLst>
              <a:ext uri="{FF2B5EF4-FFF2-40B4-BE49-F238E27FC236}">
                <a16:creationId xmlns:a16="http://schemas.microsoft.com/office/drawing/2014/main" id="{B36B1B68-2E05-47D5-AC23-E988573D5620}"/>
              </a:ext>
            </a:extLst>
          </p:cNvPr>
          <p:cNvSpPr txBox="1"/>
          <p:nvPr/>
        </p:nvSpPr>
        <p:spPr>
          <a:xfrm>
            <a:off x="640080" y="658368"/>
            <a:ext cx="10972800" cy="566928"/>
          </a:xfrm>
          <a:prstGeom prst="rect">
            <a:avLst/>
          </a:prstGeom>
          <a:noFill/>
        </p:spPr>
        <p:txBody>
          <a:bodyPr wrap="square" anchor="t">
            <a:spAutoFit/>
          </a:bodyPr>
          <a:lstStyle/>
          <a:p>
            <a:pPr algn="l"/>
            <a:r>
              <a:rPr sz="2800" b="1" dirty="0">
                <a:solidFill>
                  <a:srgbClr val="111D34"/>
                </a:solidFill>
                <a:latin typeface="Aptos"/>
              </a:rPr>
              <a:t>From raw data to decision-ready insights</a:t>
            </a:r>
          </a:p>
        </p:txBody>
      </p:sp>
      <p:sp>
        <p:nvSpPr>
          <p:cNvPr id="5" name="Rectangle 4">
            <a:extLst>
              <a:ext uri="{FF2B5EF4-FFF2-40B4-BE49-F238E27FC236}">
                <a16:creationId xmlns:a16="http://schemas.microsoft.com/office/drawing/2014/main" id="{2C07FF14-F2EC-FC60-771E-C199F83CB995}"/>
              </a:ext>
            </a:extLst>
          </p:cNvPr>
          <p:cNvSpPr/>
          <p:nvPr/>
        </p:nvSpPr>
        <p:spPr>
          <a:xfrm>
            <a:off x="640080" y="1298448"/>
            <a:ext cx="914400" cy="45720"/>
          </a:xfrm>
          <a:prstGeom prst="rect">
            <a:avLst/>
          </a:prstGeom>
          <a:solidFill>
            <a:srgbClr val="2C9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Picture 40">
            <a:extLst>
              <a:ext uri="{FF2B5EF4-FFF2-40B4-BE49-F238E27FC236}">
                <a16:creationId xmlns:a16="http://schemas.microsoft.com/office/drawing/2014/main" id="{D8A10A23-7E60-94C9-6C26-F4D894E2493D}"/>
              </a:ext>
            </a:extLst>
          </p:cNvPr>
          <p:cNvPicPr>
            <a:picLocks noChangeAspect="1"/>
          </p:cNvPicPr>
          <p:nvPr/>
        </p:nvPicPr>
        <p:blipFill>
          <a:blip r:embed="rId3"/>
          <a:stretch>
            <a:fillRect/>
          </a:stretch>
        </p:blipFill>
        <p:spPr>
          <a:xfrm>
            <a:off x="194439" y="1755994"/>
            <a:ext cx="11803122" cy="4191585"/>
          </a:xfrm>
          <a:prstGeom prst="rect">
            <a:avLst/>
          </a:prstGeom>
        </p:spPr>
      </p:pic>
      <p:pic>
        <p:nvPicPr>
          <p:cNvPr id="45" name="Picture 44">
            <a:extLst>
              <a:ext uri="{FF2B5EF4-FFF2-40B4-BE49-F238E27FC236}">
                <a16:creationId xmlns:a16="http://schemas.microsoft.com/office/drawing/2014/main" id="{E9B75000-92FE-2538-FB18-E263CA765038}"/>
              </a:ext>
            </a:extLst>
          </p:cNvPr>
          <p:cNvPicPr>
            <a:picLocks noChangeAspect="1"/>
          </p:cNvPicPr>
          <p:nvPr/>
        </p:nvPicPr>
        <p:blipFill>
          <a:blip r:embed="rId4"/>
          <a:stretch>
            <a:fillRect/>
          </a:stretch>
        </p:blipFill>
        <p:spPr>
          <a:xfrm>
            <a:off x="7423355" y="119091"/>
            <a:ext cx="4574206" cy="1371554"/>
          </a:xfrm>
          <a:prstGeom prst="rect">
            <a:avLst/>
          </a:prstGeom>
        </p:spPr>
      </p:pic>
    </p:spTree>
    <p:extLst>
      <p:ext uri="{BB962C8B-B14F-4D97-AF65-F5344CB8AC3E}">
        <p14:creationId xmlns:p14="http://schemas.microsoft.com/office/powerpoint/2010/main" val="3504258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B8C8D-847D-0E07-66D9-532E74E42DF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CE16FBF-F0B1-72E1-22D7-8D55DB7EDD71}"/>
              </a:ext>
            </a:extLst>
          </p:cNvPr>
          <p:cNvSpPr/>
          <p:nvPr/>
        </p:nvSpPr>
        <p:spPr>
          <a:xfrm>
            <a:off x="305" y="321826"/>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F746103A-67BE-3BCC-F6E7-B31D244A7A0E}"/>
              </a:ext>
            </a:extLst>
          </p:cNvPr>
          <p:cNvSpPr txBox="1"/>
          <p:nvPr/>
        </p:nvSpPr>
        <p:spPr>
          <a:xfrm>
            <a:off x="640080" y="85487"/>
            <a:ext cx="8812264" cy="707886"/>
          </a:xfrm>
          <a:prstGeom prst="rect">
            <a:avLst/>
          </a:prstGeom>
          <a:noFill/>
        </p:spPr>
        <p:txBody>
          <a:bodyPr wrap="square" anchor="t">
            <a:spAutoFit/>
          </a:bodyPr>
          <a:lstStyle/>
          <a:p>
            <a:pPr algn="l"/>
            <a:r>
              <a:rPr lang="en-US" sz="4000" b="1" dirty="0">
                <a:solidFill>
                  <a:srgbClr val="275BAB"/>
                </a:solidFill>
                <a:latin typeface="Aptos"/>
              </a:rPr>
              <a:t>Correlation With Price</a:t>
            </a:r>
            <a:endParaRPr sz="4000" b="1" dirty="0">
              <a:solidFill>
                <a:srgbClr val="275BAB"/>
              </a:solidFill>
              <a:latin typeface="Aptos"/>
            </a:endParaRPr>
          </a:p>
        </p:txBody>
      </p:sp>
      <p:sp>
        <p:nvSpPr>
          <p:cNvPr id="4" name="TextBox 3">
            <a:extLst>
              <a:ext uri="{FF2B5EF4-FFF2-40B4-BE49-F238E27FC236}">
                <a16:creationId xmlns:a16="http://schemas.microsoft.com/office/drawing/2014/main" id="{C0F216BE-BD75-0121-BACA-992392578C85}"/>
              </a:ext>
            </a:extLst>
          </p:cNvPr>
          <p:cNvSpPr txBox="1"/>
          <p:nvPr/>
        </p:nvSpPr>
        <p:spPr>
          <a:xfrm>
            <a:off x="640080" y="658368"/>
            <a:ext cx="10972800" cy="566928"/>
          </a:xfrm>
          <a:prstGeom prst="rect">
            <a:avLst/>
          </a:prstGeom>
          <a:noFill/>
        </p:spPr>
        <p:txBody>
          <a:bodyPr wrap="square" anchor="t">
            <a:spAutoFit/>
          </a:bodyPr>
          <a:lstStyle/>
          <a:p>
            <a:pPr algn="l"/>
            <a:r>
              <a:rPr sz="2800" b="1" dirty="0">
                <a:solidFill>
                  <a:srgbClr val="111D34"/>
                </a:solidFill>
                <a:latin typeface="Aptos"/>
              </a:rPr>
              <a:t>From raw data to decision-ready insights</a:t>
            </a:r>
          </a:p>
        </p:txBody>
      </p:sp>
      <p:sp>
        <p:nvSpPr>
          <p:cNvPr id="5" name="Rectangle 4">
            <a:extLst>
              <a:ext uri="{FF2B5EF4-FFF2-40B4-BE49-F238E27FC236}">
                <a16:creationId xmlns:a16="http://schemas.microsoft.com/office/drawing/2014/main" id="{FCFB8C07-136B-11A0-2296-A2E2D28171AE}"/>
              </a:ext>
            </a:extLst>
          </p:cNvPr>
          <p:cNvSpPr/>
          <p:nvPr/>
        </p:nvSpPr>
        <p:spPr>
          <a:xfrm>
            <a:off x="640080" y="1298448"/>
            <a:ext cx="914400" cy="45720"/>
          </a:xfrm>
          <a:prstGeom prst="rect">
            <a:avLst/>
          </a:prstGeom>
          <a:solidFill>
            <a:srgbClr val="2C9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a:extLst>
              <a:ext uri="{FF2B5EF4-FFF2-40B4-BE49-F238E27FC236}">
                <a16:creationId xmlns:a16="http://schemas.microsoft.com/office/drawing/2014/main" id="{EEA706A5-770D-DB01-4D5D-9C0685109D3A}"/>
              </a:ext>
            </a:extLst>
          </p:cNvPr>
          <p:cNvPicPr>
            <a:picLocks noChangeAspect="1"/>
          </p:cNvPicPr>
          <p:nvPr/>
        </p:nvPicPr>
        <p:blipFill>
          <a:blip r:embed="rId3"/>
          <a:stretch>
            <a:fillRect/>
          </a:stretch>
        </p:blipFill>
        <p:spPr>
          <a:xfrm>
            <a:off x="363421" y="1600734"/>
            <a:ext cx="8397122" cy="5257266"/>
          </a:xfrm>
          <a:prstGeom prst="rect">
            <a:avLst/>
          </a:prstGeom>
        </p:spPr>
      </p:pic>
      <p:pic>
        <p:nvPicPr>
          <p:cNvPr id="9" name="Picture 8">
            <a:extLst>
              <a:ext uri="{FF2B5EF4-FFF2-40B4-BE49-F238E27FC236}">
                <a16:creationId xmlns:a16="http://schemas.microsoft.com/office/drawing/2014/main" id="{6DA175F9-D010-21D8-605F-E138773A51A7}"/>
              </a:ext>
            </a:extLst>
          </p:cNvPr>
          <p:cNvPicPr>
            <a:picLocks noChangeAspect="1"/>
          </p:cNvPicPr>
          <p:nvPr/>
        </p:nvPicPr>
        <p:blipFill>
          <a:blip r:embed="rId4"/>
          <a:stretch>
            <a:fillRect/>
          </a:stretch>
        </p:blipFill>
        <p:spPr>
          <a:xfrm>
            <a:off x="8877589" y="1730476"/>
            <a:ext cx="3230271" cy="4961291"/>
          </a:xfrm>
          <a:prstGeom prst="rect">
            <a:avLst/>
          </a:prstGeom>
        </p:spPr>
      </p:pic>
    </p:spTree>
    <p:extLst>
      <p:ext uri="{BB962C8B-B14F-4D97-AF65-F5344CB8AC3E}">
        <p14:creationId xmlns:p14="http://schemas.microsoft.com/office/powerpoint/2010/main" val="1224039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8FC4E-7FA9-C872-A11C-059116A6E43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340D56D-C523-ACB4-E726-90138832886C}"/>
              </a:ext>
            </a:extLst>
          </p:cNvPr>
          <p:cNvSpPr/>
          <p:nvPr/>
        </p:nvSpPr>
        <p:spPr>
          <a:xfrm>
            <a:off x="305" y="321826"/>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F4FE823-4C35-A221-0961-F51FC3ED38DC}"/>
              </a:ext>
            </a:extLst>
          </p:cNvPr>
          <p:cNvSpPr txBox="1"/>
          <p:nvPr/>
        </p:nvSpPr>
        <p:spPr>
          <a:xfrm>
            <a:off x="640080" y="85487"/>
            <a:ext cx="8812264" cy="707886"/>
          </a:xfrm>
          <a:prstGeom prst="rect">
            <a:avLst/>
          </a:prstGeom>
          <a:noFill/>
        </p:spPr>
        <p:txBody>
          <a:bodyPr wrap="square" anchor="t">
            <a:spAutoFit/>
          </a:bodyPr>
          <a:lstStyle/>
          <a:p>
            <a:pPr algn="l"/>
            <a:r>
              <a:rPr lang="en-US" sz="4000" b="1" dirty="0">
                <a:solidFill>
                  <a:srgbClr val="275BAB"/>
                </a:solidFill>
                <a:latin typeface="Aptos"/>
              </a:rPr>
              <a:t>EDA Summary</a:t>
            </a:r>
            <a:endParaRPr sz="4000" b="1" dirty="0">
              <a:solidFill>
                <a:srgbClr val="275BAB"/>
              </a:solidFill>
              <a:latin typeface="Aptos"/>
            </a:endParaRPr>
          </a:p>
        </p:txBody>
      </p:sp>
      <p:sp>
        <p:nvSpPr>
          <p:cNvPr id="4" name="TextBox 3">
            <a:extLst>
              <a:ext uri="{FF2B5EF4-FFF2-40B4-BE49-F238E27FC236}">
                <a16:creationId xmlns:a16="http://schemas.microsoft.com/office/drawing/2014/main" id="{BED8BBDC-A48B-DCF5-3F62-505B81E348B7}"/>
              </a:ext>
            </a:extLst>
          </p:cNvPr>
          <p:cNvSpPr txBox="1"/>
          <p:nvPr/>
        </p:nvSpPr>
        <p:spPr>
          <a:xfrm>
            <a:off x="640080" y="658368"/>
            <a:ext cx="10972800" cy="566928"/>
          </a:xfrm>
          <a:prstGeom prst="rect">
            <a:avLst/>
          </a:prstGeom>
          <a:noFill/>
        </p:spPr>
        <p:txBody>
          <a:bodyPr wrap="square" anchor="t">
            <a:spAutoFit/>
          </a:bodyPr>
          <a:lstStyle/>
          <a:p>
            <a:pPr algn="l"/>
            <a:r>
              <a:rPr sz="2800" b="1" dirty="0">
                <a:solidFill>
                  <a:srgbClr val="111D34"/>
                </a:solidFill>
                <a:latin typeface="Aptos"/>
              </a:rPr>
              <a:t>From raw data to decision-ready insights</a:t>
            </a:r>
          </a:p>
        </p:txBody>
      </p:sp>
      <p:sp>
        <p:nvSpPr>
          <p:cNvPr id="5" name="Rectangle 4">
            <a:extLst>
              <a:ext uri="{FF2B5EF4-FFF2-40B4-BE49-F238E27FC236}">
                <a16:creationId xmlns:a16="http://schemas.microsoft.com/office/drawing/2014/main" id="{4DDACFBF-64BE-9AEF-357D-4139C1B75F4F}"/>
              </a:ext>
            </a:extLst>
          </p:cNvPr>
          <p:cNvSpPr/>
          <p:nvPr/>
        </p:nvSpPr>
        <p:spPr>
          <a:xfrm>
            <a:off x="640080" y="1298448"/>
            <a:ext cx="914400" cy="45720"/>
          </a:xfrm>
          <a:prstGeom prst="rect">
            <a:avLst/>
          </a:prstGeom>
          <a:solidFill>
            <a:srgbClr val="2C9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a:extLst>
              <a:ext uri="{FF2B5EF4-FFF2-40B4-BE49-F238E27FC236}">
                <a16:creationId xmlns:a16="http://schemas.microsoft.com/office/drawing/2014/main" id="{FFC57804-BECB-F925-5A07-DFD44E59D4FB}"/>
              </a:ext>
            </a:extLst>
          </p:cNvPr>
          <p:cNvPicPr>
            <a:picLocks noChangeAspect="1"/>
          </p:cNvPicPr>
          <p:nvPr/>
        </p:nvPicPr>
        <p:blipFill>
          <a:blip r:embed="rId3"/>
          <a:stretch>
            <a:fillRect/>
          </a:stretch>
        </p:blipFill>
        <p:spPr>
          <a:xfrm>
            <a:off x="610735" y="1585943"/>
            <a:ext cx="11031489" cy="2381582"/>
          </a:xfrm>
          <a:prstGeom prst="rect">
            <a:avLst/>
          </a:prstGeom>
        </p:spPr>
      </p:pic>
      <p:sp>
        <p:nvSpPr>
          <p:cNvPr id="11" name="TextBox 10">
            <a:extLst>
              <a:ext uri="{FF2B5EF4-FFF2-40B4-BE49-F238E27FC236}">
                <a16:creationId xmlns:a16="http://schemas.microsoft.com/office/drawing/2014/main" id="{BDCA2DCD-1322-84F7-0525-E2BF9D1F1F31}"/>
              </a:ext>
            </a:extLst>
          </p:cNvPr>
          <p:cNvSpPr txBox="1"/>
          <p:nvPr/>
        </p:nvSpPr>
        <p:spPr>
          <a:xfrm>
            <a:off x="448917" y="4203864"/>
            <a:ext cx="11355123" cy="2633157"/>
          </a:xfrm>
          <a:prstGeom prst="rect">
            <a:avLst/>
          </a:prstGeom>
          <a:noFill/>
        </p:spPr>
        <p:txBody>
          <a:bodyPr wrap="square">
            <a:spAutoFit/>
          </a:bodyPr>
          <a:lstStyle/>
          <a:p>
            <a:pPr>
              <a:lnSpc>
                <a:spcPts val="1800"/>
              </a:lnSpc>
              <a:buNone/>
            </a:pPr>
            <a:r>
              <a:rPr lang="en-US" dirty="0">
                <a:effectLst/>
                <a:latin typeface="Consolas" panose="020B0609020204030204" pitchFamily="49" charset="0"/>
              </a:rPr>
              <a:t>The exploratory analysis shows that automobile price is mainly associated with vehicle size, engine performance, and weight. Engine size, horsepower, and curb weight showed some of the strongest relationships with price, suggesting that larger and more powerful vehicles generally tend to have higher prices.</a:t>
            </a:r>
          </a:p>
          <a:p>
            <a:pPr>
              <a:lnSpc>
                <a:spcPts val="1800"/>
              </a:lnSpc>
              <a:buNone/>
            </a:pPr>
            <a:br>
              <a:rPr lang="en-US" dirty="0">
                <a:effectLst/>
                <a:latin typeface="Consolas" panose="020B0609020204030204" pitchFamily="49" charset="0"/>
              </a:rPr>
            </a:br>
            <a:endParaRPr lang="en-US" dirty="0">
              <a:effectLst/>
              <a:latin typeface="Consolas" panose="020B0609020204030204" pitchFamily="49" charset="0"/>
            </a:endParaRPr>
          </a:p>
          <a:p>
            <a:pPr>
              <a:lnSpc>
                <a:spcPts val="1800"/>
              </a:lnSpc>
              <a:buNone/>
            </a:pPr>
            <a:r>
              <a:rPr lang="en-US" dirty="0">
                <a:effectLst/>
                <a:latin typeface="Consolas" panose="020B0609020204030204" pitchFamily="49" charset="0"/>
              </a:rPr>
              <a:t>The price distribution is right-skewed, meaning that most vehicles fall in a lower-to-middle price range while a smaller number of high-priced vehicles extend the distribution upward. Price also varies across manufacturers and other vehicle characteristics, suggesting that both technical specifications and market positioning may be useful for price prediction.</a:t>
            </a:r>
          </a:p>
        </p:txBody>
      </p:sp>
    </p:spTree>
    <p:extLst>
      <p:ext uri="{BB962C8B-B14F-4D97-AF65-F5344CB8AC3E}">
        <p14:creationId xmlns:p14="http://schemas.microsoft.com/office/powerpoint/2010/main" val="1756776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9120" y="80397"/>
            <a:ext cx="8014822" cy="707886"/>
          </a:xfrm>
          <a:prstGeom prst="rect">
            <a:avLst/>
          </a:prstGeom>
          <a:noFill/>
        </p:spPr>
        <p:txBody>
          <a:bodyPr wrap="square" anchor="t">
            <a:spAutoFit/>
          </a:bodyPr>
          <a:lstStyle/>
          <a:p>
            <a:pPr algn="l"/>
            <a:r>
              <a:rPr sz="4000" b="1" dirty="0">
                <a:solidFill>
                  <a:srgbClr val="275BAB"/>
                </a:solidFill>
                <a:latin typeface="Aptos"/>
              </a:rPr>
              <a:t>K-MEANS CLUSTERING</a:t>
            </a:r>
          </a:p>
        </p:txBody>
      </p:sp>
      <p:sp>
        <p:nvSpPr>
          <p:cNvPr id="4" name="TextBox 3"/>
          <p:cNvSpPr txBox="1"/>
          <p:nvPr/>
        </p:nvSpPr>
        <p:spPr>
          <a:xfrm>
            <a:off x="640080" y="658368"/>
            <a:ext cx="10972800" cy="566928"/>
          </a:xfrm>
          <a:prstGeom prst="rect">
            <a:avLst/>
          </a:prstGeom>
          <a:noFill/>
        </p:spPr>
        <p:txBody>
          <a:bodyPr wrap="square" anchor="t">
            <a:spAutoFit/>
          </a:bodyPr>
          <a:lstStyle/>
          <a:p>
            <a:pPr algn="l"/>
            <a:r>
              <a:rPr sz="2800" b="1">
                <a:solidFill>
                  <a:srgbClr val="111D34"/>
                </a:solidFill>
                <a:latin typeface="Aptos"/>
              </a:rPr>
              <a:t>Not every car competes in the same market</a:t>
            </a:r>
          </a:p>
        </p:txBody>
      </p:sp>
      <p:sp>
        <p:nvSpPr>
          <p:cNvPr id="5" name="Rectangle 4"/>
          <p:cNvSpPr/>
          <p:nvPr/>
        </p:nvSpPr>
        <p:spPr>
          <a:xfrm>
            <a:off x="640080" y="1298448"/>
            <a:ext cx="914400" cy="45720"/>
          </a:xfrm>
          <a:prstGeom prst="rect">
            <a:avLst/>
          </a:prstGeom>
          <a:solidFill>
            <a:srgbClr val="2C9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394460" y="2628900"/>
            <a:ext cx="1234440" cy="1234440"/>
          </a:xfrm>
          <a:prstGeom prst="ellipse">
            <a:avLst/>
          </a:prstGeom>
          <a:solidFill>
            <a:srgbClr val="E5F6F5"/>
          </a:solidFill>
          <a:ln w="25400">
            <a:solidFill>
              <a:srgbClr val="2C99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81328" y="2999232"/>
            <a:ext cx="1060704" cy="228600"/>
          </a:xfrm>
          <a:prstGeom prst="rect">
            <a:avLst/>
          </a:prstGeom>
          <a:noFill/>
        </p:spPr>
        <p:txBody>
          <a:bodyPr wrap="square" anchor="t">
            <a:spAutoFit/>
          </a:bodyPr>
          <a:lstStyle/>
          <a:p>
            <a:pPr algn="ctr"/>
            <a:r>
              <a:rPr sz="1100" b="1">
                <a:solidFill>
                  <a:srgbClr val="2C999D"/>
                </a:solidFill>
                <a:latin typeface="Aptos"/>
              </a:rPr>
              <a:t>Cluster 1</a:t>
            </a:r>
          </a:p>
        </p:txBody>
      </p:sp>
      <p:sp>
        <p:nvSpPr>
          <p:cNvPr id="8" name="TextBox 7"/>
          <p:cNvSpPr txBox="1"/>
          <p:nvPr/>
        </p:nvSpPr>
        <p:spPr>
          <a:xfrm>
            <a:off x="1234440" y="3931920"/>
            <a:ext cx="1554480" cy="594360"/>
          </a:xfrm>
          <a:prstGeom prst="rect">
            <a:avLst/>
          </a:prstGeom>
          <a:noFill/>
        </p:spPr>
        <p:txBody>
          <a:bodyPr wrap="square" anchor="t">
            <a:spAutoFit/>
          </a:bodyPr>
          <a:lstStyle/>
          <a:p>
            <a:pPr algn="ctr"/>
            <a:r>
              <a:rPr sz="1000" b="0">
                <a:solidFill>
                  <a:srgbClr val="5C697A"/>
                </a:solidFill>
                <a:latin typeface="Aptos"/>
              </a:rPr>
              <a:t>Economy / value
profile</a:t>
            </a:r>
          </a:p>
        </p:txBody>
      </p:sp>
      <p:sp>
        <p:nvSpPr>
          <p:cNvPr id="9" name="Oval 8"/>
          <p:cNvSpPr/>
          <p:nvPr/>
        </p:nvSpPr>
        <p:spPr>
          <a:xfrm>
            <a:off x="4777740" y="1623060"/>
            <a:ext cx="1417320" cy="1417320"/>
          </a:xfrm>
          <a:prstGeom prst="ellipse">
            <a:avLst/>
          </a:prstGeom>
          <a:solidFill>
            <a:srgbClr val="E8F0FC"/>
          </a:solidFill>
          <a:ln w="25400">
            <a:solidFill>
              <a:srgbClr val="275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56048" y="2084831"/>
            <a:ext cx="1060704" cy="228600"/>
          </a:xfrm>
          <a:prstGeom prst="rect">
            <a:avLst/>
          </a:prstGeom>
          <a:noFill/>
        </p:spPr>
        <p:txBody>
          <a:bodyPr wrap="square" anchor="t">
            <a:spAutoFit/>
          </a:bodyPr>
          <a:lstStyle/>
          <a:p>
            <a:pPr algn="ctr"/>
            <a:r>
              <a:rPr sz="1100" b="1">
                <a:solidFill>
                  <a:srgbClr val="275BAB"/>
                </a:solidFill>
                <a:latin typeface="Aptos"/>
              </a:rPr>
              <a:t>Cluster 2</a:t>
            </a:r>
          </a:p>
        </p:txBody>
      </p:sp>
      <p:sp>
        <p:nvSpPr>
          <p:cNvPr id="11" name="TextBox 10"/>
          <p:cNvSpPr txBox="1"/>
          <p:nvPr/>
        </p:nvSpPr>
        <p:spPr>
          <a:xfrm>
            <a:off x="4709160" y="3017520"/>
            <a:ext cx="1554480" cy="594360"/>
          </a:xfrm>
          <a:prstGeom prst="rect">
            <a:avLst/>
          </a:prstGeom>
          <a:noFill/>
        </p:spPr>
        <p:txBody>
          <a:bodyPr wrap="square" anchor="t">
            <a:spAutoFit/>
          </a:bodyPr>
          <a:lstStyle/>
          <a:p>
            <a:pPr algn="ctr"/>
            <a:r>
              <a:rPr sz="1000" b="0">
                <a:solidFill>
                  <a:srgbClr val="5C697A"/>
                </a:solidFill>
                <a:latin typeface="Aptos"/>
              </a:rPr>
              <a:t>Mid-market
profile</a:t>
            </a:r>
          </a:p>
        </p:txBody>
      </p:sp>
      <p:sp>
        <p:nvSpPr>
          <p:cNvPr id="12" name="Oval 11"/>
          <p:cNvSpPr/>
          <p:nvPr/>
        </p:nvSpPr>
        <p:spPr>
          <a:xfrm>
            <a:off x="8389620" y="2766060"/>
            <a:ext cx="1325880" cy="1325880"/>
          </a:xfrm>
          <a:prstGeom prst="ellipse">
            <a:avLst/>
          </a:prstGeom>
          <a:solidFill>
            <a:srgbClr val="FCF4E1"/>
          </a:solidFill>
          <a:ln w="25400">
            <a:solidFill>
              <a:srgbClr val="E2A8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22208" y="3182112"/>
            <a:ext cx="1060704" cy="228600"/>
          </a:xfrm>
          <a:prstGeom prst="rect">
            <a:avLst/>
          </a:prstGeom>
          <a:noFill/>
        </p:spPr>
        <p:txBody>
          <a:bodyPr wrap="square" anchor="t">
            <a:spAutoFit/>
          </a:bodyPr>
          <a:lstStyle/>
          <a:p>
            <a:pPr algn="ctr"/>
            <a:r>
              <a:rPr sz="1100" b="1">
                <a:solidFill>
                  <a:srgbClr val="E2A849"/>
                </a:solidFill>
                <a:latin typeface="Aptos"/>
              </a:rPr>
              <a:t>Cluster 3</a:t>
            </a:r>
          </a:p>
        </p:txBody>
      </p:sp>
      <p:sp>
        <p:nvSpPr>
          <p:cNvPr id="14" name="TextBox 13"/>
          <p:cNvSpPr txBox="1"/>
          <p:nvPr/>
        </p:nvSpPr>
        <p:spPr>
          <a:xfrm>
            <a:off x="8275320" y="4114800"/>
            <a:ext cx="1554480" cy="594360"/>
          </a:xfrm>
          <a:prstGeom prst="rect">
            <a:avLst/>
          </a:prstGeom>
          <a:noFill/>
        </p:spPr>
        <p:txBody>
          <a:bodyPr wrap="square" anchor="t">
            <a:spAutoFit/>
          </a:bodyPr>
          <a:lstStyle/>
          <a:p>
            <a:pPr algn="ctr"/>
            <a:r>
              <a:rPr sz="1000" b="0">
                <a:solidFill>
                  <a:srgbClr val="5C697A"/>
                </a:solidFill>
                <a:latin typeface="Aptos"/>
              </a:rPr>
              <a:t>Premium /
performance profile</a:t>
            </a:r>
          </a:p>
        </p:txBody>
      </p:sp>
      <p:sp>
        <p:nvSpPr>
          <p:cNvPr id="15" name="Oval 14"/>
          <p:cNvSpPr/>
          <p:nvPr/>
        </p:nvSpPr>
        <p:spPr>
          <a:xfrm>
            <a:off x="3108960" y="2743200"/>
            <a:ext cx="91440" cy="91440"/>
          </a:xfrm>
          <a:prstGeom prst="ellipse">
            <a:avLst/>
          </a:prstGeom>
          <a:solidFill>
            <a:srgbClr val="AAB6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657600" y="2514600"/>
            <a:ext cx="91440" cy="91440"/>
          </a:xfrm>
          <a:prstGeom prst="ellipse">
            <a:avLst/>
          </a:prstGeom>
          <a:solidFill>
            <a:srgbClr val="AAB6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206240" y="2377440"/>
            <a:ext cx="91440" cy="91440"/>
          </a:xfrm>
          <a:prstGeom prst="ellipse">
            <a:avLst/>
          </a:prstGeom>
          <a:solidFill>
            <a:srgbClr val="AAB6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858000" y="2651760"/>
            <a:ext cx="91440" cy="91440"/>
          </a:xfrm>
          <a:prstGeom prst="ellipse">
            <a:avLst/>
          </a:prstGeom>
          <a:solidFill>
            <a:srgbClr val="AAB6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452360" y="2926080"/>
            <a:ext cx="91440" cy="91440"/>
          </a:xfrm>
          <a:prstGeom prst="ellipse">
            <a:avLst/>
          </a:prstGeom>
          <a:solidFill>
            <a:srgbClr val="AAB6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955279" y="3154680"/>
            <a:ext cx="91440" cy="91440"/>
          </a:xfrm>
          <a:prstGeom prst="ellipse">
            <a:avLst/>
          </a:prstGeom>
          <a:solidFill>
            <a:srgbClr val="AAB6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5074920"/>
            <a:ext cx="1417320" cy="274320"/>
          </a:xfrm>
          <a:prstGeom prst="rect">
            <a:avLst/>
          </a:prstGeom>
          <a:noFill/>
        </p:spPr>
        <p:txBody>
          <a:bodyPr wrap="square" anchor="t">
            <a:spAutoFit/>
          </a:bodyPr>
          <a:lstStyle/>
          <a:p>
            <a:pPr algn="l"/>
            <a:r>
              <a:rPr sz="1100" b="1">
                <a:solidFill>
                  <a:srgbClr val="275BAB"/>
                </a:solidFill>
                <a:latin typeface="Aptos"/>
              </a:rPr>
              <a:t>Why clustering?</a:t>
            </a:r>
          </a:p>
        </p:txBody>
      </p:sp>
      <p:sp>
        <p:nvSpPr>
          <p:cNvPr id="22" name="TextBox 21"/>
          <p:cNvSpPr txBox="1"/>
          <p:nvPr/>
        </p:nvSpPr>
        <p:spPr>
          <a:xfrm>
            <a:off x="2194560" y="5020056"/>
            <a:ext cx="8595360" cy="384048"/>
          </a:xfrm>
          <a:prstGeom prst="rect">
            <a:avLst/>
          </a:prstGeom>
          <a:noFill/>
        </p:spPr>
        <p:txBody>
          <a:bodyPr wrap="square" anchor="t">
            <a:spAutoFit/>
          </a:bodyPr>
          <a:lstStyle/>
          <a:p>
            <a:pPr algn="l"/>
            <a:r>
              <a:rPr sz="1500" b="1">
                <a:solidFill>
                  <a:srgbClr val="111D34"/>
                </a:solidFill>
                <a:latin typeface="Aptos"/>
              </a:rPr>
              <a:t>It lets the data reveal groups of similar vehicles without assigning categories in advance.</a:t>
            </a:r>
          </a:p>
        </p:txBody>
      </p:sp>
      <p:sp>
        <p:nvSpPr>
          <p:cNvPr id="23" name="TextBox 22"/>
          <p:cNvSpPr txBox="1"/>
          <p:nvPr/>
        </p:nvSpPr>
        <p:spPr>
          <a:xfrm>
            <a:off x="2194560" y="5504688"/>
            <a:ext cx="8412480" cy="274320"/>
          </a:xfrm>
          <a:prstGeom prst="rect">
            <a:avLst/>
          </a:prstGeom>
          <a:noFill/>
        </p:spPr>
        <p:txBody>
          <a:bodyPr wrap="square" anchor="t">
            <a:spAutoFit/>
          </a:bodyPr>
          <a:lstStyle/>
          <a:p>
            <a:pPr algn="l"/>
            <a:r>
              <a:rPr sz="900" b="0">
                <a:solidFill>
                  <a:srgbClr val="5C697A"/>
                </a:solidFill>
                <a:latin typeface="Aptos"/>
              </a:rPr>
              <a:t>Replace the example cluster labels above with the exact profiles from your final notebook.</a:t>
            </a:r>
          </a:p>
        </p:txBody>
      </p:sp>
      <p:sp>
        <p:nvSpPr>
          <p:cNvPr id="24" name="TextBox 23"/>
          <p:cNvSpPr txBox="1"/>
          <p:nvPr/>
        </p:nvSpPr>
        <p:spPr>
          <a:xfrm>
            <a:off x="640080" y="6510528"/>
            <a:ext cx="3200400" cy="182880"/>
          </a:xfrm>
          <a:prstGeom prst="rect">
            <a:avLst/>
          </a:prstGeom>
          <a:noFill/>
        </p:spPr>
        <p:txBody>
          <a:bodyPr wrap="square" anchor="t">
            <a:spAutoFit/>
          </a:bodyPr>
          <a:lstStyle/>
          <a:p>
            <a:pPr algn="l"/>
            <a:r>
              <a:rPr sz="800" b="0">
                <a:solidFill>
                  <a:srgbClr val="5C697A"/>
                </a:solidFill>
                <a:latin typeface="Aptos"/>
              </a:rPr>
              <a:t>Automobile Price Analysis</a:t>
            </a:r>
          </a:p>
        </p:txBody>
      </p:sp>
      <p:sp>
        <p:nvSpPr>
          <p:cNvPr id="25" name="TextBox 24"/>
          <p:cNvSpPr txBox="1"/>
          <p:nvPr/>
        </p:nvSpPr>
        <p:spPr>
          <a:xfrm>
            <a:off x="11109960" y="6473952"/>
            <a:ext cx="411480" cy="228600"/>
          </a:xfrm>
          <a:prstGeom prst="rect">
            <a:avLst/>
          </a:prstGeom>
          <a:noFill/>
        </p:spPr>
        <p:txBody>
          <a:bodyPr wrap="square" anchor="t">
            <a:spAutoFit/>
          </a:bodyPr>
          <a:lstStyle/>
          <a:p>
            <a:pPr algn="r"/>
            <a:r>
              <a:rPr sz="800" b="0">
                <a:solidFill>
                  <a:srgbClr val="5C697A"/>
                </a:solidFill>
                <a:latin typeface="Aptos"/>
              </a:rPr>
              <a:t>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CA281-395D-47D3-3FF2-D89CCDF7715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A3019D6-17E6-CE49-36E2-F64A58C4EC79}"/>
              </a:ext>
            </a:extLst>
          </p:cNvPr>
          <p:cNvSpPr/>
          <p:nvPr/>
        </p:nvSpPr>
        <p:spPr>
          <a:xfrm>
            <a:off x="305" y="321826"/>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EC02813-06B2-974A-A9B2-25432E7E84A6}"/>
              </a:ext>
            </a:extLst>
          </p:cNvPr>
          <p:cNvSpPr txBox="1"/>
          <p:nvPr/>
        </p:nvSpPr>
        <p:spPr>
          <a:xfrm>
            <a:off x="640080" y="85487"/>
            <a:ext cx="8812264" cy="707886"/>
          </a:xfrm>
          <a:prstGeom prst="rect">
            <a:avLst/>
          </a:prstGeom>
          <a:noFill/>
        </p:spPr>
        <p:txBody>
          <a:bodyPr wrap="square" anchor="t">
            <a:spAutoFit/>
          </a:bodyPr>
          <a:lstStyle/>
          <a:p>
            <a:pPr algn="l"/>
            <a:r>
              <a:rPr lang="en-US" sz="4000" b="1" dirty="0">
                <a:solidFill>
                  <a:srgbClr val="275BAB"/>
                </a:solidFill>
                <a:latin typeface="Aptos"/>
              </a:rPr>
              <a:t>Segmentation with K-Means</a:t>
            </a:r>
            <a:endParaRPr sz="4000" b="1" dirty="0">
              <a:solidFill>
                <a:srgbClr val="275BAB"/>
              </a:solidFill>
              <a:latin typeface="Aptos"/>
            </a:endParaRPr>
          </a:p>
        </p:txBody>
      </p:sp>
      <p:sp>
        <p:nvSpPr>
          <p:cNvPr id="4" name="TextBox 3">
            <a:extLst>
              <a:ext uri="{FF2B5EF4-FFF2-40B4-BE49-F238E27FC236}">
                <a16:creationId xmlns:a16="http://schemas.microsoft.com/office/drawing/2014/main" id="{1BDDC1F0-2216-8372-DDBC-10A01B653788}"/>
              </a:ext>
            </a:extLst>
          </p:cNvPr>
          <p:cNvSpPr txBox="1"/>
          <p:nvPr/>
        </p:nvSpPr>
        <p:spPr>
          <a:xfrm>
            <a:off x="640080" y="658368"/>
            <a:ext cx="10972800" cy="566928"/>
          </a:xfrm>
          <a:prstGeom prst="rect">
            <a:avLst/>
          </a:prstGeom>
          <a:noFill/>
        </p:spPr>
        <p:txBody>
          <a:bodyPr wrap="square" anchor="t">
            <a:spAutoFit/>
          </a:bodyPr>
          <a:lstStyle/>
          <a:p>
            <a:pPr algn="l"/>
            <a:r>
              <a:rPr sz="2800" b="1" dirty="0">
                <a:solidFill>
                  <a:srgbClr val="111D34"/>
                </a:solidFill>
                <a:latin typeface="Aptos"/>
              </a:rPr>
              <a:t>From raw data to decision-ready insights</a:t>
            </a:r>
          </a:p>
        </p:txBody>
      </p:sp>
      <p:sp>
        <p:nvSpPr>
          <p:cNvPr id="5" name="Rectangle 4">
            <a:extLst>
              <a:ext uri="{FF2B5EF4-FFF2-40B4-BE49-F238E27FC236}">
                <a16:creationId xmlns:a16="http://schemas.microsoft.com/office/drawing/2014/main" id="{CDB84602-4D5C-887F-805F-6C040A4A3C31}"/>
              </a:ext>
            </a:extLst>
          </p:cNvPr>
          <p:cNvSpPr/>
          <p:nvPr/>
        </p:nvSpPr>
        <p:spPr>
          <a:xfrm>
            <a:off x="640080" y="1298448"/>
            <a:ext cx="914400" cy="45720"/>
          </a:xfrm>
          <a:prstGeom prst="rect">
            <a:avLst/>
          </a:prstGeom>
          <a:solidFill>
            <a:srgbClr val="2C9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A564C5AE-5E69-21CC-94E5-EB2516B20BEA}"/>
              </a:ext>
            </a:extLst>
          </p:cNvPr>
          <p:cNvSpPr txBox="1"/>
          <p:nvPr/>
        </p:nvSpPr>
        <p:spPr>
          <a:xfrm>
            <a:off x="919316" y="1950648"/>
            <a:ext cx="10869561" cy="2171492"/>
          </a:xfrm>
          <a:prstGeom prst="rect">
            <a:avLst/>
          </a:prstGeom>
          <a:noFill/>
        </p:spPr>
        <p:txBody>
          <a:bodyPr wrap="square">
            <a:spAutoFit/>
          </a:bodyPr>
          <a:lstStyle/>
          <a:p>
            <a:pPr>
              <a:lnSpc>
                <a:spcPts val="1800"/>
              </a:lnSpc>
              <a:buNone/>
            </a:pPr>
            <a:r>
              <a:rPr lang="en-US" b="1" dirty="0">
                <a:effectLst/>
                <a:latin typeface="Consolas" panose="020B0609020204030204" pitchFamily="49" charset="0"/>
              </a:rPr>
              <a:t>We used K-Means clustering to identify groups of automobiles with similar technical and physical characteristics. The resulting segments provide an unsupervised view of the data and can be evaluated as an optional input for later price-prediction models.</a:t>
            </a:r>
          </a:p>
          <a:p>
            <a:pPr>
              <a:lnSpc>
                <a:spcPts val="1800"/>
              </a:lnSpc>
              <a:buNone/>
            </a:pPr>
            <a:br>
              <a:rPr lang="en-US" b="1" dirty="0">
                <a:effectLst/>
                <a:latin typeface="Consolas" panose="020B0609020204030204" pitchFamily="49" charset="0"/>
              </a:rPr>
            </a:br>
            <a:endParaRPr lang="en-US" b="1" dirty="0">
              <a:effectLst/>
              <a:latin typeface="Consolas" panose="020B0609020204030204" pitchFamily="49" charset="0"/>
            </a:endParaRPr>
          </a:p>
          <a:p>
            <a:pPr>
              <a:lnSpc>
                <a:spcPts val="1800"/>
              </a:lnSpc>
              <a:buNone/>
            </a:pPr>
            <a:r>
              <a:rPr lang="en-US" b="1" dirty="0">
                <a:effectLst/>
                <a:latin typeface="Consolas" panose="020B0609020204030204" pitchFamily="49" charset="0"/>
              </a:rPr>
              <a:t>Do the automobiles in the dataset form distinct segments based on their technical characteristics?</a:t>
            </a:r>
          </a:p>
          <a:p>
            <a:pPr>
              <a:lnSpc>
                <a:spcPts val="1800"/>
              </a:lnSpc>
              <a:buNone/>
            </a:pPr>
            <a:br>
              <a:rPr lang="en-US" b="0" dirty="0">
                <a:solidFill>
                  <a:srgbClr val="BBBEBF"/>
                </a:solidFill>
                <a:effectLst/>
                <a:latin typeface="Consolas" panose="020B0609020204030204" pitchFamily="49" charset="0"/>
              </a:rPr>
            </a:br>
            <a:endParaRPr lang="en-US" b="0" dirty="0">
              <a:solidFill>
                <a:srgbClr val="BBBEBF"/>
              </a:solidFill>
              <a:effectLst/>
              <a:latin typeface="Consolas" panose="020B0609020204030204" pitchFamily="49" charset="0"/>
            </a:endParaRPr>
          </a:p>
        </p:txBody>
      </p:sp>
    </p:spTree>
    <p:extLst>
      <p:ext uri="{BB962C8B-B14F-4D97-AF65-F5344CB8AC3E}">
        <p14:creationId xmlns:p14="http://schemas.microsoft.com/office/powerpoint/2010/main" val="3295930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DA1AF-8FF2-DF46-2C1A-A1BE93B8118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DE575A1-0671-4864-A59B-425A180C0260}"/>
              </a:ext>
            </a:extLst>
          </p:cNvPr>
          <p:cNvSpPr/>
          <p:nvPr/>
        </p:nvSpPr>
        <p:spPr>
          <a:xfrm>
            <a:off x="305"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51147DB-3787-8871-C873-2B9788B376A9}"/>
              </a:ext>
            </a:extLst>
          </p:cNvPr>
          <p:cNvSpPr txBox="1"/>
          <p:nvPr/>
        </p:nvSpPr>
        <p:spPr>
          <a:xfrm>
            <a:off x="579120" y="80397"/>
            <a:ext cx="8014822" cy="707886"/>
          </a:xfrm>
          <a:prstGeom prst="rect">
            <a:avLst/>
          </a:prstGeom>
          <a:noFill/>
        </p:spPr>
        <p:txBody>
          <a:bodyPr wrap="square" anchor="t">
            <a:spAutoFit/>
          </a:bodyPr>
          <a:lstStyle/>
          <a:p>
            <a:pPr algn="l"/>
            <a:r>
              <a:rPr sz="4000" b="1" dirty="0">
                <a:solidFill>
                  <a:srgbClr val="275BAB"/>
                </a:solidFill>
                <a:latin typeface="Aptos"/>
              </a:rPr>
              <a:t>K-MEANS CLUSTERING</a:t>
            </a:r>
          </a:p>
        </p:txBody>
      </p:sp>
      <p:sp>
        <p:nvSpPr>
          <p:cNvPr id="4" name="TextBox 3">
            <a:extLst>
              <a:ext uri="{FF2B5EF4-FFF2-40B4-BE49-F238E27FC236}">
                <a16:creationId xmlns:a16="http://schemas.microsoft.com/office/drawing/2014/main" id="{EFF77189-8B4A-6378-C6A7-A7D0AAD68DA9}"/>
              </a:ext>
            </a:extLst>
          </p:cNvPr>
          <p:cNvSpPr txBox="1"/>
          <p:nvPr/>
        </p:nvSpPr>
        <p:spPr>
          <a:xfrm>
            <a:off x="640080" y="658368"/>
            <a:ext cx="10972800" cy="566928"/>
          </a:xfrm>
          <a:prstGeom prst="rect">
            <a:avLst/>
          </a:prstGeom>
          <a:noFill/>
        </p:spPr>
        <p:txBody>
          <a:bodyPr wrap="square" anchor="t">
            <a:spAutoFit/>
          </a:bodyPr>
          <a:lstStyle/>
          <a:p>
            <a:pPr algn="l"/>
            <a:r>
              <a:rPr sz="2800" b="1">
                <a:solidFill>
                  <a:srgbClr val="111D34"/>
                </a:solidFill>
                <a:latin typeface="Aptos"/>
              </a:rPr>
              <a:t>Not every car competes in the same market</a:t>
            </a:r>
          </a:p>
        </p:txBody>
      </p:sp>
      <p:sp>
        <p:nvSpPr>
          <p:cNvPr id="5" name="Rectangle 4">
            <a:extLst>
              <a:ext uri="{FF2B5EF4-FFF2-40B4-BE49-F238E27FC236}">
                <a16:creationId xmlns:a16="http://schemas.microsoft.com/office/drawing/2014/main" id="{2974489C-E056-489C-45A8-F1415514AD2E}"/>
              </a:ext>
            </a:extLst>
          </p:cNvPr>
          <p:cNvSpPr/>
          <p:nvPr/>
        </p:nvSpPr>
        <p:spPr>
          <a:xfrm>
            <a:off x="640080" y="1298448"/>
            <a:ext cx="914400" cy="45720"/>
          </a:xfrm>
          <a:prstGeom prst="rect">
            <a:avLst/>
          </a:prstGeom>
          <a:solidFill>
            <a:srgbClr val="2C9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064C0CF1-B5F9-C25F-DBCF-B7AA0161A814}"/>
              </a:ext>
            </a:extLst>
          </p:cNvPr>
          <p:cNvSpPr txBox="1"/>
          <p:nvPr/>
        </p:nvSpPr>
        <p:spPr>
          <a:xfrm>
            <a:off x="579120" y="1625878"/>
            <a:ext cx="11033760" cy="1478995"/>
          </a:xfrm>
          <a:prstGeom prst="rect">
            <a:avLst/>
          </a:prstGeom>
          <a:noFill/>
        </p:spPr>
        <p:txBody>
          <a:bodyPr wrap="square">
            <a:spAutoFit/>
          </a:bodyPr>
          <a:lstStyle/>
          <a:p>
            <a:pPr>
              <a:lnSpc>
                <a:spcPts val="1800"/>
              </a:lnSpc>
              <a:buNone/>
            </a:pPr>
            <a:r>
              <a:rPr lang="en-US" b="0" dirty="0">
                <a:effectLst/>
                <a:latin typeface="Consolas" panose="020B0609020204030204" pitchFamily="49" charset="0"/>
              </a:rPr>
              <a:t>K-Means requires the number of clusters, k, to be selected in advance. The elbow curve shows how compact the clusters become as k increases, while the silhouette score measures how well-separated and internally cohesive the groups are. The final choice balances these diagnostics with interpretability.</a:t>
            </a:r>
          </a:p>
          <a:p>
            <a:pPr>
              <a:lnSpc>
                <a:spcPts val="1800"/>
              </a:lnSpc>
              <a:buNone/>
            </a:pPr>
            <a:br>
              <a:rPr lang="en-US" b="0" dirty="0">
                <a:solidFill>
                  <a:srgbClr val="BBBEBF"/>
                </a:solidFill>
                <a:effectLst/>
                <a:latin typeface="Consolas" panose="020B0609020204030204" pitchFamily="49" charset="0"/>
              </a:rPr>
            </a:br>
            <a:endParaRPr lang="en-US" b="0" dirty="0">
              <a:solidFill>
                <a:srgbClr val="BBBEBF"/>
              </a:solidFill>
              <a:effectLst/>
              <a:latin typeface="Consolas" panose="020B0609020204030204" pitchFamily="49" charset="0"/>
            </a:endParaRPr>
          </a:p>
        </p:txBody>
      </p:sp>
      <p:pic>
        <p:nvPicPr>
          <p:cNvPr id="29" name="Picture 28">
            <a:extLst>
              <a:ext uri="{FF2B5EF4-FFF2-40B4-BE49-F238E27FC236}">
                <a16:creationId xmlns:a16="http://schemas.microsoft.com/office/drawing/2014/main" id="{E9BEA4EA-1113-9325-D661-9D2BB6C9B06A}"/>
              </a:ext>
            </a:extLst>
          </p:cNvPr>
          <p:cNvPicPr>
            <a:picLocks noChangeAspect="1"/>
          </p:cNvPicPr>
          <p:nvPr/>
        </p:nvPicPr>
        <p:blipFill>
          <a:blip r:embed="rId3"/>
          <a:stretch>
            <a:fillRect/>
          </a:stretch>
        </p:blipFill>
        <p:spPr>
          <a:xfrm>
            <a:off x="72607" y="2628310"/>
            <a:ext cx="11869806" cy="4229690"/>
          </a:xfrm>
          <a:prstGeom prst="rect">
            <a:avLst/>
          </a:prstGeom>
        </p:spPr>
      </p:pic>
    </p:spTree>
    <p:extLst>
      <p:ext uri="{BB962C8B-B14F-4D97-AF65-F5344CB8AC3E}">
        <p14:creationId xmlns:p14="http://schemas.microsoft.com/office/powerpoint/2010/main" val="1995968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BCD41-53DF-80A3-6F8E-C42157E5CA8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3567FC9-677C-36CF-2456-0CDC78B41699}"/>
              </a:ext>
            </a:extLst>
          </p:cNvPr>
          <p:cNvSpPr/>
          <p:nvPr/>
        </p:nvSpPr>
        <p:spPr>
          <a:xfrm>
            <a:off x="305" y="321826"/>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221D382-4B96-97A5-B1E7-A9674BB82404}"/>
              </a:ext>
            </a:extLst>
          </p:cNvPr>
          <p:cNvSpPr txBox="1"/>
          <p:nvPr/>
        </p:nvSpPr>
        <p:spPr>
          <a:xfrm>
            <a:off x="640080" y="85487"/>
            <a:ext cx="8812264" cy="707886"/>
          </a:xfrm>
          <a:prstGeom prst="rect">
            <a:avLst/>
          </a:prstGeom>
          <a:noFill/>
        </p:spPr>
        <p:txBody>
          <a:bodyPr wrap="square" anchor="t">
            <a:spAutoFit/>
          </a:bodyPr>
          <a:lstStyle/>
          <a:p>
            <a:pPr algn="l"/>
            <a:r>
              <a:rPr lang="en-US" sz="4000" b="1" dirty="0">
                <a:solidFill>
                  <a:srgbClr val="275BAB"/>
                </a:solidFill>
                <a:latin typeface="Aptos"/>
              </a:rPr>
              <a:t>Cluster-selection findings</a:t>
            </a:r>
            <a:endParaRPr sz="4000" b="1" dirty="0">
              <a:solidFill>
                <a:srgbClr val="275BAB"/>
              </a:solidFill>
              <a:latin typeface="Aptos"/>
            </a:endParaRPr>
          </a:p>
        </p:txBody>
      </p:sp>
      <p:sp>
        <p:nvSpPr>
          <p:cNvPr id="4" name="TextBox 3">
            <a:extLst>
              <a:ext uri="{FF2B5EF4-FFF2-40B4-BE49-F238E27FC236}">
                <a16:creationId xmlns:a16="http://schemas.microsoft.com/office/drawing/2014/main" id="{1B1F5089-D0D8-7098-C088-BEC2D6B36A6D}"/>
              </a:ext>
            </a:extLst>
          </p:cNvPr>
          <p:cNvSpPr txBox="1"/>
          <p:nvPr/>
        </p:nvSpPr>
        <p:spPr>
          <a:xfrm>
            <a:off x="640080" y="658368"/>
            <a:ext cx="10972800" cy="566928"/>
          </a:xfrm>
          <a:prstGeom prst="rect">
            <a:avLst/>
          </a:prstGeom>
          <a:noFill/>
        </p:spPr>
        <p:txBody>
          <a:bodyPr wrap="square" anchor="t">
            <a:spAutoFit/>
          </a:bodyPr>
          <a:lstStyle/>
          <a:p>
            <a:pPr algn="l"/>
            <a:r>
              <a:rPr sz="2800" b="1" dirty="0">
                <a:solidFill>
                  <a:srgbClr val="111D34"/>
                </a:solidFill>
                <a:latin typeface="Aptos"/>
              </a:rPr>
              <a:t>From raw data to decision-ready insights</a:t>
            </a:r>
          </a:p>
        </p:txBody>
      </p:sp>
      <p:sp>
        <p:nvSpPr>
          <p:cNvPr id="5" name="Rectangle 4">
            <a:extLst>
              <a:ext uri="{FF2B5EF4-FFF2-40B4-BE49-F238E27FC236}">
                <a16:creationId xmlns:a16="http://schemas.microsoft.com/office/drawing/2014/main" id="{C4A67BC5-26F7-722F-B6D2-2FD2C09A530D}"/>
              </a:ext>
            </a:extLst>
          </p:cNvPr>
          <p:cNvSpPr/>
          <p:nvPr/>
        </p:nvSpPr>
        <p:spPr>
          <a:xfrm>
            <a:off x="640080" y="1298448"/>
            <a:ext cx="914400" cy="45720"/>
          </a:xfrm>
          <a:prstGeom prst="rect">
            <a:avLst/>
          </a:prstGeom>
          <a:solidFill>
            <a:srgbClr val="2C9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a:extLst>
              <a:ext uri="{FF2B5EF4-FFF2-40B4-BE49-F238E27FC236}">
                <a16:creationId xmlns:a16="http://schemas.microsoft.com/office/drawing/2014/main" id="{83FCFDD6-723B-C613-176B-5B4E4A1DF223}"/>
              </a:ext>
            </a:extLst>
          </p:cNvPr>
          <p:cNvPicPr>
            <a:picLocks noChangeAspect="1"/>
          </p:cNvPicPr>
          <p:nvPr/>
        </p:nvPicPr>
        <p:blipFill>
          <a:blip r:embed="rId3"/>
          <a:stretch>
            <a:fillRect/>
          </a:stretch>
        </p:blipFill>
        <p:spPr>
          <a:xfrm>
            <a:off x="282077" y="2856942"/>
            <a:ext cx="11688806" cy="2000529"/>
          </a:xfrm>
          <a:prstGeom prst="rect">
            <a:avLst/>
          </a:prstGeom>
        </p:spPr>
      </p:pic>
    </p:spTree>
    <p:extLst>
      <p:ext uri="{BB962C8B-B14F-4D97-AF65-F5344CB8AC3E}">
        <p14:creationId xmlns:p14="http://schemas.microsoft.com/office/powerpoint/2010/main" val="4066484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85236-2CFA-7F69-C76D-28C447087B0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D8C6184-25F4-8C43-D50B-04743695A4F1}"/>
              </a:ext>
            </a:extLst>
          </p:cNvPr>
          <p:cNvSpPr/>
          <p:nvPr/>
        </p:nvSpPr>
        <p:spPr>
          <a:xfrm>
            <a:off x="305" y="321826"/>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a:extLst>
              <a:ext uri="{FF2B5EF4-FFF2-40B4-BE49-F238E27FC236}">
                <a16:creationId xmlns:a16="http://schemas.microsoft.com/office/drawing/2014/main" id="{82B2C54C-CC92-0207-EA9F-6F5499E25002}"/>
              </a:ext>
            </a:extLst>
          </p:cNvPr>
          <p:cNvSpPr txBox="1"/>
          <p:nvPr/>
        </p:nvSpPr>
        <p:spPr>
          <a:xfrm>
            <a:off x="640080" y="85487"/>
            <a:ext cx="8812264" cy="707886"/>
          </a:xfrm>
          <a:prstGeom prst="rect">
            <a:avLst/>
          </a:prstGeom>
          <a:noFill/>
        </p:spPr>
        <p:txBody>
          <a:bodyPr wrap="square" anchor="t">
            <a:spAutoFit/>
          </a:bodyPr>
          <a:lstStyle/>
          <a:p>
            <a:pPr algn="l"/>
            <a:r>
              <a:rPr lang="en-US" sz="4000" b="1" dirty="0">
                <a:solidFill>
                  <a:srgbClr val="275BAB"/>
                </a:solidFill>
                <a:latin typeface="Aptos"/>
              </a:rPr>
              <a:t>Top Permutation Importances</a:t>
            </a:r>
            <a:endParaRPr sz="4000" b="1" dirty="0">
              <a:solidFill>
                <a:srgbClr val="275BAB"/>
              </a:solidFill>
              <a:latin typeface="Aptos"/>
            </a:endParaRPr>
          </a:p>
        </p:txBody>
      </p:sp>
      <p:sp>
        <p:nvSpPr>
          <p:cNvPr id="5" name="Rectangle 4">
            <a:extLst>
              <a:ext uri="{FF2B5EF4-FFF2-40B4-BE49-F238E27FC236}">
                <a16:creationId xmlns:a16="http://schemas.microsoft.com/office/drawing/2014/main" id="{BD76CB97-3D11-60C1-AA52-9EDFEF41B52F}"/>
              </a:ext>
            </a:extLst>
          </p:cNvPr>
          <p:cNvSpPr/>
          <p:nvPr/>
        </p:nvSpPr>
        <p:spPr>
          <a:xfrm>
            <a:off x="640080" y="1298448"/>
            <a:ext cx="914400" cy="45720"/>
          </a:xfrm>
          <a:prstGeom prst="rect">
            <a:avLst/>
          </a:prstGeom>
          <a:solidFill>
            <a:srgbClr val="2C9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a:extLst>
              <a:ext uri="{FF2B5EF4-FFF2-40B4-BE49-F238E27FC236}">
                <a16:creationId xmlns:a16="http://schemas.microsoft.com/office/drawing/2014/main" id="{6A2605B9-E9C2-374E-BBD7-9CA98D09E727}"/>
              </a:ext>
            </a:extLst>
          </p:cNvPr>
          <p:cNvPicPr>
            <a:picLocks noChangeAspect="1"/>
          </p:cNvPicPr>
          <p:nvPr/>
        </p:nvPicPr>
        <p:blipFill>
          <a:blip r:embed="rId3"/>
          <a:stretch>
            <a:fillRect/>
          </a:stretch>
        </p:blipFill>
        <p:spPr>
          <a:xfrm>
            <a:off x="640080" y="1321308"/>
            <a:ext cx="8518616" cy="5622441"/>
          </a:xfrm>
          <a:prstGeom prst="rect">
            <a:avLst/>
          </a:prstGeom>
        </p:spPr>
      </p:pic>
    </p:spTree>
    <p:extLst>
      <p:ext uri="{BB962C8B-B14F-4D97-AF65-F5344CB8AC3E}">
        <p14:creationId xmlns:p14="http://schemas.microsoft.com/office/powerpoint/2010/main" val="601858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E8426-77BA-E1A6-CC5E-539356355B9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25D31BE-2683-7918-B65C-4D570D6B81A3}"/>
              </a:ext>
            </a:extLst>
          </p:cNvPr>
          <p:cNvSpPr/>
          <p:nvPr/>
        </p:nvSpPr>
        <p:spPr>
          <a:xfrm>
            <a:off x="305" y="321826"/>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7684FF5-D3C1-ACBB-24D3-053128C8D31B}"/>
              </a:ext>
            </a:extLst>
          </p:cNvPr>
          <p:cNvSpPr txBox="1"/>
          <p:nvPr/>
        </p:nvSpPr>
        <p:spPr>
          <a:xfrm>
            <a:off x="640080" y="85487"/>
            <a:ext cx="8812264" cy="707886"/>
          </a:xfrm>
          <a:prstGeom prst="rect">
            <a:avLst/>
          </a:prstGeom>
          <a:noFill/>
        </p:spPr>
        <p:txBody>
          <a:bodyPr wrap="square" anchor="t">
            <a:spAutoFit/>
          </a:bodyPr>
          <a:lstStyle/>
          <a:p>
            <a:pPr algn="l"/>
            <a:r>
              <a:rPr lang="en-US" sz="4000" b="1" dirty="0">
                <a:solidFill>
                  <a:srgbClr val="275BAB"/>
                </a:solidFill>
                <a:latin typeface="Aptos"/>
              </a:rPr>
              <a:t>Cluster-selection visualization</a:t>
            </a:r>
            <a:endParaRPr sz="4000" b="1" dirty="0">
              <a:solidFill>
                <a:srgbClr val="275BAB"/>
              </a:solidFill>
              <a:latin typeface="Aptos"/>
            </a:endParaRPr>
          </a:p>
        </p:txBody>
      </p:sp>
      <p:sp>
        <p:nvSpPr>
          <p:cNvPr id="5" name="Rectangle 4">
            <a:extLst>
              <a:ext uri="{FF2B5EF4-FFF2-40B4-BE49-F238E27FC236}">
                <a16:creationId xmlns:a16="http://schemas.microsoft.com/office/drawing/2014/main" id="{568B2FA3-FDE4-F2AD-5E32-02566C335496}"/>
              </a:ext>
            </a:extLst>
          </p:cNvPr>
          <p:cNvSpPr/>
          <p:nvPr/>
        </p:nvSpPr>
        <p:spPr>
          <a:xfrm>
            <a:off x="640080" y="1298448"/>
            <a:ext cx="914400" cy="45720"/>
          </a:xfrm>
          <a:prstGeom prst="rect">
            <a:avLst/>
          </a:prstGeom>
          <a:solidFill>
            <a:srgbClr val="2C9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a:extLst>
              <a:ext uri="{FF2B5EF4-FFF2-40B4-BE49-F238E27FC236}">
                <a16:creationId xmlns:a16="http://schemas.microsoft.com/office/drawing/2014/main" id="{AF252245-C225-A828-17D2-4D6C178BB3B2}"/>
              </a:ext>
            </a:extLst>
          </p:cNvPr>
          <p:cNvPicPr>
            <a:picLocks noChangeAspect="1"/>
          </p:cNvPicPr>
          <p:nvPr/>
        </p:nvPicPr>
        <p:blipFill>
          <a:blip r:embed="rId3"/>
          <a:stretch>
            <a:fillRect/>
          </a:stretch>
        </p:blipFill>
        <p:spPr>
          <a:xfrm>
            <a:off x="180149" y="1923283"/>
            <a:ext cx="11831701" cy="4677428"/>
          </a:xfrm>
          <a:prstGeom prst="rect">
            <a:avLst/>
          </a:prstGeom>
        </p:spPr>
      </p:pic>
    </p:spTree>
    <p:extLst>
      <p:ext uri="{BB962C8B-B14F-4D97-AF65-F5344CB8AC3E}">
        <p14:creationId xmlns:p14="http://schemas.microsoft.com/office/powerpoint/2010/main" val="1488741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AA0C5-593E-ACE0-E0DE-EBC955D698B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CAF3D70-D49E-9E4D-B822-F2B372ACDD98}"/>
              </a:ext>
            </a:extLst>
          </p:cNvPr>
          <p:cNvSpPr/>
          <p:nvPr/>
        </p:nvSpPr>
        <p:spPr>
          <a:xfrm>
            <a:off x="305" y="321826"/>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a:extLst>
              <a:ext uri="{FF2B5EF4-FFF2-40B4-BE49-F238E27FC236}">
                <a16:creationId xmlns:a16="http://schemas.microsoft.com/office/drawing/2014/main" id="{83657D95-03DD-7D90-A46B-6D80A33E2E7C}"/>
              </a:ext>
            </a:extLst>
          </p:cNvPr>
          <p:cNvSpPr txBox="1"/>
          <p:nvPr/>
        </p:nvSpPr>
        <p:spPr>
          <a:xfrm>
            <a:off x="640080" y="85487"/>
            <a:ext cx="8812264" cy="707886"/>
          </a:xfrm>
          <a:prstGeom prst="rect">
            <a:avLst/>
          </a:prstGeom>
          <a:noFill/>
        </p:spPr>
        <p:txBody>
          <a:bodyPr wrap="square" anchor="t">
            <a:spAutoFit/>
          </a:bodyPr>
          <a:lstStyle/>
          <a:p>
            <a:pPr algn="l"/>
            <a:r>
              <a:rPr lang="en-US" sz="4000" b="1" dirty="0">
                <a:solidFill>
                  <a:srgbClr val="275BAB"/>
                </a:solidFill>
                <a:latin typeface="Aptos"/>
              </a:rPr>
              <a:t>Summary finding</a:t>
            </a:r>
            <a:endParaRPr sz="4000" b="1" dirty="0">
              <a:solidFill>
                <a:srgbClr val="275BAB"/>
              </a:solidFill>
              <a:latin typeface="Aptos"/>
            </a:endParaRPr>
          </a:p>
        </p:txBody>
      </p:sp>
      <p:sp>
        <p:nvSpPr>
          <p:cNvPr id="5" name="Rectangle 4">
            <a:extLst>
              <a:ext uri="{FF2B5EF4-FFF2-40B4-BE49-F238E27FC236}">
                <a16:creationId xmlns:a16="http://schemas.microsoft.com/office/drawing/2014/main" id="{5C87D1AC-BCED-1560-C31F-6537C1F8B3C4}"/>
              </a:ext>
            </a:extLst>
          </p:cNvPr>
          <p:cNvSpPr/>
          <p:nvPr/>
        </p:nvSpPr>
        <p:spPr>
          <a:xfrm>
            <a:off x="640080" y="1298448"/>
            <a:ext cx="914400" cy="45720"/>
          </a:xfrm>
          <a:prstGeom prst="rect">
            <a:avLst/>
          </a:prstGeom>
          <a:solidFill>
            <a:srgbClr val="2C9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B17815D7-5340-3C3F-87E6-B8AA9145FC04}"/>
              </a:ext>
            </a:extLst>
          </p:cNvPr>
          <p:cNvSpPr txBox="1"/>
          <p:nvPr/>
        </p:nvSpPr>
        <p:spPr>
          <a:xfrm>
            <a:off x="640080" y="1761779"/>
            <a:ext cx="10785004" cy="3139321"/>
          </a:xfrm>
          <a:prstGeom prst="rect">
            <a:avLst/>
          </a:prstGeom>
          <a:noFill/>
        </p:spPr>
        <p:txBody>
          <a:bodyPr wrap="square">
            <a:spAutoFit/>
          </a:bodyPr>
          <a:lstStyle/>
          <a:p>
            <a:pPr algn="l">
              <a:buFont typeface="Arial" panose="020B0604020202020204" pitchFamily="34" charset="0"/>
              <a:buChar char="•"/>
            </a:pPr>
            <a:r>
              <a:rPr lang="en-US" b="0" i="0" dirty="0">
                <a:effectLst/>
                <a:latin typeface="Segoe WPC"/>
              </a:rPr>
              <a:t>K-Means was applied to </a:t>
            </a:r>
            <a:r>
              <a:rPr lang="en-US" b="1" i="0" dirty="0">
                <a:effectLst/>
                <a:latin typeface="Segoe WPC"/>
              </a:rPr>
              <a:t>6</a:t>
            </a:r>
            <a:r>
              <a:rPr lang="en-US" b="0" i="0" dirty="0">
                <a:effectLst/>
                <a:latin typeface="Segoe WPC"/>
              </a:rPr>
              <a:t> vehicle characteristics after median imputation and standardization.</a:t>
            </a:r>
          </a:p>
          <a:p>
            <a:pPr algn="l">
              <a:buFont typeface="Arial" panose="020B0604020202020204" pitchFamily="34" charset="0"/>
              <a:buChar char="•"/>
            </a:pPr>
            <a:r>
              <a:rPr lang="en-US" b="0" i="0" dirty="0">
                <a:effectLst/>
                <a:latin typeface="Segoe WPC"/>
              </a:rPr>
              <a:t>The final model used </a:t>
            </a:r>
            <a:r>
              <a:rPr lang="en-US" b="1" i="0" dirty="0">
                <a:effectLst/>
                <a:latin typeface="Segoe WPC"/>
              </a:rPr>
              <a:t>k = 3</a:t>
            </a:r>
            <a:r>
              <a:rPr lang="en-US" b="0" i="0" dirty="0">
                <a:effectLst/>
                <a:latin typeface="Segoe WPC"/>
              </a:rPr>
              <a:t> clusters and achieved a silhouette score of </a:t>
            </a:r>
            <a:r>
              <a:rPr lang="en-US" b="1" i="0" dirty="0">
                <a:effectLst/>
                <a:latin typeface="Segoe WPC"/>
              </a:rPr>
              <a:t>0.368</a:t>
            </a:r>
            <a:r>
              <a:rPr lang="en-US" b="0" i="0" dirty="0">
                <a:effectLst/>
                <a:latin typeface="Segoe WPC"/>
              </a:rPr>
              <a:t>.</a:t>
            </a:r>
          </a:p>
          <a:p>
            <a:pPr algn="l">
              <a:buFont typeface="Arial" panose="020B0604020202020204" pitchFamily="34" charset="0"/>
              <a:buChar char="•"/>
            </a:pPr>
            <a:r>
              <a:rPr lang="en-US" b="0" i="0" dirty="0">
                <a:effectLst/>
                <a:latin typeface="Segoe WPC"/>
              </a:rPr>
              <a:t>The clusters differ in their average engine size, horsepower, vehicle weight, and fuel efficiency.</a:t>
            </a:r>
          </a:p>
          <a:p>
            <a:pPr algn="l">
              <a:buFont typeface="Arial" panose="020B0604020202020204" pitchFamily="34" charset="0"/>
              <a:buChar char="•"/>
            </a:pPr>
            <a:r>
              <a:rPr lang="en-US" b="0" i="0" dirty="0">
                <a:effectLst/>
                <a:latin typeface="Segoe WPC"/>
              </a:rPr>
              <a:t>Price was excluded from model fitting but varies across the resulting technical segments.</a:t>
            </a:r>
          </a:p>
          <a:p>
            <a:pPr algn="l">
              <a:buFont typeface="Arial" panose="020B0604020202020204" pitchFamily="34" charset="0"/>
              <a:buChar char="•"/>
            </a:pPr>
            <a:r>
              <a:rPr lang="en-US" b="0" i="0" dirty="0">
                <a:effectLst/>
                <a:latin typeface="Segoe WPC"/>
              </a:rPr>
              <a:t>The clustered dataset was saved successfully: </a:t>
            </a:r>
            <a:r>
              <a:rPr lang="en-US" b="1" i="0" dirty="0">
                <a:effectLst/>
                <a:latin typeface="Segoe WPC"/>
              </a:rPr>
              <a:t>True</a:t>
            </a:r>
            <a:r>
              <a:rPr lang="en-US" b="0" i="0" dirty="0">
                <a:effectLst/>
                <a:latin typeface="Segoe WPC"/>
              </a:rPr>
              <a:t>.</a:t>
            </a:r>
          </a:p>
          <a:p>
            <a:pPr algn="l">
              <a:buFont typeface="Arial" panose="020B0604020202020204" pitchFamily="34" charset="0"/>
              <a:buChar char="•"/>
            </a:pPr>
            <a:endParaRPr lang="en-US" dirty="0">
              <a:latin typeface="Segoe WPC"/>
            </a:endParaRPr>
          </a:p>
          <a:p>
            <a:pPr algn="l">
              <a:buFont typeface="Arial" panose="020B0604020202020204" pitchFamily="34" charset="0"/>
              <a:buChar char="•"/>
            </a:pPr>
            <a:endParaRPr lang="en-US" b="0" i="0" dirty="0">
              <a:effectLst/>
              <a:latin typeface="Segoe WPC"/>
            </a:endParaRPr>
          </a:p>
          <a:p>
            <a:pPr algn="l"/>
            <a:r>
              <a:rPr lang="en-US" b="1" u="sng" dirty="0">
                <a:latin typeface="Segoe WPC"/>
              </a:rPr>
              <a:t>Interpretation</a:t>
            </a:r>
            <a:endParaRPr lang="en-US" b="1" i="0" u="sng" dirty="0">
              <a:effectLst/>
              <a:latin typeface="Segoe WPC"/>
            </a:endParaRPr>
          </a:p>
          <a:p>
            <a:r>
              <a:rPr lang="en-US" dirty="0"/>
              <a:t>The K-Means analysis identifies distinct groups of automobiles based on size, performance, weight, and fuel efficiency. The segments show that vehicles with larger engines, more horsepower, and greater curb weight generally appear in a different group from lighter, more fuel-efficient vehicles.</a:t>
            </a:r>
          </a:p>
        </p:txBody>
      </p:sp>
    </p:spTree>
    <p:extLst>
      <p:ext uri="{BB962C8B-B14F-4D97-AF65-F5344CB8AC3E}">
        <p14:creationId xmlns:p14="http://schemas.microsoft.com/office/powerpoint/2010/main" val="35214184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D180E-215E-43BE-477F-EE4FFBC154D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A6FD4B-F0C8-1E69-3EF3-ACEBE040E8D5}"/>
              </a:ext>
            </a:extLst>
          </p:cNvPr>
          <p:cNvSpPr/>
          <p:nvPr/>
        </p:nvSpPr>
        <p:spPr>
          <a:xfrm>
            <a:off x="305" y="321826"/>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a:extLst>
              <a:ext uri="{FF2B5EF4-FFF2-40B4-BE49-F238E27FC236}">
                <a16:creationId xmlns:a16="http://schemas.microsoft.com/office/drawing/2014/main" id="{431384DB-5B09-EF07-426B-A91FF5B50460}"/>
              </a:ext>
            </a:extLst>
          </p:cNvPr>
          <p:cNvSpPr txBox="1"/>
          <p:nvPr/>
        </p:nvSpPr>
        <p:spPr>
          <a:xfrm>
            <a:off x="640079" y="85487"/>
            <a:ext cx="10911841" cy="707886"/>
          </a:xfrm>
          <a:prstGeom prst="rect">
            <a:avLst/>
          </a:prstGeom>
          <a:noFill/>
        </p:spPr>
        <p:txBody>
          <a:bodyPr wrap="square" anchor="t">
            <a:spAutoFit/>
          </a:bodyPr>
          <a:lstStyle/>
          <a:p>
            <a:pPr algn="l"/>
            <a:r>
              <a:rPr lang="en-US" sz="4000" b="1" dirty="0">
                <a:solidFill>
                  <a:srgbClr val="275BAB"/>
                </a:solidFill>
                <a:latin typeface="Aptos"/>
              </a:rPr>
              <a:t>Actual vs Predicted price: Gradient boosting</a:t>
            </a:r>
            <a:endParaRPr sz="4000" b="1" dirty="0">
              <a:solidFill>
                <a:srgbClr val="275BAB"/>
              </a:solidFill>
              <a:latin typeface="Aptos"/>
            </a:endParaRPr>
          </a:p>
        </p:txBody>
      </p:sp>
      <p:sp>
        <p:nvSpPr>
          <p:cNvPr id="5" name="Rectangle 4">
            <a:extLst>
              <a:ext uri="{FF2B5EF4-FFF2-40B4-BE49-F238E27FC236}">
                <a16:creationId xmlns:a16="http://schemas.microsoft.com/office/drawing/2014/main" id="{F8FE77A9-6EC0-44B4-2892-1D52C98C2A87}"/>
              </a:ext>
            </a:extLst>
          </p:cNvPr>
          <p:cNvSpPr/>
          <p:nvPr/>
        </p:nvSpPr>
        <p:spPr>
          <a:xfrm>
            <a:off x="640080" y="1298448"/>
            <a:ext cx="914400" cy="45720"/>
          </a:xfrm>
          <a:prstGeom prst="rect">
            <a:avLst/>
          </a:prstGeom>
          <a:solidFill>
            <a:srgbClr val="2C9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a:extLst>
              <a:ext uri="{FF2B5EF4-FFF2-40B4-BE49-F238E27FC236}">
                <a16:creationId xmlns:a16="http://schemas.microsoft.com/office/drawing/2014/main" id="{1E462841-2760-B81F-F0B3-C069566711EA}"/>
              </a:ext>
            </a:extLst>
          </p:cNvPr>
          <p:cNvPicPr>
            <a:picLocks noChangeAspect="1"/>
          </p:cNvPicPr>
          <p:nvPr/>
        </p:nvPicPr>
        <p:blipFill>
          <a:blip r:embed="rId3"/>
          <a:stretch>
            <a:fillRect/>
          </a:stretch>
        </p:blipFill>
        <p:spPr>
          <a:xfrm>
            <a:off x="805316" y="1688105"/>
            <a:ext cx="5851124" cy="5062285"/>
          </a:xfrm>
          <a:prstGeom prst="rect">
            <a:avLst/>
          </a:prstGeom>
        </p:spPr>
      </p:pic>
    </p:spTree>
    <p:extLst>
      <p:ext uri="{BB962C8B-B14F-4D97-AF65-F5344CB8AC3E}">
        <p14:creationId xmlns:p14="http://schemas.microsoft.com/office/powerpoint/2010/main" val="19728795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512B2-67C9-6DBD-C338-2899DDBB0D2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61E0621-DB66-889A-D6AF-F0B6CE86D262}"/>
              </a:ext>
            </a:extLst>
          </p:cNvPr>
          <p:cNvSpPr/>
          <p:nvPr/>
        </p:nvSpPr>
        <p:spPr>
          <a:xfrm>
            <a:off x="305" y="321826"/>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a:extLst>
              <a:ext uri="{FF2B5EF4-FFF2-40B4-BE49-F238E27FC236}">
                <a16:creationId xmlns:a16="http://schemas.microsoft.com/office/drawing/2014/main" id="{C5F8D2CC-B72B-5841-7CD6-B12228D4E7C4}"/>
              </a:ext>
            </a:extLst>
          </p:cNvPr>
          <p:cNvSpPr txBox="1"/>
          <p:nvPr/>
        </p:nvSpPr>
        <p:spPr>
          <a:xfrm>
            <a:off x="640079" y="85487"/>
            <a:ext cx="10911841" cy="707886"/>
          </a:xfrm>
          <a:prstGeom prst="rect">
            <a:avLst/>
          </a:prstGeom>
          <a:noFill/>
        </p:spPr>
        <p:txBody>
          <a:bodyPr wrap="square" anchor="t">
            <a:spAutoFit/>
          </a:bodyPr>
          <a:lstStyle/>
          <a:p>
            <a:pPr algn="l"/>
            <a:r>
              <a:rPr lang="en-US" sz="4000" b="1" dirty="0">
                <a:solidFill>
                  <a:srgbClr val="275BAB"/>
                </a:solidFill>
                <a:latin typeface="Aptos"/>
              </a:rPr>
              <a:t>Summary of findings</a:t>
            </a:r>
            <a:endParaRPr sz="4000" b="1" dirty="0">
              <a:solidFill>
                <a:srgbClr val="275BAB"/>
              </a:solidFill>
              <a:latin typeface="Aptos"/>
            </a:endParaRPr>
          </a:p>
        </p:txBody>
      </p:sp>
      <p:sp>
        <p:nvSpPr>
          <p:cNvPr id="5" name="Rectangle 4">
            <a:extLst>
              <a:ext uri="{FF2B5EF4-FFF2-40B4-BE49-F238E27FC236}">
                <a16:creationId xmlns:a16="http://schemas.microsoft.com/office/drawing/2014/main" id="{6FD6BB20-A926-EE8B-D7C9-F41BD3F1FBF7}"/>
              </a:ext>
            </a:extLst>
          </p:cNvPr>
          <p:cNvSpPr/>
          <p:nvPr/>
        </p:nvSpPr>
        <p:spPr>
          <a:xfrm>
            <a:off x="640080" y="1298448"/>
            <a:ext cx="914400" cy="45720"/>
          </a:xfrm>
          <a:prstGeom prst="rect">
            <a:avLst/>
          </a:prstGeom>
          <a:solidFill>
            <a:srgbClr val="2C9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a:extLst>
              <a:ext uri="{FF2B5EF4-FFF2-40B4-BE49-F238E27FC236}">
                <a16:creationId xmlns:a16="http://schemas.microsoft.com/office/drawing/2014/main" id="{4119407F-EA8B-B7C9-BCCE-86AB83A80307}"/>
              </a:ext>
            </a:extLst>
          </p:cNvPr>
          <p:cNvPicPr>
            <a:picLocks noChangeAspect="1"/>
          </p:cNvPicPr>
          <p:nvPr/>
        </p:nvPicPr>
        <p:blipFill>
          <a:blip r:embed="rId3"/>
          <a:stretch>
            <a:fillRect/>
          </a:stretch>
        </p:blipFill>
        <p:spPr>
          <a:xfrm>
            <a:off x="640080" y="1924149"/>
            <a:ext cx="7716327" cy="4124901"/>
          </a:xfrm>
          <a:prstGeom prst="rect">
            <a:avLst/>
          </a:prstGeom>
        </p:spPr>
      </p:pic>
    </p:spTree>
    <p:extLst>
      <p:ext uri="{BB962C8B-B14F-4D97-AF65-F5344CB8AC3E}">
        <p14:creationId xmlns:p14="http://schemas.microsoft.com/office/powerpoint/2010/main" val="1383761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E8FE3-0E26-1621-C744-689F7D2E44D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66CC40F-4429-A824-C1FF-5388B28D8040}"/>
              </a:ext>
            </a:extLst>
          </p:cNvPr>
          <p:cNvSpPr/>
          <p:nvPr/>
        </p:nvSpPr>
        <p:spPr>
          <a:xfrm>
            <a:off x="305" y="321826"/>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a:extLst>
              <a:ext uri="{FF2B5EF4-FFF2-40B4-BE49-F238E27FC236}">
                <a16:creationId xmlns:a16="http://schemas.microsoft.com/office/drawing/2014/main" id="{C3C1D756-1D3A-169C-BE4A-7B2A807225C7}"/>
              </a:ext>
            </a:extLst>
          </p:cNvPr>
          <p:cNvSpPr txBox="1"/>
          <p:nvPr/>
        </p:nvSpPr>
        <p:spPr>
          <a:xfrm>
            <a:off x="640079" y="85487"/>
            <a:ext cx="10911841" cy="707886"/>
          </a:xfrm>
          <a:prstGeom prst="rect">
            <a:avLst/>
          </a:prstGeom>
          <a:noFill/>
        </p:spPr>
        <p:txBody>
          <a:bodyPr wrap="square" anchor="t">
            <a:spAutoFit/>
          </a:bodyPr>
          <a:lstStyle/>
          <a:p>
            <a:pPr algn="l"/>
            <a:r>
              <a:rPr lang="en-US" sz="4000" b="1" dirty="0">
                <a:solidFill>
                  <a:srgbClr val="275BAB"/>
                </a:solidFill>
                <a:latin typeface="Aptos"/>
              </a:rPr>
              <a:t>Summary of findings</a:t>
            </a:r>
            <a:endParaRPr sz="4000" b="1" dirty="0">
              <a:solidFill>
                <a:srgbClr val="275BAB"/>
              </a:solidFill>
              <a:latin typeface="Aptos"/>
            </a:endParaRPr>
          </a:p>
        </p:txBody>
      </p:sp>
      <p:sp>
        <p:nvSpPr>
          <p:cNvPr id="5" name="Rectangle 4">
            <a:extLst>
              <a:ext uri="{FF2B5EF4-FFF2-40B4-BE49-F238E27FC236}">
                <a16:creationId xmlns:a16="http://schemas.microsoft.com/office/drawing/2014/main" id="{D3485B45-99CE-EF05-53AC-79252E1AE357}"/>
              </a:ext>
            </a:extLst>
          </p:cNvPr>
          <p:cNvSpPr/>
          <p:nvPr/>
        </p:nvSpPr>
        <p:spPr>
          <a:xfrm>
            <a:off x="640080" y="1298448"/>
            <a:ext cx="914400" cy="45720"/>
          </a:xfrm>
          <a:prstGeom prst="rect">
            <a:avLst/>
          </a:prstGeom>
          <a:solidFill>
            <a:srgbClr val="2C9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A0F8780B-07AA-3345-572A-EBEC3C375D3F}"/>
              </a:ext>
            </a:extLst>
          </p:cNvPr>
          <p:cNvSpPr txBox="1"/>
          <p:nvPr/>
        </p:nvSpPr>
        <p:spPr>
          <a:xfrm>
            <a:off x="526027" y="2232273"/>
            <a:ext cx="10911840" cy="2677656"/>
          </a:xfrm>
          <a:prstGeom prst="rect">
            <a:avLst/>
          </a:prstGeom>
          <a:noFill/>
        </p:spPr>
        <p:txBody>
          <a:bodyPr wrap="square">
            <a:spAutoFit/>
          </a:bodyPr>
          <a:lstStyle/>
          <a:p>
            <a:r>
              <a:rPr lang="en-US" sz="2800" dirty="0"/>
              <a:t>Automobile price was most strongly associated with engine size, followed by curb weight, horsepower, and overall vehicle size. Larger, heavier, more powerful vehicles generally had higher prices, while higher highway fuel efficiency was associated with lower prices. Vehicle segment also added useful context because it summarized combinations of performance, size, weight, and fuel efficiency.</a:t>
            </a:r>
          </a:p>
        </p:txBody>
      </p:sp>
    </p:spTree>
    <p:extLst>
      <p:ext uri="{BB962C8B-B14F-4D97-AF65-F5344CB8AC3E}">
        <p14:creationId xmlns:p14="http://schemas.microsoft.com/office/powerpoint/2010/main" val="14518235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79120" y="124218"/>
            <a:ext cx="7185483" cy="707886"/>
          </a:xfrm>
          <a:prstGeom prst="rect">
            <a:avLst/>
          </a:prstGeom>
          <a:noFill/>
        </p:spPr>
        <p:txBody>
          <a:bodyPr wrap="square" anchor="t">
            <a:spAutoFit/>
          </a:bodyPr>
          <a:lstStyle/>
          <a:p>
            <a:pPr algn="l"/>
            <a:r>
              <a:rPr sz="4000" b="1" dirty="0">
                <a:solidFill>
                  <a:srgbClr val="275BAB"/>
                </a:solidFill>
                <a:latin typeface="Aptos"/>
              </a:rPr>
              <a:t>WHY THE PROJECT MATTERS</a:t>
            </a:r>
          </a:p>
        </p:txBody>
      </p:sp>
      <p:sp>
        <p:nvSpPr>
          <p:cNvPr id="4" name="TextBox 3"/>
          <p:cNvSpPr txBox="1"/>
          <p:nvPr/>
        </p:nvSpPr>
        <p:spPr>
          <a:xfrm>
            <a:off x="3108960" y="777240"/>
            <a:ext cx="10972800" cy="566928"/>
          </a:xfrm>
          <a:prstGeom prst="rect">
            <a:avLst/>
          </a:prstGeom>
          <a:noFill/>
        </p:spPr>
        <p:txBody>
          <a:bodyPr wrap="square" anchor="t">
            <a:spAutoFit/>
          </a:bodyPr>
          <a:lstStyle/>
          <a:p>
            <a:pPr algn="l"/>
            <a:r>
              <a:rPr sz="2800" b="1" dirty="0">
                <a:solidFill>
                  <a:srgbClr val="111D34"/>
                </a:solidFill>
                <a:latin typeface="Aptos"/>
              </a:rPr>
              <a:t>From analysis to business value</a:t>
            </a:r>
          </a:p>
        </p:txBody>
      </p:sp>
      <p:sp>
        <p:nvSpPr>
          <p:cNvPr id="5" name="Rectangle 4"/>
          <p:cNvSpPr/>
          <p:nvPr/>
        </p:nvSpPr>
        <p:spPr>
          <a:xfrm>
            <a:off x="640080" y="1298448"/>
            <a:ext cx="914400" cy="45720"/>
          </a:xfrm>
          <a:prstGeom prst="rect">
            <a:avLst/>
          </a:prstGeom>
          <a:solidFill>
            <a:srgbClr val="2C9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874519"/>
            <a:ext cx="2606040" cy="2148840"/>
          </a:xfrm>
          <a:prstGeom prst="roundRect">
            <a:avLst/>
          </a:prstGeom>
          <a:solidFill>
            <a:srgbClr val="E8F0FC"/>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874519"/>
            <a:ext cx="73152" cy="2148840"/>
          </a:xfrm>
          <a:prstGeom prst="rect">
            <a:avLst/>
          </a:prstGeom>
          <a:solidFill>
            <a:srgbClr val="27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075688"/>
            <a:ext cx="2194560" cy="320040"/>
          </a:xfrm>
          <a:prstGeom prst="rect">
            <a:avLst/>
          </a:prstGeom>
          <a:noFill/>
        </p:spPr>
        <p:txBody>
          <a:bodyPr wrap="square" anchor="t">
            <a:spAutoFit/>
          </a:bodyPr>
          <a:lstStyle/>
          <a:p>
            <a:pPr algn="l"/>
            <a:r>
              <a:rPr sz="1500" b="1">
                <a:solidFill>
                  <a:srgbClr val="111D34"/>
                </a:solidFill>
                <a:latin typeface="Aptos"/>
              </a:rPr>
              <a:t>Manufacturers</a:t>
            </a:r>
          </a:p>
        </p:txBody>
      </p:sp>
      <p:sp>
        <p:nvSpPr>
          <p:cNvPr id="9" name="TextBox 8"/>
          <p:cNvSpPr txBox="1"/>
          <p:nvPr/>
        </p:nvSpPr>
        <p:spPr>
          <a:xfrm>
            <a:off x="914400" y="2496312"/>
            <a:ext cx="2194560" cy="1323439"/>
          </a:xfrm>
          <a:prstGeom prst="rect">
            <a:avLst/>
          </a:prstGeom>
          <a:noFill/>
        </p:spPr>
        <p:txBody>
          <a:bodyPr wrap="square" anchor="t">
            <a:spAutoFit/>
          </a:bodyPr>
          <a:lstStyle/>
          <a:p>
            <a:pPr algn="l"/>
            <a:r>
              <a:rPr sz="1600" b="0" dirty="0">
                <a:solidFill>
                  <a:srgbClr val="5C697A"/>
                </a:solidFill>
                <a:latin typeface="Aptos"/>
              </a:rPr>
              <a:t>Understand which vehicle characteristics are associated with premium pricing and product positioning.</a:t>
            </a:r>
          </a:p>
        </p:txBody>
      </p:sp>
      <p:sp>
        <p:nvSpPr>
          <p:cNvPr id="10" name="Rounded Rectangle 9"/>
          <p:cNvSpPr/>
          <p:nvPr/>
        </p:nvSpPr>
        <p:spPr>
          <a:xfrm>
            <a:off x="3429000" y="1874519"/>
            <a:ext cx="2606040" cy="2148840"/>
          </a:xfrm>
          <a:prstGeom prst="roundRect">
            <a:avLst/>
          </a:prstGeom>
          <a:solidFill>
            <a:srgbClr val="E5F6F5"/>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29000" y="1874519"/>
            <a:ext cx="73152" cy="2148840"/>
          </a:xfrm>
          <a:prstGeom prst="rect">
            <a:avLst/>
          </a:prstGeom>
          <a:solidFill>
            <a:srgbClr val="2C9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0" y="2075688"/>
            <a:ext cx="2194560" cy="320040"/>
          </a:xfrm>
          <a:prstGeom prst="rect">
            <a:avLst/>
          </a:prstGeom>
          <a:noFill/>
        </p:spPr>
        <p:txBody>
          <a:bodyPr wrap="square" anchor="t">
            <a:spAutoFit/>
          </a:bodyPr>
          <a:lstStyle/>
          <a:p>
            <a:pPr algn="l"/>
            <a:r>
              <a:rPr sz="1500" b="1">
                <a:solidFill>
                  <a:srgbClr val="111D34"/>
                </a:solidFill>
                <a:latin typeface="Aptos"/>
              </a:rPr>
              <a:t>Dealerships</a:t>
            </a:r>
          </a:p>
        </p:txBody>
      </p:sp>
      <p:sp>
        <p:nvSpPr>
          <p:cNvPr id="13" name="TextBox 12"/>
          <p:cNvSpPr txBox="1"/>
          <p:nvPr/>
        </p:nvSpPr>
        <p:spPr>
          <a:xfrm>
            <a:off x="3657600" y="2496312"/>
            <a:ext cx="2194560" cy="1323439"/>
          </a:xfrm>
          <a:prstGeom prst="rect">
            <a:avLst/>
          </a:prstGeom>
          <a:noFill/>
        </p:spPr>
        <p:txBody>
          <a:bodyPr wrap="square" anchor="t">
            <a:spAutoFit/>
          </a:bodyPr>
          <a:lstStyle/>
          <a:p>
            <a:pPr algn="l"/>
            <a:r>
              <a:rPr sz="1600" b="0" dirty="0">
                <a:solidFill>
                  <a:srgbClr val="5C697A"/>
                </a:solidFill>
                <a:latin typeface="Aptos"/>
              </a:rPr>
              <a:t>Compare vehicles within more appropriate market segments and support pricing conversations.</a:t>
            </a:r>
          </a:p>
        </p:txBody>
      </p:sp>
      <p:sp>
        <p:nvSpPr>
          <p:cNvPr id="14" name="Rounded Rectangle 13"/>
          <p:cNvSpPr/>
          <p:nvPr/>
        </p:nvSpPr>
        <p:spPr>
          <a:xfrm>
            <a:off x="6172200" y="1874519"/>
            <a:ext cx="2606040" cy="2148840"/>
          </a:xfrm>
          <a:prstGeom prst="roundRect">
            <a:avLst/>
          </a:prstGeom>
          <a:solidFill>
            <a:srgbClr val="FCF4E1"/>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72200" y="1874519"/>
            <a:ext cx="73152" cy="2148840"/>
          </a:xfrm>
          <a:prstGeom prst="rect">
            <a:avLst/>
          </a:prstGeom>
          <a:solidFill>
            <a:srgbClr val="E2A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2075688"/>
            <a:ext cx="2194560" cy="320040"/>
          </a:xfrm>
          <a:prstGeom prst="rect">
            <a:avLst/>
          </a:prstGeom>
          <a:noFill/>
        </p:spPr>
        <p:txBody>
          <a:bodyPr wrap="square" anchor="t">
            <a:spAutoFit/>
          </a:bodyPr>
          <a:lstStyle/>
          <a:p>
            <a:pPr algn="l"/>
            <a:r>
              <a:rPr sz="1500" b="1">
                <a:solidFill>
                  <a:srgbClr val="111D34"/>
                </a:solidFill>
                <a:latin typeface="Aptos"/>
              </a:rPr>
              <a:t>Consumers</a:t>
            </a:r>
          </a:p>
        </p:txBody>
      </p:sp>
      <p:sp>
        <p:nvSpPr>
          <p:cNvPr id="17" name="TextBox 16"/>
          <p:cNvSpPr txBox="1"/>
          <p:nvPr/>
        </p:nvSpPr>
        <p:spPr>
          <a:xfrm>
            <a:off x="6400800" y="2496312"/>
            <a:ext cx="2194560" cy="1323439"/>
          </a:xfrm>
          <a:prstGeom prst="rect">
            <a:avLst/>
          </a:prstGeom>
          <a:noFill/>
        </p:spPr>
        <p:txBody>
          <a:bodyPr wrap="square" anchor="t">
            <a:spAutoFit/>
          </a:bodyPr>
          <a:lstStyle/>
          <a:p>
            <a:pPr algn="l"/>
            <a:r>
              <a:rPr sz="1600" b="0" dirty="0">
                <a:solidFill>
                  <a:srgbClr val="5C697A"/>
                </a:solidFill>
                <a:latin typeface="Aptos"/>
              </a:rPr>
              <a:t>Evaluate whether a vehicle's price appears aligned with its observable specifications.</a:t>
            </a:r>
          </a:p>
        </p:txBody>
      </p:sp>
      <p:sp>
        <p:nvSpPr>
          <p:cNvPr id="18" name="Rounded Rectangle 17"/>
          <p:cNvSpPr/>
          <p:nvPr/>
        </p:nvSpPr>
        <p:spPr>
          <a:xfrm>
            <a:off x="8915400" y="1874519"/>
            <a:ext cx="2606040" cy="2148840"/>
          </a:xfrm>
          <a:prstGeom prst="roundRect">
            <a:avLst/>
          </a:prstGeom>
          <a:solidFill>
            <a:srgbClr val="F4F7FA"/>
          </a:solidFill>
          <a:ln w="12700">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915400" y="1874519"/>
            <a:ext cx="73152" cy="2148840"/>
          </a:xfrm>
          <a:prstGeom prst="rect">
            <a:avLst/>
          </a:prstGeom>
          <a:solidFill>
            <a:srgbClr val="27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0" y="2075688"/>
            <a:ext cx="2194560" cy="320040"/>
          </a:xfrm>
          <a:prstGeom prst="rect">
            <a:avLst/>
          </a:prstGeom>
          <a:noFill/>
        </p:spPr>
        <p:txBody>
          <a:bodyPr wrap="square" anchor="t">
            <a:spAutoFit/>
          </a:bodyPr>
          <a:lstStyle/>
          <a:p>
            <a:pPr algn="l"/>
            <a:r>
              <a:rPr sz="1500" b="1">
                <a:solidFill>
                  <a:srgbClr val="111D34"/>
                </a:solidFill>
                <a:latin typeface="Aptos"/>
              </a:rPr>
              <a:t>Analysts</a:t>
            </a:r>
          </a:p>
        </p:txBody>
      </p:sp>
      <p:sp>
        <p:nvSpPr>
          <p:cNvPr id="21" name="TextBox 20"/>
          <p:cNvSpPr txBox="1"/>
          <p:nvPr/>
        </p:nvSpPr>
        <p:spPr>
          <a:xfrm>
            <a:off x="9144000" y="2496312"/>
            <a:ext cx="2194560" cy="1323439"/>
          </a:xfrm>
          <a:prstGeom prst="rect">
            <a:avLst/>
          </a:prstGeom>
          <a:noFill/>
        </p:spPr>
        <p:txBody>
          <a:bodyPr wrap="square" anchor="t">
            <a:spAutoFit/>
          </a:bodyPr>
          <a:lstStyle/>
          <a:p>
            <a:pPr algn="l"/>
            <a:r>
              <a:rPr sz="1600" b="0" dirty="0">
                <a:solidFill>
                  <a:srgbClr val="5C697A"/>
                </a:solidFill>
                <a:latin typeface="Aptos"/>
              </a:rPr>
              <a:t>Use observable features to estimate price and communicate patterns through a dashboard.</a:t>
            </a:r>
          </a:p>
        </p:txBody>
      </p:sp>
      <p:grpSp>
        <p:nvGrpSpPr>
          <p:cNvPr id="33" name="Group 32">
            <a:extLst>
              <a:ext uri="{FF2B5EF4-FFF2-40B4-BE49-F238E27FC236}">
                <a16:creationId xmlns:a16="http://schemas.microsoft.com/office/drawing/2014/main" id="{1DF68F22-35B5-1E14-CBFB-037606C0B85C}"/>
              </a:ext>
            </a:extLst>
          </p:cNvPr>
          <p:cNvGrpSpPr/>
          <p:nvPr/>
        </p:nvGrpSpPr>
        <p:grpSpPr>
          <a:xfrm>
            <a:off x="2148840" y="4766250"/>
            <a:ext cx="7406640" cy="436686"/>
            <a:chOff x="1051560" y="4882896"/>
            <a:chExt cx="7406640" cy="436686"/>
          </a:xfrm>
        </p:grpSpPr>
        <p:sp>
          <p:nvSpPr>
            <p:cNvPr id="22" name="TextBox 21"/>
            <p:cNvSpPr txBox="1"/>
            <p:nvPr/>
          </p:nvSpPr>
          <p:spPr>
            <a:xfrm>
              <a:off x="1051560" y="4919472"/>
              <a:ext cx="1005840" cy="400110"/>
            </a:xfrm>
            <a:prstGeom prst="rect">
              <a:avLst/>
            </a:prstGeom>
            <a:noFill/>
          </p:spPr>
          <p:txBody>
            <a:bodyPr wrap="square" anchor="t">
              <a:spAutoFit/>
            </a:bodyPr>
            <a:lstStyle/>
            <a:p>
              <a:pPr algn="ctr"/>
              <a:r>
                <a:rPr sz="2000" b="1" dirty="0">
                  <a:solidFill>
                    <a:srgbClr val="275BAB"/>
                  </a:solidFill>
                  <a:latin typeface="Aptos"/>
                </a:rPr>
                <a:t>DATA</a:t>
              </a:r>
            </a:p>
          </p:txBody>
        </p:sp>
        <p:sp>
          <p:nvSpPr>
            <p:cNvPr id="23" name="TextBox 22"/>
            <p:cNvSpPr txBox="1"/>
            <p:nvPr/>
          </p:nvSpPr>
          <p:spPr>
            <a:xfrm>
              <a:off x="2057400" y="4882896"/>
              <a:ext cx="548640" cy="320040"/>
            </a:xfrm>
            <a:prstGeom prst="rect">
              <a:avLst/>
            </a:prstGeom>
            <a:noFill/>
          </p:spPr>
          <p:txBody>
            <a:bodyPr wrap="square" anchor="t">
              <a:spAutoFit/>
            </a:bodyPr>
            <a:lstStyle/>
            <a:p>
              <a:pPr algn="ctr"/>
              <a:r>
                <a:rPr sz="1800" b="1">
                  <a:solidFill>
                    <a:srgbClr val="5C697A"/>
                  </a:solidFill>
                  <a:latin typeface="Aptos"/>
                </a:rPr>
                <a:t>→</a:t>
              </a:r>
            </a:p>
          </p:txBody>
        </p:sp>
        <p:sp>
          <p:nvSpPr>
            <p:cNvPr id="24" name="TextBox 23"/>
            <p:cNvSpPr txBox="1"/>
            <p:nvPr/>
          </p:nvSpPr>
          <p:spPr>
            <a:xfrm>
              <a:off x="2606040" y="4919472"/>
              <a:ext cx="1371600" cy="400110"/>
            </a:xfrm>
            <a:prstGeom prst="rect">
              <a:avLst/>
            </a:prstGeom>
            <a:noFill/>
          </p:spPr>
          <p:txBody>
            <a:bodyPr wrap="square" anchor="t">
              <a:spAutoFit/>
            </a:bodyPr>
            <a:lstStyle/>
            <a:p>
              <a:pPr algn="ctr"/>
              <a:r>
                <a:rPr sz="2000" b="1">
                  <a:solidFill>
                    <a:srgbClr val="2C999D"/>
                  </a:solidFill>
                  <a:latin typeface="Aptos"/>
                </a:rPr>
                <a:t>INSIGHT</a:t>
              </a:r>
            </a:p>
          </p:txBody>
        </p:sp>
        <p:sp>
          <p:nvSpPr>
            <p:cNvPr id="25" name="TextBox 24"/>
            <p:cNvSpPr txBox="1"/>
            <p:nvPr/>
          </p:nvSpPr>
          <p:spPr>
            <a:xfrm>
              <a:off x="4023360" y="4882896"/>
              <a:ext cx="548640" cy="320040"/>
            </a:xfrm>
            <a:prstGeom prst="rect">
              <a:avLst/>
            </a:prstGeom>
            <a:noFill/>
          </p:spPr>
          <p:txBody>
            <a:bodyPr wrap="square" anchor="t">
              <a:spAutoFit/>
            </a:bodyPr>
            <a:lstStyle/>
            <a:p>
              <a:pPr algn="ctr"/>
              <a:r>
                <a:rPr sz="1800" b="1">
                  <a:solidFill>
                    <a:srgbClr val="5C697A"/>
                  </a:solidFill>
                  <a:latin typeface="Aptos"/>
                </a:rPr>
                <a:t>→</a:t>
              </a:r>
            </a:p>
          </p:txBody>
        </p:sp>
        <p:sp>
          <p:nvSpPr>
            <p:cNvPr id="26" name="TextBox 25"/>
            <p:cNvSpPr txBox="1"/>
            <p:nvPr/>
          </p:nvSpPr>
          <p:spPr>
            <a:xfrm>
              <a:off x="4617719" y="4919472"/>
              <a:ext cx="2049603" cy="400110"/>
            </a:xfrm>
            <a:prstGeom prst="rect">
              <a:avLst/>
            </a:prstGeom>
            <a:noFill/>
          </p:spPr>
          <p:txBody>
            <a:bodyPr wrap="square" anchor="t">
              <a:spAutoFit/>
            </a:bodyPr>
            <a:lstStyle/>
            <a:p>
              <a:pPr algn="ctr"/>
              <a:r>
                <a:rPr sz="2000" b="1" dirty="0">
                  <a:solidFill>
                    <a:srgbClr val="E2A849"/>
                  </a:solidFill>
                  <a:latin typeface="Aptos"/>
                </a:rPr>
                <a:t>PREDICTION</a:t>
              </a:r>
            </a:p>
          </p:txBody>
        </p:sp>
        <p:sp>
          <p:nvSpPr>
            <p:cNvPr id="27" name="TextBox 26"/>
            <p:cNvSpPr txBox="1"/>
            <p:nvPr/>
          </p:nvSpPr>
          <p:spPr>
            <a:xfrm>
              <a:off x="6400800" y="4882896"/>
              <a:ext cx="548640" cy="320040"/>
            </a:xfrm>
            <a:prstGeom prst="rect">
              <a:avLst/>
            </a:prstGeom>
            <a:noFill/>
          </p:spPr>
          <p:txBody>
            <a:bodyPr wrap="square" anchor="t">
              <a:spAutoFit/>
            </a:bodyPr>
            <a:lstStyle/>
            <a:p>
              <a:pPr algn="ctr"/>
              <a:r>
                <a:rPr sz="1800" b="1">
                  <a:solidFill>
                    <a:srgbClr val="5C697A"/>
                  </a:solidFill>
                  <a:latin typeface="Aptos"/>
                </a:rPr>
                <a:t>→</a:t>
              </a:r>
            </a:p>
          </p:txBody>
        </p:sp>
        <p:sp>
          <p:nvSpPr>
            <p:cNvPr id="28" name="TextBox 27"/>
            <p:cNvSpPr txBox="1"/>
            <p:nvPr/>
          </p:nvSpPr>
          <p:spPr>
            <a:xfrm>
              <a:off x="6995160" y="4919472"/>
              <a:ext cx="1463040" cy="400110"/>
            </a:xfrm>
            <a:prstGeom prst="rect">
              <a:avLst/>
            </a:prstGeom>
            <a:noFill/>
          </p:spPr>
          <p:txBody>
            <a:bodyPr wrap="square" anchor="t">
              <a:spAutoFit/>
            </a:bodyPr>
            <a:lstStyle/>
            <a:p>
              <a:pPr algn="ctr"/>
              <a:r>
                <a:rPr sz="2000" b="1">
                  <a:solidFill>
                    <a:srgbClr val="111D34"/>
                  </a:solidFill>
                  <a:latin typeface="Aptos"/>
                </a:rPr>
                <a:t>DECISION</a:t>
              </a:r>
            </a:p>
          </p:txBody>
        </p:sp>
      </p:grpSp>
      <p:sp>
        <p:nvSpPr>
          <p:cNvPr id="30" name="TextBox 29"/>
          <p:cNvSpPr txBox="1"/>
          <p:nvPr/>
        </p:nvSpPr>
        <p:spPr>
          <a:xfrm>
            <a:off x="640080" y="6510528"/>
            <a:ext cx="3200400" cy="182880"/>
          </a:xfrm>
          <a:prstGeom prst="rect">
            <a:avLst/>
          </a:prstGeom>
          <a:noFill/>
        </p:spPr>
        <p:txBody>
          <a:bodyPr wrap="square" anchor="t">
            <a:spAutoFit/>
          </a:bodyPr>
          <a:lstStyle/>
          <a:p>
            <a:pPr algn="l"/>
            <a:r>
              <a:rPr sz="800" b="0">
                <a:solidFill>
                  <a:srgbClr val="5C697A"/>
                </a:solidFill>
                <a:latin typeface="Aptos"/>
              </a:rPr>
              <a:t>Automobile Price Analysis</a:t>
            </a:r>
          </a:p>
        </p:txBody>
      </p:sp>
      <p:sp>
        <p:nvSpPr>
          <p:cNvPr id="31" name="TextBox 30"/>
          <p:cNvSpPr txBox="1"/>
          <p:nvPr/>
        </p:nvSpPr>
        <p:spPr>
          <a:xfrm>
            <a:off x="11109960" y="6473952"/>
            <a:ext cx="411480" cy="228600"/>
          </a:xfrm>
          <a:prstGeom prst="rect">
            <a:avLst/>
          </a:prstGeom>
          <a:noFill/>
        </p:spPr>
        <p:txBody>
          <a:bodyPr wrap="square" anchor="t">
            <a:spAutoFit/>
          </a:bodyPr>
          <a:lstStyle/>
          <a:p>
            <a:pPr algn="r"/>
            <a:r>
              <a:rPr sz="800" b="0">
                <a:solidFill>
                  <a:srgbClr val="5C697A"/>
                </a:solidFill>
                <a:latin typeface="Aptos"/>
              </a:rPr>
              <a:t>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79" y="48597"/>
            <a:ext cx="6200107" cy="707886"/>
          </a:xfrm>
          <a:prstGeom prst="rect">
            <a:avLst/>
          </a:prstGeom>
          <a:noFill/>
        </p:spPr>
        <p:txBody>
          <a:bodyPr wrap="square" anchor="t">
            <a:spAutoFit/>
          </a:bodyPr>
          <a:lstStyle/>
          <a:p>
            <a:pPr algn="l"/>
            <a:r>
              <a:rPr sz="4000" b="1" dirty="0">
                <a:solidFill>
                  <a:srgbClr val="275BAB"/>
                </a:solidFill>
                <a:latin typeface="Aptos"/>
              </a:rPr>
              <a:t>KEY TAKEAWAYS</a:t>
            </a:r>
            <a:r>
              <a:rPr lang="en-US" sz="4000" b="1" dirty="0">
                <a:solidFill>
                  <a:srgbClr val="275BAB"/>
                </a:solidFill>
                <a:latin typeface="Aptos"/>
              </a:rPr>
              <a:t>/REVIEW</a:t>
            </a:r>
            <a:endParaRPr sz="4000" b="1" dirty="0">
              <a:solidFill>
                <a:srgbClr val="275BAB"/>
              </a:solidFill>
              <a:latin typeface="Aptos"/>
            </a:endParaRPr>
          </a:p>
        </p:txBody>
      </p:sp>
      <p:sp>
        <p:nvSpPr>
          <p:cNvPr id="5" name="Rectangle 4"/>
          <p:cNvSpPr/>
          <p:nvPr/>
        </p:nvSpPr>
        <p:spPr>
          <a:xfrm>
            <a:off x="640080" y="1298448"/>
            <a:ext cx="914400" cy="45720"/>
          </a:xfrm>
          <a:prstGeom prst="rect">
            <a:avLst/>
          </a:prstGeom>
          <a:solidFill>
            <a:srgbClr val="2C9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22960" y="1737360"/>
            <a:ext cx="530352" cy="530352"/>
          </a:xfrm>
          <a:prstGeom prst="ellipse">
            <a:avLst/>
          </a:prstGeom>
          <a:solidFill>
            <a:srgbClr val="27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865376"/>
            <a:ext cx="530352" cy="276999"/>
          </a:xfrm>
          <a:prstGeom prst="rect">
            <a:avLst/>
          </a:prstGeom>
          <a:noFill/>
        </p:spPr>
        <p:txBody>
          <a:bodyPr wrap="square" anchor="t">
            <a:spAutoFit/>
          </a:bodyPr>
          <a:lstStyle/>
          <a:p>
            <a:pPr algn="ctr"/>
            <a:r>
              <a:rPr sz="1200" b="1">
                <a:solidFill>
                  <a:srgbClr val="FFFFFF"/>
                </a:solidFill>
                <a:latin typeface="Aptos"/>
              </a:rPr>
              <a:t>01</a:t>
            </a:r>
          </a:p>
        </p:txBody>
      </p:sp>
      <p:sp>
        <p:nvSpPr>
          <p:cNvPr id="8" name="TextBox 7"/>
          <p:cNvSpPr txBox="1"/>
          <p:nvPr/>
        </p:nvSpPr>
        <p:spPr>
          <a:xfrm>
            <a:off x="1600199" y="1755648"/>
            <a:ext cx="2013333" cy="400110"/>
          </a:xfrm>
          <a:prstGeom prst="rect">
            <a:avLst/>
          </a:prstGeom>
          <a:noFill/>
        </p:spPr>
        <p:txBody>
          <a:bodyPr wrap="square" anchor="t">
            <a:spAutoFit/>
          </a:bodyPr>
          <a:lstStyle/>
          <a:p>
            <a:pPr algn="l"/>
            <a:r>
              <a:rPr sz="2000" b="1" dirty="0">
                <a:solidFill>
                  <a:srgbClr val="275BAB"/>
                </a:solidFill>
                <a:latin typeface="Aptos"/>
              </a:rPr>
              <a:t>UNDERSTAND</a:t>
            </a:r>
          </a:p>
        </p:txBody>
      </p:sp>
      <p:sp>
        <p:nvSpPr>
          <p:cNvPr id="9" name="TextBox 8"/>
          <p:cNvSpPr txBox="1"/>
          <p:nvPr/>
        </p:nvSpPr>
        <p:spPr>
          <a:xfrm>
            <a:off x="3429000" y="1749963"/>
            <a:ext cx="7680960" cy="411480"/>
          </a:xfrm>
          <a:prstGeom prst="rect">
            <a:avLst/>
          </a:prstGeom>
          <a:noFill/>
        </p:spPr>
        <p:txBody>
          <a:bodyPr wrap="square" anchor="t">
            <a:spAutoFit/>
          </a:bodyPr>
          <a:lstStyle/>
          <a:p>
            <a:pPr algn="l"/>
            <a:r>
              <a:rPr sz="1500" b="1" dirty="0">
                <a:solidFill>
                  <a:srgbClr val="111D34"/>
                </a:solidFill>
                <a:latin typeface="Aptos"/>
              </a:rPr>
              <a:t>EDA revealed relationships behind automobile pricing.</a:t>
            </a:r>
          </a:p>
        </p:txBody>
      </p:sp>
      <p:sp>
        <p:nvSpPr>
          <p:cNvPr id="10" name="Oval 9"/>
          <p:cNvSpPr/>
          <p:nvPr/>
        </p:nvSpPr>
        <p:spPr>
          <a:xfrm>
            <a:off x="822960" y="2761488"/>
            <a:ext cx="530352" cy="530352"/>
          </a:xfrm>
          <a:prstGeom prst="ellipse">
            <a:avLst/>
          </a:prstGeom>
          <a:solidFill>
            <a:srgbClr val="2C99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889504"/>
            <a:ext cx="530352" cy="276999"/>
          </a:xfrm>
          <a:prstGeom prst="rect">
            <a:avLst/>
          </a:prstGeom>
          <a:noFill/>
        </p:spPr>
        <p:txBody>
          <a:bodyPr wrap="square" anchor="t">
            <a:spAutoFit/>
          </a:bodyPr>
          <a:lstStyle/>
          <a:p>
            <a:pPr algn="ctr"/>
            <a:r>
              <a:rPr sz="1200" b="1">
                <a:solidFill>
                  <a:srgbClr val="FFFFFF"/>
                </a:solidFill>
                <a:latin typeface="Aptos"/>
              </a:rPr>
              <a:t>02</a:t>
            </a:r>
          </a:p>
        </p:txBody>
      </p:sp>
      <p:sp>
        <p:nvSpPr>
          <p:cNvPr id="12" name="TextBox 11"/>
          <p:cNvSpPr txBox="1"/>
          <p:nvPr/>
        </p:nvSpPr>
        <p:spPr>
          <a:xfrm>
            <a:off x="1600200" y="2779776"/>
            <a:ext cx="1828800" cy="400110"/>
          </a:xfrm>
          <a:prstGeom prst="rect">
            <a:avLst/>
          </a:prstGeom>
          <a:noFill/>
        </p:spPr>
        <p:txBody>
          <a:bodyPr wrap="square" anchor="t">
            <a:spAutoFit/>
          </a:bodyPr>
          <a:lstStyle/>
          <a:p>
            <a:pPr algn="l"/>
            <a:r>
              <a:rPr sz="2000" b="1" dirty="0">
                <a:solidFill>
                  <a:srgbClr val="2C999D"/>
                </a:solidFill>
                <a:latin typeface="Aptos"/>
              </a:rPr>
              <a:t>SEGMENT</a:t>
            </a:r>
          </a:p>
        </p:txBody>
      </p:sp>
      <p:sp>
        <p:nvSpPr>
          <p:cNvPr id="13" name="TextBox 12"/>
          <p:cNvSpPr txBox="1"/>
          <p:nvPr/>
        </p:nvSpPr>
        <p:spPr>
          <a:xfrm>
            <a:off x="3471530" y="2774091"/>
            <a:ext cx="7680960" cy="411480"/>
          </a:xfrm>
          <a:prstGeom prst="rect">
            <a:avLst/>
          </a:prstGeom>
          <a:noFill/>
        </p:spPr>
        <p:txBody>
          <a:bodyPr wrap="square" anchor="t">
            <a:spAutoFit/>
          </a:bodyPr>
          <a:lstStyle/>
          <a:p>
            <a:pPr algn="l"/>
            <a:r>
              <a:rPr sz="1500" b="1" dirty="0">
                <a:solidFill>
                  <a:srgbClr val="111D34"/>
                </a:solidFill>
                <a:latin typeface="Aptos"/>
              </a:rPr>
              <a:t>Clustering explored natural groups of similar vehicles.</a:t>
            </a:r>
          </a:p>
        </p:txBody>
      </p:sp>
      <p:sp>
        <p:nvSpPr>
          <p:cNvPr id="14" name="Oval 13"/>
          <p:cNvSpPr/>
          <p:nvPr/>
        </p:nvSpPr>
        <p:spPr>
          <a:xfrm>
            <a:off x="822960" y="3785616"/>
            <a:ext cx="530352" cy="530352"/>
          </a:xfrm>
          <a:prstGeom prst="ellipse">
            <a:avLst/>
          </a:prstGeom>
          <a:solidFill>
            <a:srgbClr val="E2A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3913632"/>
            <a:ext cx="530352" cy="276999"/>
          </a:xfrm>
          <a:prstGeom prst="rect">
            <a:avLst/>
          </a:prstGeom>
          <a:noFill/>
        </p:spPr>
        <p:txBody>
          <a:bodyPr wrap="square" anchor="t">
            <a:spAutoFit/>
          </a:bodyPr>
          <a:lstStyle/>
          <a:p>
            <a:pPr algn="ctr"/>
            <a:r>
              <a:rPr sz="1200" b="1">
                <a:solidFill>
                  <a:srgbClr val="FFFFFF"/>
                </a:solidFill>
                <a:latin typeface="Aptos"/>
              </a:rPr>
              <a:t>03</a:t>
            </a:r>
          </a:p>
        </p:txBody>
      </p:sp>
      <p:sp>
        <p:nvSpPr>
          <p:cNvPr id="16" name="TextBox 15"/>
          <p:cNvSpPr txBox="1"/>
          <p:nvPr/>
        </p:nvSpPr>
        <p:spPr>
          <a:xfrm>
            <a:off x="1600200" y="3803904"/>
            <a:ext cx="1828800" cy="400110"/>
          </a:xfrm>
          <a:prstGeom prst="rect">
            <a:avLst/>
          </a:prstGeom>
          <a:noFill/>
        </p:spPr>
        <p:txBody>
          <a:bodyPr wrap="square" anchor="t">
            <a:spAutoFit/>
          </a:bodyPr>
          <a:lstStyle/>
          <a:p>
            <a:pPr algn="l"/>
            <a:r>
              <a:rPr sz="2000" b="1" dirty="0">
                <a:solidFill>
                  <a:srgbClr val="E2A849"/>
                </a:solidFill>
                <a:latin typeface="Aptos"/>
              </a:rPr>
              <a:t>PREDICT</a:t>
            </a:r>
          </a:p>
        </p:txBody>
      </p:sp>
      <p:sp>
        <p:nvSpPr>
          <p:cNvPr id="17" name="TextBox 16"/>
          <p:cNvSpPr txBox="1"/>
          <p:nvPr/>
        </p:nvSpPr>
        <p:spPr>
          <a:xfrm>
            <a:off x="3429000" y="3778924"/>
            <a:ext cx="7680960" cy="411480"/>
          </a:xfrm>
          <a:prstGeom prst="rect">
            <a:avLst/>
          </a:prstGeom>
          <a:noFill/>
        </p:spPr>
        <p:txBody>
          <a:bodyPr wrap="square" anchor="t">
            <a:spAutoFit/>
          </a:bodyPr>
          <a:lstStyle/>
          <a:p>
            <a:pPr algn="l"/>
            <a:r>
              <a:rPr sz="1500" b="1" dirty="0">
                <a:solidFill>
                  <a:srgbClr val="111D34"/>
                </a:solidFill>
                <a:latin typeface="Aptos"/>
              </a:rPr>
              <a:t>Regression translated vehicle characteristics into price estimates.</a:t>
            </a:r>
          </a:p>
        </p:txBody>
      </p:sp>
      <p:sp>
        <p:nvSpPr>
          <p:cNvPr id="18" name="Oval 17"/>
          <p:cNvSpPr/>
          <p:nvPr/>
        </p:nvSpPr>
        <p:spPr>
          <a:xfrm>
            <a:off x="822960" y="4809744"/>
            <a:ext cx="530352" cy="530352"/>
          </a:xfrm>
          <a:prstGeom prst="ellipse">
            <a:avLst/>
          </a:prstGeom>
          <a:solidFill>
            <a:srgbClr val="11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4937759"/>
            <a:ext cx="530352" cy="276999"/>
          </a:xfrm>
          <a:prstGeom prst="rect">
            <a:avLst/>
          </a:prstGeom>
          <a:noFill/>
        </p:spPr>
        <p:txBody>
          <a:bodyPr wrap="square" anchor="t">
            <a:spAutoFit/>
          </a:bodyPr>
          <a:lstStyle/>
          <a:p>
            <a:pPr algn="ctr"/>
            <a:r>
              <a:rPr sz="1200" b="1" dirty="0">
                <a:solidFill>
                  <a:srgbClr val="FFFFFF"/>
                </a:solidFill>
                <a:latin typeface="Aptos"/>
              </a:rPr>
              <a:t>04</a:t>
            </a:r>
          </a:p>
        </p:txBody>
      </p:sp>
      <p:sp>
        <p:nvSpPr>
          <p:cNvPr id="20" name="TextBox 19"/>
          <p:cNvSpPr txBox="1"/>
          <p:nvPr/>
        </p:nvSpPr>
        <p:spPr>
          <a:xfrm>
            <a:off x="1353312" y="4828031"/>
            <a:ext cx="2118218" cy="400110"/>
          </a:xfrm>
          <a:prstGeom prst="rect">
            <a:avLst/>
          </a:prstGeom>
          <a:noFill/>
        </p:spPr>
        <p:txBody>
          <a:bodyPr wrap="square" anchor="t">
            <a:spAutoFit/>
          </a:bodyPr>
          <a:lstStyle/>
          <a:p>
            <a:pPr algn="l"/>
            <a:r>
              <a:rPr sz="2000" b="1" dirty="0">
                <a:solidFill>
                  <a:srgbClr val="111D34"/>
                </a:solidFill>
                <a:latin typeface="Aptos"/>
              </a:rPr>
              <a:t>COMMUNICATE</a:t>
            </a:r>
          </a:p>
        </p:txBody>
      </p:sp>
      <p:sp>
        <p:nvSpPr>
          <p:cNvPr id="21" name="TextBox 20"/>
          <p:cNvSpPr txBox="1"/>
          <p:nvPr/>
        </p:nvSpPr>
        <p:spPr>
          <a:xfrm>
            <a:off x="3429000" y="4849197"/>
            <a:ext cx="7680960" cy="411480"/>
          </a:xfrm>
          <a:prstGeom prst="rect">
            <a:avLst/>
          </a:prstGeom>
          <a:noFill/>
        </p:spPr>
        <p:txBody>
          <a:bodyPr wrap="square" anchor="t">
            <a:spAutoFit/>
          </a:bodyPr>
          <a:lstStyle/>
          <a:p>
            <a:pPr algn="l"/>
            <a:r>
              <a:rPr sz="1500" b="1" dirty="0">
                <a:solidFill>
                  <a:srgbClr val="111D34"/>
                </a:solidFill>
                <a:latin typeface="Aptos"/>
              </a:rPr>
              <a:t>Tableau turned the analysis into an accessible decision tool.</a:t>
            </a:r>
          </a:p>
        </p:txBody>
      </p:sp>
      <p:sp>
        <p:nvSpPr>
          <p:cNvPr id="23" name="TextBox 22"/>
          <p:cNvSpPr txBox="1"/>
          <p:nvPr/>
        </p:nvSpPr>
        <p:spPr>
          <a:xfrm>
            <a:off x="640080" y="6510528"/>
            <a:ext cx="3200400" cy="182880"/>
          </a:xfrm>
          <a:prstGeom prst="rect">
            <a:avLst/>
          </a:prstGeom>
          <a:noFill/>
        </p:spPr>
        <p:txBody>
          <a:bodyPr wrap="square" anchor="t">
            <a:spAutoFit/>
          </a:bodyPr>
          <a:lstStyle/>
          <a:p>
            <a:pPr algn="l"/>
            <a:r>
              <a:rPr sz="800" b="0">
                <a:solidFill>
                  <a:srgbClr val="5C697A"/>
                </a:solidFill>
                <a:latin typeface="Aptos"/>
              </a:rPr>
              <a:t>Automobile Price Analysis</a:t>
            </a:r>
          </a:p>
        </p:txBody>
      </p:sp>
      <p:sp>
        <p:nvSpPr>
          <p:cNvPr id="24" name="TextBox 23"/>
          <p:cNvSpPr txBox="1"/>
          <p:nvPr/>
        </p:nvSpPr>
        <p:spPr>
          <a:xfrm>
            <a:off x="11109960" y="6473952"/>
            <a:ext cx="411480" cy="228600"/>
          </a:xfrm>
          <a:prstGeom prst="rect">
            <a:avLst/>
          </a:prstGeom>
          <a:noFill/>
        </p:spPr>
        <p:txBody>
          <a:bodyPr wrap="square" anchor="t">
            <a:spAutoFit/>
          </a:bodyPr>
          <a:lstStyle/>
          <a:p>
            <a:pPr algn="r"/>
            <a:r>
              <a:rPr sz="800" b="0">
                <a:solidFill>
                  <a:srgbClr val="5C697A"/>
                </a:solidFill>
                <a:latin typeface="Aptos"/>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337</TotalTime>
  <Words>1679</Words>
  <Application>Microsoft Office PowerPoint</Application>
  <PresentationFormat>Widescreen</PresentationFormat>
  <Paragraphs>169</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Segoe WPC</vt:lpstr>
      <vt:lpstr>Aptos</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Automobile Price Analysis &amp; Prediction</dc:title>
  <dc:subject>5–7 minute capstone presentation</dc:subject>
  <dc:creator>Jenelle Downer</dc:creator>
  <cp:keywords/>
  <dc:description>Editable PowerPoint deck created from the automobile-price-analysis repository overview.</dc:description>
  <cp:lastModifiedBy>sam</cp:lastModifiedBy>
  <cp:revision>11</cp:revision>
  <dcterms:created xsi:type="dcterms:W3CDTF">2013-01-27T09:14:16Z</dcterms:created>
  <dcterms:modified xsi:type="dcterms:W3CDTF">2026-08-27T00:41:01Z</dcterms:modified>
  <cp:category/>
</cp:coreProperties>
</file>